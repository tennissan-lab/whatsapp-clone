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0706100" cy="7569200"/>
  <p:notesSz cx="10706100" cy="7569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957" y="2346452"/>
            <a:ext cx="9100185" cy="1589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5915" y="4238752"/>
            <a:ext cx="7494270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5305" y="1740916"/>
            <a:ext cx="4657153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13641" y="1740916"/>
            <a:ext cx="4657153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861232" y="417564"/>
            <a:ext cx="1485900" cy="5586095"/>
          </a:xfrm>
          <a:custGeom>
            <a:avLst/>
            <a:gdLst/>
            <a:ahLst/>
            <a:cxnLst/>
            <a:rect l="l" t="t" r="r" b="b"/>
            <a:pathLst>
              <a:path w="1485900" h="5586095">
                <a:moveTo>
                  <a:pt x="1485893" y="5585686"/>
                </a:moveTo>
                <a:lnTo>
                  <a:pt x="0" y="5585686"/>
                </a:lnTo>
                <a:lnTo>
                  <a:pt x="0" y="0"/>
                </a:lnTo>
                <a:lnTo>
                  <a:pt x="1485893" y="0"/>
                </a:lnTo>
                <a:lnTo>
                  <a:pt x="1485893" y="5585686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2693" y="1125952"/>
            <a:ext cx="4250332" cy="41689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981" y="1166665"/>
            <a:ext cx="1628480" cy="8549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564" y="417564"/>
            <a:ext cx="9929562" cy="55856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6696" y="1117810"/>
            <a:ext cx="9575800" cy="16510"/>
          </a:xfrm>
          <a:custGeom>
            <a:avLst/>
            <a:gdLst/>
            <a:ahLst/>
            <a:cxnLst/>
            <a:rect l="l" t="t" r="r" b="b"/>
            <a:pathLst>
              <a:path w="9575800" h="16509">
                <a:moveTo>
                  <a:pt x="9575462" y="16284"/>
                </a:moveTo>
                <a:lnTo>
                  <a:pt x="0" y="16284"/>
                </a:lnTo>
                <a:lnTo>
                  <a:pt x="0" y="0"/>
                </a:lnTo>
                <a:lnTo>
                  <a:pt x="9575462" y="0"/>
                </a:lnTo>
                <a:lnTo>
                  <a:pt x="9575462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3997" y="583996"/>
            <a:ext cx="9538105" cy="851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C13125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596" y="1964620"/>
            <a:ext cx="9652000" cy="1529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40074" y="7039356"/>
            <a:ext cx="342595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5305" y="7039356"/>
            <a:ext cx="2462403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708392" y="7039356"/>
            <a:ext cx="2462403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7987" y="607987"/>
            <a:ext cx="9739630" cy="5478780"/>
            <a:chOff x="607987" y="607987"/>
            <a:chExt cx="9739630" cy="54787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987" y="607987"/>
              <a:ext cx="9739436" cy="547861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7987" y="607987"/>
              <a:ext cx="9739630" cy="5478780"/>
            </a:xfrm>
            <a:custGeom>
              <a:avLst/>
              <a:gdLst/>
              <a:ahLst/>
              <a:cxnLst/>
              <a:rect l="l" t="t" r="r" b="b"/>
              <a:pathLst>
                <a:path w="9739630" h="5478780">
                  <a:moveTo>
                    <a:pt x="9739436" y="5478612"/>
                  </a:moveTo>
                  <a:lnTo>
                    <a:pt x="0" y="5478612"/>
                  </a:lnTo>
                  <a:lnTo>
                    <a:pt x="0" y="0"/>
                  </a:lnTo>
                  <a:lnTo>
                    <a:pt x="9739436" y="0"/>
                  </a:lnTo>
                  <a:lnTo>
                    <a:pt x="9739436" y="5478612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970004" y="2312344"/>
            <a:ext cx="2628265" cy="6197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900" spc="-10">
                <a:solidFill>
                  <a:srgbClr val="FFFFFF"/>
                </a:solidFill>
              </a:rPr>
              <a:t>QuerySense</a:t>
            </a:r>
            <a:endParaRPr sz="3900"/>
          </a:p>
        </p:txBody>
      </p:sp>
      <p:sp>
        <p:nvSpPr>
          <p:cNvPr id="6" name="object 6"/>
          <p:cNvSpPr txBox="1"/>
          <p:nvPr/>
        </p:nvSpPr>
        <p:spPr>
          <a:xfrm>
            <a:off x="2630300" y="4216282"/>
            <a:ext cx="5307330" cy="872490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dirty="0" sz="2000" b="1">
                <a:solidFill>
                  <a:srgbClr val="FFFFFF"/>
                </a:solidFill>
                <a:latin typeface="Times New Roman"/>
                <a:cs typeface="Times New Roman"/>
              </a:rPr>
              <a:t>Venture</a:t>
            </a:r>
            <a:r>
              <a:rPr dirty="0" sz="2000" spc="1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45" b="1">
                <a:solidFill>
                  <a:srgbClr val="FFFFFF"/>
                </a:solidFill>
                <a:latin typeface="Times New Roman"/>
                <a:cs typeface="Times New Roman"/>
              </a:rPr>
              <a:t>Viability</a:t>
            </a:r>
            <a:r>
              <a:rPr dirty="0" sz="2000" spc="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45" b="1">
                <a:solidFill>
                  <a:srgbClr val="FFFFFF"/>
                </a:solidFill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30"/>
              </a:spcBef>
            </a:pPr>
            <a:r>
              <a:rPr dirty="0" sz="2000" spc="45">
                <a:solidFill>
                  <a:srgbClr val="FFFFFF"/>
                </a:solidFill>
                <a:latin typeface="Times New Roman"/>
                <a:cs typeface="Times New Roman"/>
              </a:rPr>
              <a:t>Kongu</a:t>
            </a:r>
            <a:r>
              <a:rPr dirty="0" sz="2000" spc="1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5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dirty="0" sz="2000" spc="1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imes New Roman"/>
                <a:cs typeface="Times New Roman"/>
              </a:rPr>
              <a:t>College,</a:t>
            </a:r>
            <a:r>
              <a:rPr dirty="0" sz="2000" spc="1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0">
                <a:solidFill>
                  <a:srgbClr val="FFFFFF"/>
                </a:solidFill>
                <a:latin typeface="Times New Roman"/>
                <a:cs typeface="Times New Roman"/>
              </a:rPr>
              <a:t>Erode,</a:t>
            </a:r>
            <a:r>
              <a:rPr dirty="0" sz="2000" spc="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Tamil</a:t>
            </a:r>
            <a:r>
              <a:rPr dirty="0" sz="2000" spc="1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Times New Roman"/>
                <a:cs typeface="Times New Roman"/>
              </a:rPr>
              <a:t>Nadu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9317" y="639932"/>
            <a:ext cx="798631" cy="415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56933" y="417564"/>
            <a:ext cx="3790315" cy="5586095"/>
            <a:chOff x="6556933" y="417564"/>
            <a:chExt cx="3790315" cy="5586095"/>
          </a:xfrm>
        </p:grpSpPr>
        <p:sp>
          <p:nvSpPr>
            <p:cNvPr id="3" name="object 3"/>
            <p:cNvSpPr/>
            <p:nvPr/>
          </p:nvSpPr>
          <p:spPr>
            <a:xfrm>
              <a:off x="8861233" y="417564"/>
              <a:ext cx="1485900" cy="5586095"/>
            </a:xfrm>
            <a:custGeom>
              <a:avLst/>
              <a:gdLst/>
              <a:ahLst/>
              <a:cxnLst/>
              <a:rect l="l" t="t" r="r" b="b"/>
              <a:pathLst>
                <a:path w="1485900" h="5586095">
                  <a:moveTo>
                    <a:pt x="1485893" y="5585686"/>
                  </a:moveTo>
                  <a:lnTo>
                    <a:pt x="0" y="5585686"/>
                  </a:lnTo>
                  <a:lnTo>
                    <a:pt x="0" y="0"/>
                  </a:lnTo>
                  <a:lnTo>
                    <a:pt x="1485893" y="0"/>
                  </a:lnTo>
                  <a:lnTo>
                    <a:pt x="1485893" y="5585686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6933" y="1125952"/>
              <a:ext cx="3436092" cy="4168908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981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00281" y="1968205"/>
            <a:ext cx="2740025" cy="650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10">
                <a:solidFill>
                  <a:srgbClr val="BF0000"/>
                </a:solidFill>
              </a:rPr>
              <a:t>QuerySense</a:t>
            </a:r>
            <a:endParaRPr sz="4100"/>
          </a:p>
        </p:txBody>
      </p:sp>
      <p:sp>
        <p:nvSpPr>
          <p:cNvPr id="7" name="object 7"/>
          <p:cNvSpPr txBox="1"/>
          <p:nvPr/>
        </p:nvSpPr>
        <p:spPr>
          <a:xfrm>
            <a:off x="600281" y="3759532"/>
            <a:ext cx="5562600" cy="55181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300"/>
              </a:spcBef>
            </a:pP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chatbot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understands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incomplete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queries</a:t>
            </a:r>
            <a:r>
              <a:rPr dirty="0" sz="1800" spc="2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helps </a:t>
            </a:r>
            <a:r>
              <a:rPr dirty="0" sz="1800">
                <a:latin typeface="Times New Roman"/>
                <a:cs typeface="Times New Roman"/>
              </a:rPr>
              <a:t>users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access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information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easily.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281" y="5070459"/>
            <a:ext cx="4921885" cy="299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latin typeface="Times New Roman"/>
                <a:cs typeface="Times New Roman"/>
              </a:rPr>
              <a:t>Kongu</a:t>
            </a:r>
            <a:r>
              <a:rPr dirty="0" sz="1800" spc="2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Engineering</a:t>
            </a:r>
            <a:r>
              <a:rPr dirty="0" sz="1800" spc="229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College,</a:t>
            </a:r>
            <a:r>
              <a:rPr dirty="0" sz="1800" spc="2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Erode,</a:t>
            </a:r>
            <a:r>
              <a:rPr dirty="0" sz="1800" spc="1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Tamil</a:t>
            </a:r>
            <a:r>
              <a:rPr dirty="0" sz="1800" spc="229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Nadu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4684" y="2168180"/>
            <a:ext cx="3664585" cy="203581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0731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4"/>
              </a:spcBef>
            </a:pPr>
            <a:r>
              <a:rPr dirty="0" sz="3450" spc="-10" b="1">
                <a:solidFill>
                  <a:srgbClr val="FFFFFF"/>
                </a:solidFill>
                <a:latin typeface="Times New Roman"/>
                <a:cs typeface="Times New Roman"/>
              </a:rPr>
              <a:t>Context</a:t>
            </a:r>
            <a:endParaRPr sz="3450">
              <a:latin typeface="Times New Roman"/>
              <a:cs typeface="Times New Roman"/>
            </a:endParaRPr>
          </a:p>
          <a:p>
            <a:pPr algn="ctr" marL="414655" marR="412750">
              <a:lnSpc>
                <a:spcPts val="1860"/>
              </a:lnSpc>
              <a:spcBef>
                <a:spcPts val="1025"/>
              </a:spcBef>
            </a:pP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dirty="0" sz="165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40%</a:t>
            </a:r>
            <a:r>
              <a:rPr dirty="0" sz="165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650" spc="2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165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leave</a:t>
            </a:r>
            <a:r>
              <a:rPr dirty="0" sz="165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Times New Roman"/>
                <a:cs typeface="Times New Roman"/>
              </a:rPr>
              <a:t>online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dirty="0" sz="165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dirty="0" sz="165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dirty="0" sz="165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cannot</a:t>
            </a:r>
            <a:r>
              <a:rPr dirty="0" sz="165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Times New Roman"/>
                <a:cs typeface="Times New Roman"/>
              </a:rPr>
              <a:t>find </a:t>
            </a:r>
            <a:r>
              <a:rPr dirty="0" sz="165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1650" spc="5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1650" spc="-10">
                <a:solidFill>
                  <a:srgbClr val="FFFFFF"/>
                </a:solidFill>
                <a:latin typeface="Times New Roman"/>
                <a:cs typeface="Times New Roman"/>
              </a:rPr>
              <a:t>quickly.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7564" y="5840402"/>
            <a:ext cx="9930130" cy="163195"/>
            <a:chOff x="417564" y="5840402"/>
            <a:chExt cx="9930130" cy="163195"/>
          </a:xfrm>
        </p:grpSpPr>
        <p:sp>
          <p:nvSpPr>
            <p:cNvPr id="4" name="object 4"/>
            <p:cNvSpPr/>
            <p:nvPr/>
          </p:nvSpPr>
          <p:spPr>
            <a:xfrm>
              <a:off x="417564" y="5840402"/>
              <a:ext cx="8758555" cy="81915"/>
            </a:xfrm>
            <a:custGeom>
              <a:avLst/>
              <a:gdLst/>
              <a:ahLst/>
              <a:cxnLst/>
              <a:rect l="l" t="t" r="r" b="b"/>
              <a:pathLst>
                <a:path w="8758555" h="81914">
                  <a:moveTo>
                    <a:pt x="0" y="81423"/>
                  </a:moveTo>
                  <a:lnTo>
                    <a:pt x="8758038" y="81423"/>
                  </a:lnTo>
                  <a:lnTo>
                    <a:pt x="8758038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17564" y="5921826"/>
              <a:ext cx="8758555" cy="81915"/>
            </a:xfrm>
            <a:custGeom>
              <a:avLst/>
              <a:gdLst/>
              <a:ahLst/>
              <a:cxnLst/>
              <a:rect l="l" t="t" r="r" b="b"/>
              <a:pathLst>
                <a:path w="8758555" h="81914">
                  <a:moveTo>
                    <a:pt x="0" y="81423"/>
                  </a:moveTo>
                  <a:lnTo>
                    <a:pt x="8758038" y="81423"/>
                  </a:lnTo>
                  <a:lnTo>
                    <a:pt x="8758038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175597" y="5840412"/>
              <a:ext cx="1171575" cy="163195"/>
            </a:xfrm>
            <a:custGeom>
              <a:avLst/>
              <a:gdLst/>
              <a:ahLst/>
              <a:cxnLst/>
              <a:rect l="l" t="t" r="r" b="b"/>
              <a:pathLst>
                <a:path w="1171575" h="163195">
                  <a:moveTo>
                    <a:pt x="1171524" y="0"/>
                  </a:moveTo>
                  <a:lnTo>
                    <a:pt x="1130020" y="0"/>
                  </a:lnTo>
                  <a:lnTo>
                    <a:pt x="182321" y="0"/>
                  </a:lnTo>
                  <a:lnTo>
                    <a:pt x="136639" y="0"/>
                  </a:lnTo>
                  <a:lnTo>
                    <a:pt x="0" y="162839"/>
                  </a:lnTo>
                  <a:lnTo>
                    <a:pt x="182321" y="162839"/>
                  </a:lnTo>
                  <a:lnTo>
                    <a:pt x="993368" y="162839"/>
                  </a:lnTo>
                  <a:lnTo>
                    <a:pt x="1171524" y="162839"/>
                  </a:lnTo>
                  <a:lnTo>
                    <a:pt x="1171524" y="0"/>
                  </a:lnTo>
                  <a:close/>
                </a:path>
              </a:pathLst>
            </a:custGeom>
            <a:solidFill>
              <a:srgbClr val="C131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17564" y="5819561"/>
            <a:ext cx="993013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64515">
              <a:lnSpc>
                <a:spcPct val="100000"/>
              </a:lnSpc>
              <a:spcBef>
                <a:spcPts val="125"/>
              </a:spcBef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981" y="2119325"/>
            <a:ext cx="5944235" cy="146621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endParaRPr sz="1800">
              <a:latin typeface="Times New Roman"/>
              <a:cs typeface="Times New Roman"/>
            </a:endParaRPr>
          </a:p>
          <a:p>
            <a:pPr marL="260350" marR="306070">
              <a:lnSpc>
                <a:spcPts val="1540"/>
              </a:lnSpc>
              <a:spcBef>
                <a:spcPts val="161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fail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understand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incomplete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unclear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querie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making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difficult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people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quickly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access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important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information online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981" y="3829229"/>
            <a:ext cx="5944235" cy="1466215"/>
          </a:xfrm>
          <a:prstGeom prst="rect">
            <a:avLst/>
          </a:prstGeom>
          <a:solidFill>
            <a:srgbClr val="F16629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Impact</a:t>
            </a:r>
            <a:endParaRPr sz="1800">
              <a:latin typeface="Times New Roman"/>
              <a:cs typeface="Times New Roman"/>
            </a:endParaRPr>
          </a:p>
          <a:p>
            <a:pPr marL="260350" marR="702945">
              <a:lnSpc>
                <a:spcPts val="1540"/>
              </a:lnSpc>
              <a:spcBef>
                <a:spcPts val="1610"/>
              </a:spcBef>
            </a:pP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struggle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find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online,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institutions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face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increased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workload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manual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support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repeated</a:t>
            </a:r>
            <a:r>
              <a:rPr dirty="0" sz="14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queries.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6933" y="1761060"/>
            <a:ext cx="3598940" cy="38920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Problem</a:t>
            </a:r>
            <a:r>
              <a:rPr dirty="0" spc="180">
                <a:solidFill>
                  <a:srgbClr val="BF0000"/>
                </a:solidFill>
              </a:rPr>
              <a:t> </a:t>
            </a:r>
            <a:r>
              <a:rPr dirty="0" spc="-10">
                <a:solidFill>
                  <a:srgbClr val="BF0000"/>
                </a:solidFill>
              </a:rPr>
              <a:t>Statement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8" name="object 8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3997" y="600281"/>
            <a:ext cx="4351020" cy="4362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Problem</a:t>
            </a:r>
            <a:r>
              <a:rPr dirty="0" spc="180"/>
              <a:t> </a:t>
            </a:r>
            <a:r>
              <a:rPr dirty="0" spc="-10"/>
              <a:t>Statement/Industry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7253" y="1427221"/>
            <a:ext cx="5358130" cy="2288540"/>
          </a:xfrm>
          <a:prstGeom prst="rect">
            <a:avLst/>
          </a:prstGeom>
          <a:solidFill>
            <a:srgbClr val="BE2025"/>
          </a:solidFill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400">
              <a:latin typeface="Times New Roman"/>
              <a:cs typeface="Times New Roman"/>
            </a:endParaRPr>
          </a:p>
          <a:p>
            <a:pPr marL="130175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Problem</a:t>
            </a:r>
            <a:r>
              <a:rPr dirty="0" sz="1400" spc="2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Being</a:t>
            </a:r>
            <a:r>
              <a:rPr dirty="0" sz="1400" spc="3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Solved</a:t>
            </a:r>
            <a:endParaRPr sz="1400">
              <a:latin typeface="Times New Roman"/>
              <a:cs typeface="Times New Roman"/>
            </a:endParaRPr>
          </a:p>
          <a:p>
            <a:pPr marL="130175" marR="201295">
              <a:lnSpc>
                <a:spcPct val="92400"/>
              </a:lnSpc>
              <a:spcBef>
                <a:spcPts val="159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online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systems,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requested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submit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queries</a:t>
            </a:r>
            <a:r>
              <a:rPr dirty="0" sz="1400" spc="5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well-structured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complete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them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access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information.</a:t>
            </a:r>
            <a:r>
              <a:rPr dirty="0" sz="14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However,</a:t>
            </a:r>
            <a:r>
              <a:rPr dirty="0" sz="140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14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dirty="0" sz="140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submit</a:t>
            </a:r>
            <a:r>
              <a:rPr dirty="0" sz="14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queries</a:t>
            </a:r>
            <a:r>
              <a:rPr dirty="0" sz="140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14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140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either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incomplete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poorly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structured.</a:t>
            </a:r>
            <a:r>
              <a:rPr dirty="0" sz="14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makes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dirty="0" sz="1400" spc="2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impossible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2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14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understand</a:t>
            </a:r>
            <a:r>
              <a:rPr dirty="0" sz="14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4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query,</a:t>
            </a:r>
            <a:r>
              <a:rPr dirty="0" sz="14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14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dirty="0" sz="14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end</a:t>
            </a:r>
            <a:r>
              <a:rPr dirty="0" sz="14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up</a:t>
            </a:r>
            <a:r>
              <a:rPr dirty="0" sz="14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depending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140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humans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5231" y="1427221"/>
            <a:ext cx="3566795" cy="22885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400">
              <a:latin typeface="Times New Roman"/>
              <a:cs typeface="Times New Roman"/>
            </a:endParaRPr>
          </a:p>
          <a:p>
            <a:pPr marL="146050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Supporting</a:t>
            </a:r>
            <a:r>
              <a:rPr dirty="0" sz="1400" spc="49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146050" marR="335280">
              <a:lnSpc>
                <a:spcPts val="1540"/>
              </a:lnSpc>
              <a:spcBef>
                <a:spcPts val="5"/>
              </a:spcBef>
            </a:pPr>
            <a:r>
              <a:rPr dirty="0" sz="1400">
                <a:latin typeface="Times New Roman"/>
                <a:cs typeface="Times New Roman"/>
              </a:rPr>
              <a:t>Over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40%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users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leave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online</a:t>
            </a:r>
            <a:r>
              <a:rPr dirty="0" sz="1400" spc="2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systems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they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cannot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find</a:t>
            </a:r>
            <a:r>
              <a:rPr dirty="0" sz="1400" spc="2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information quickly.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46050" marR="248920">
              <a:lnSpc>
                <a:spcPts val="1090"/>
              </a:lnSpc>
            </a:pPr>
            <a:r>
              <a:rPr dirty="0" sz="1000" b="1">
                <a:latin typeface="Times New Roman"/>
                <a:cs typeface="Times New Roman"/>
              </a:rPr>
              <a:t>Source</a:t>
            </a:r>
            <a:r>
              <a:rPr dirty="0" sz="1000">
                <a:latin typeface="Times New Roman"/>
                <a:cs typeface="Times New Roman"/>
              </a:rPr>
              <a:t>: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Gartner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 spc="45">
                <a:latin typeface="Times New Roman"/>
                <a:cs typeface="Times New Roman"/>
              </a:rPr>
              <a:t>Customer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Service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and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Support</a:t>
            </a:r>
            <a:r>
              <a:rPr dirty="0" sz="1000" spc="3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Survey Report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57253" y="3869941"/>
            <a:ext cx="684530" cy="684530"/>
            <a:chOff x="857253" y="3869941"/>
            <a:chExt cx="684530" cy="684530"/>
          </a:xfrm>
        </p:grpSpPr>
        <p:sp>
          <p:nvSpPr>
            <p:cNvPr id="7" name="object 7"/>
            <p:cNvSpPr/>
            <p:nvPr/>
          </p:nvSpPr>
          <p:spPr>
            <a:xfrm>
              <a:off x="857250" y="3869943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30" h="684529">
                  <a:moveTo>
                    <a:pt x="683958" y="341985"/>
                  </a:moveTo>
                  <a:lnTo>
                    <a:pt x="681393" y="300126"/>
                  </a:lnTo>
                  <a:lnTo>
                    <a:pt x="673709" y="258889"/>
                  </a:lnTo>
                  <a:lnTo>
                    <a:pt x="661047" y="218909"/>
                  </a:lnTo>
                  <a:lnTo>
                    <a:pt x="643572" y="180771"/>
                  </a:lnTo>
                  <a:lnTo>
                    <a:pt x="621576" y="145072"/>
                  </a:lnTo>
                  <a:lnTo>
                    <a:pt x="595363" y="112318"/>
                  </a:lnTo>
                  <a:lnTo>
                    <a:pt x="565353" y="83032"/>
                  </a:lnTo>
                  <a:lnTo>
                    <a:pt x="531977" y="57632"/>
                  </a:lnTo>
                  <a:lnTo>
                    <a:pt x="495731" y="36512"/>
                  </a:lnTo>
                  <a:lnTo>
                    <a:pt x="457187" y="19989"/>
                  </a:lnTo>
                  <a:lnTo>
                    <a:pt x="416902" y="8318"/>
                  </a:lnTo>
                  <a:lnTo>
                    <a:pt x="375500" y="1651"/>
                  </a:lnTo>
                  <a:lnTo>
                    <a:pt x="341972" y="0"/>
                  </a:lnTo>
                  <a:lnTo>
                    <a:pt x="338518" y="50"/>
                  </a:lnTo>
                  <a:lnTo>
                    <a:pt x="337908" y="0"/>
                  </a:lnTo>
                  <a:lnTo>
                    <a:pt x="337007" y="63"/>
                  </a:lnTo>
                  <a:lnTo>
                    <a:pt x="333578" y="101"/>
                  </a:lnTo>
                  <a:lnTo>
                    <a:pt x="325196" y="419"/>
                  </a:lnTo>
                  <a:lnTo>
                    <a:pt x="316826" y="927"/>
                  </a:lnTo>
                  <a:lnTo>
                    <a:pt x="308457" y="1651"/>
                  </a:lnTo>
                  <a:lnTo>
                    <a:pt x="300901" y="2501"/>
                  </a:lnTo>
                  <a:lnTo>
                    <a:pt x="292049" y="3086"/>
                  </a:lnTo>
                  <a:lnTo>
                    <a:pt x="248081" y="12077"/>
                  </a:lnTo>
                  <a:lnTo>
                    <a:pt x="206375" y="26555"/>
                  </a:lnTo>
                  <a:lnTo>
                    <a:pt x="167360" y="46139"/>
                  </a:lnTo>
                  <a:lnTo>
                    <a:pt x="131419" y="70408"/>
                  </a:lnTo>
                  <a:lnTo>
                    <a:pt x="98971" y="98971"/>
                  </a:lnTo>
                  <a:lnTo>
                    <a:pt x="70408" y="131432"/>
                  </a:lnTo>
                  <a:lnTo>
                    <a:pt x="46126" y="167360"/>
                  </a:lnTo>
                  <a:lnTo>
                    <a:pt x="26555" y="206387"/>
                  </a:lnTo>
                  <a:lnTo>
                    <a:pt x="12065" y="248081"/>
                  </a:lnTo>
                  <a:lnTo>
                    <a:pt x="3086" y="292061"/>
                  </a:lnTo>
                  <a:lnTo>
                    <a:pt x="2501" y="300634"/>
                  </a:lnTo>
                  <a:lnTo>
                    <a:pt x="1638" y="308470"/>
                  </a:lnTo>
                  <a:lnTo>
                    <a:pt x="927" y="316826"/>
                  </a:lnTo>
                  <a:lnTo>
                    <a:pt x="406" y="325208"/>
                  </a:lnTo>
                  <a:lnTo>
                    <a:pt x="101" y="333590"/>
                  </a:lnTo>
                  <a:lnTo>
                    <a:pt x="50" y="337019"/>
                  </a:lnTo>
                  <a:lnTo>
                    <a:pt x="0" y="337908"/>
                  </a:lnTo>
                  <a:lnTo>
                    <a:pt x="38" y="338531"/>
                  </a:lnTo>
                  <a:lnTo>
                    <a:pt x="0" y="341985"/>
                  </a:lnTo>
                  <a:lnTo>
                    <a:pt x="101" y="350380"/>
                  </a:lnTo>
                  <a:lnTo>
                    <a:pt x="3695" y="392163"/>
                  </a:lnTo>
                  <a:lnTo>
                    <a:pt x="12382" y="433197"/>
                  </a:lnTo>
                  <a:lnTo>
                    <a:pt x="26035" y="472859"/>
                  </a:lnTo>
                  <a:lnTo>
                    <a:pt x="44424" y="510552"/>
                  </a:lnTo>
                  <a:lnTo>
                    <a:pt x="67297" y="545706"/>
                  </a:lnTo>
                  <a:lnTo>
                    <a:pt x="94297" y="577786"/>
                  </a:lnTo>
                  <a:lnTo>
                    <a:pt x="125031" y="606336"/>
                  </a:lnTo>
                  <a:lnTo>
                    <a:pt x="159016" y="630910"/>
                  </a:lnTo>
                  <a:lnTo>
                    <a:pt x="195757" y="651129"/>
                  </a:lnTo>
                  <a:lnTo>
                    <a:pt x="234708" y="666699"/>
                  </a:lnTo>
                  <a:lnTo>
                    <a:pt x="275259" y="677392"/>
                  </a:lnTo>
                  <a:lnTo>
                    <a:pt x="316826" y="683044"/>
                  </a:lnTo>
                  <a:lnTo>
                    <a:pt x="341972" y="683971"/>
                  </a:lnTo>
                  <a:lnTo>
                    <a:pt x="350367" y="683856"/>
                  </a:lnTo>
                  <a:lnTo>
                    <a:pt x="392163" y="680262"/>
                  </a:lnTo>
                  <a:lnTo>
                    <a:pt x="433184" y="671576"/>
                  </a:lnTo>
                  <a:lnTo>
                    <a:pt x="472846" y="657936"/>
                  </a:lnTo>
                  <a:lnTo>
                    <a:pt x="510540" y="639533"/>
                  </a:lnTo>
                  <a:lnTo>
                    <a:pt x="545693" y="616661"/>
                  </a:lnTo>
                  <a:lnTo>
                    <a:pt x="577786" y="589661"/>
                  </a:lnTo>
                  <a:lnTo>
                    <a:pt x="606336" y="558939"/>
                  </a:lnTo>
                  <a:lnTo>
                    <a:pt x="630897" y="524941"/>
                  </a:lnTo>
                  <a:lnTo>
                    <a:pt x="651129" y="488200"/>
                  </a:lnTo>
                  <a:lnTo>
                    <a:pt x="666699" y="449262"/>
                  </a:lnTo>
                  <a:lnTo>
                    <a:pt x="677392" y="408698"/>
                  </a:lnTo>
                  <a:lnTo>
                    <a:pt x="683031" y="367144"/>
                  </a:lnTo>
                  <a:lnTo>
                    <a:pt x="683856" y="350380"/>
                  </a:lnTo>
                  <a:lnTo>
                    <a:pt x="683958" y="341985"/>
                  </a:lnTo>
                  <a:close/>
                </a:path>
              </a:pathLst>
            </a:custGeom>
            <a:solidFill>
              <a:srgbClr val="F16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18832" y="4044606"/>
              <a:ext cx="353060" cy="334645"/>
            </a:xfrm>
            <a:custGeom>
              <a:avLst/>
              <a:gdLst/>
              <a:ahLst/>
              <a:cxnLst/>
              <a:rect l="l" t="t" r="r" b="b"/>
              <a:pathLst>
                <a:path w="353059" h="334645">
                  <a:moveTo>
                    <a:pt x="159181" y="229209"/>
                  </a:moveTo>
                  <a:lnTo>
                    <a:pt x="128485" y="196634"/>
                  </a:lnTo>
                  <a:lnTo>
                    <a:pt x="27635" y="294754"/>
                  </a:lnTo>
                  <a:lnTo>
                    <a:pt x="24447" y="298005"/>
                  </a:lnTo>
                  <a:lnTo>
                    <a:pt x="24447" y="303707"/>
                  </a:lnTo>
                  <a:lnTo>
                    <a:pt x="54737" y="334645"/>
                  </a:lnTo>
                  <a:lnTo>
                    <a:pt x="60325" y="334645"/>
                  </a:lnTo>
                  <a:lnTo>
                    <a:pt x="63512" y="331393"/>
                  </a:lnTo>
                  <a:lnTo>
                    <a:pt x="159181" y="229209"/>
                  </a:lnTo>
                  <a:close/>
                </a:path>
                <a:path w="353059" h="334645">
                  <a:moveTo>
                    <a:pt x="317042" y="298411"/>
                  </a:moveTo>
                  <a:lnTo>
                    <a:pt x="313855" y="295160"/>
                  </a:lnTo>
                  <a:lnTo>
                    <a:pt x="115341" y="101371"/>
                  </a:lnTo>
                  <a:lnTo>
                    <a:pt x="152806" y="62687"/>
                  </a:lnTo>
                  <a:lnTo>
                    <a:pt x="152806" y="56997"/>
                  </a:lnTo>
                  <a:lnTo>
                    <a:pt x="107759" y="10579"/>
                  </a:lnTo>
                  <a:lnTo>
                    <a:pt x="102184" y="10579"/>
                  </a:lnTo>
                  <a:lnTo>
                    <a:pt x="63512" y="50076"/>
                  </a:lnTo>
                  <a:lnTo>
                    <a:pt x="57124" y="43967"/>
                  </a:lnTo>
                  <a:lnTo>
                    <a:pt x="53949" y="40703"/>
                  </a:lnTo>
                  <a:lnTo>
                    <a:pt x="48361" y="40703"/>
                  </a:lnTo>
                  <a:lnTo>
                    <a:pt x="29629" y="59842"/>
                  </a:lnTo>
                  <a:lnTo>
                    <a:pt x="29629" y="65544"/>
                  </a:lnTo>
                  <a:lnTo>
                    <a:pt x="32816" y="68795"/>
                  </a:lnTo>
                  <a:lnTo>
                    <a:pt x="38798" y="75311"/>
                  </a:lnTo>
                  <a:lnTo>
                    <a:pt x="25641" y="88747"/>
                  </a:lnTo>
                  <a:lnTo>
                    <a:pt x="24041" y="90779"/>
                  </a:lnTo>
                  <a:lnTo>
                    <a:pt x="23253" y="93230"/>
                  </a:lnTo>
                  <a:lnTo>
                    <a:pt x="1320" y="151853"/>
                  </a:lnTo>
                  <a:lnTo>
                    <a:pt x="0" y="155168"/>
                  </a:lnTo>
                  <a:lnTo>
                    <a:pt x="673" y="158013"/>
                  </a:lnTo>
                  <a:lnTo>
                    <a:pt x="3327" y="160401"/>
                  </a:lnTo>
                  <a:lnTo>
                    <a:pt x="5715" y="162839"/>
                  </a:lnTo>
                  <a:lnTo>
                    <a:pt x="8902" y="163652"/>
                  </a:lnTo>
                  <a:lnTo>
                    <a:pt x="12090" y="162839"/>
                  </a:lnTo>
                  <a:lnTo>
                    <a:pt x="74282" y="142074"/>
                  </a:lnTo>
                  <a:lnTo>
                    <a:pt x="76669" y="140855"/>
                  </a:lnTo>
                  <a:lnTo>
                    <a:pt x="88633" y="128651"/>
                  </a:lnTo>
                  <a:lnTo>
                    <a:pt x="278371" y="331393"/>
                  </a:lnTo>
                  <a:lnTo>
                    <a:pt x="281571" y="334645"/>
                  </a:lnTo>
                  <a:lnTo>
                    <a:pt x="287147" y="334645"/>
                  </a:lnTo>
                  <a:lnTo>
                    <a:pt x="317042" y="304114"/>
                  </a:lnTo>
                  <a:lnTo>
                    <a:pt x="317042" y="298411"/>
                  </a:lnTo>
                  <a:close/>
                </a:path>
                <a:path w="353059" h="334645">
                  <a:moveTo>
                    <a:pt x="352526" y="122948"/>
                  </a:moveTo>
                  <a:lnTo>
                    <a:pt x="350126" y="119684"/>
                  </a:lnTo>
                  <a:lnTo>
                    <a:pt x="346570" y="114401"/>
                  </a:lnTo>
                  <a:lnTo>
                    <a:pt x="309079" y="58623"/>
                  </a:lnTo>
                  <a:lnTo>
                    <a:pt x="309079" y="58216"/>
                  </a:lnTo>
                  <a:lnTo>
                    <a:pt x="295922" y="44780"/>
                  </a:lnTo>
                  <a:lnTo>
                    <a:pt x="295922" y="44373"/>
                  </a:lnTo>
                  <a:lnTo>
                    <a:pt x="295516" y="43967"/>
                  </a:lnTo>
                  <a:lnTo>
                    <a:pt x="295109" y="43967"/>
                  </a:lnTo>
                  <a:lnTo>
                    <a:pt x="234124" y="2438"/>
                  </a:lnTo>
                  <a:lnTo>
                    <a:pt x="230936" y="0"/>
                  </a:lnTo>
                  <a:lnTo>
                    <a:pt x="226161" y="406"/>
                  </a:lnTo>
                  <a:lnTo>
                    <a:pt x="223367" y="3251"/>
                  </a:lnTo>
                  <a:lnTo>
                    <a:pt x="187490" y="39484"/>
                  </a:lnTo>
                  <a:lnTo>
                    <a:pt x="185889" y="41516"/>
                  </a:lnTo>
                  <a:lnTo>
                    <a:pt x="185102" y="43967"/>
                  </a:lnTo>
                  <a:lnTo>
                    <a:pt x="185102" y="46405"/>
                  </a:lnTo>
                  <a:lnTo>
                    <a:pt x="185496" y="48907"/>
                  </a:lnTo>
                  <a:lnTo>
                    <a:pt x="186690" y="50952"/>
                  </a:lnTo>
                  <a:lnTo>
                    <a:pt x="188683" y="52514"/>
                  </a:lnTo>
                  <a:lnTo>
                    <a:pt x="240499" y="87528"/>
                  </a:lnTo>
                  <a:lnTo>
                    <a:pt x="183095" y="143306"/>
                  </a:lnTo>
                  <a:lnTo>
                    <a:pt x="212598" y="172212"/>
                  </a:lnTo>
                  <a:lnTo>
                    <a:pt x="266814" y="114401"/>
                  </a:lnTo>
                  <a:lnTo>
                    <a:pt x="300304" y="165696"/>
                  </a:lnTo>
                  <a:lnTo>
                    <a:pt x="301891" y="167728"/>
                  </a:lnTo>
                  <a:lnTo>
                    <a:pt x="304292" y="168948"/>
                  </a:lnTo>
                  <a:lnTo>
                    <a:pt x="309067" y="169760"/>
                  </a:lnTo>
                  <a:lnTo>
                    <a:pt x="311861" y="168541"/>
                  </a:lnTo>
                  <a:lnTo>
                    <a:pt x="352132" y="127825"/>
                  </a:lnTo>
                  <a:lnTo>
                    <a:pt x="352526" y="122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626224" y="3832814"/>
            <a:ext cx="789305" cy="436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10"/>
              </a:lnSpc>
              <a:spcBef>
                <a:spcPts val="110"/>
              </a:spcBef>
            </a:pP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Area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</a:pPr>
            <a:r>
              <a:rPr dirty="0" sz="1400" spc="-10">
                <a:latin typeface="Times New Roman"/>
                <a:cs typeface="Times New Roman"/>
              </a:rPr>
              <a:t>DeepTech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78084" y="3869941"/>
            <a:ext cx="684530" cy="684530"/>
            <a:chOff x="3878084" y="3869941"/>
            <a:chExt cx="684530" cy="684530"/>
          </a:xfrm>
        </p:grpSpPr>
        <p:sp>
          <p:nvSpPr>
            <p:cNvPr id="11" name="object 11"/>
            <p:cNvSpPr/>
            <p:nvPr/>
          </p:nvSpPr>
          <p:spPr>
            <a:xfrm>
              <a:off x="3878072" y="3869943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29" h="684529">
                  <a:moveTo>
                    <a:pt x="683971" y="341985"/>
                  </a:moveTo>
                  <a:lnTo>
                    <a:pt x="681393" y="300126"/>
                  </a:lnTo>
                  <a:lnTo>
                    <a:pt x="673722" y="258889"/>
                  </a:lnTo>
                  <a:lnTo>
                    <a:pt x="661047" y="218909"/>
                  </a:lnTo>
                  <a:lnTo>
                    <a:pt x="643585" y="180771"/>
                  </a:lnTo>
                  <a:lnTo>
                    <a:pt x="621588" y="145072"/>
                  </a:lnTo>
                  <a:lnTo>
                    <a:pt x="595376" y="112318"/>
                  </a:lnTo>
                  <a:lnTo>
                    <a:pt x="565365" y="83032"/>
                  </a:lnTo>
                  <a:lnTo>
                    <a:pt x="531977" y="57632"/>
                  </a:lnTo>
                  <a:lnTo>
                    <a:pt x="495744" y="36512"/>
                  </a:lnTo>
                  <a:lnTo>
                    <a:pt x="457200" y="19989"/>
                  </a:lnTo>
                  <a:lnTo>
                    <a:pt x="416915" y="8318"/>
                  </a:lnTo>
                  <a:lnTo>
                    <a:pt x="375500" y="1651"/>
                  </a:lnTo>
                  <a:lnTo>
                    <a:pt x="341985" y="0"/>
                  </a:lnTo>
                  <a:lnTo>
                    <a:pt x="333590" y="101"/>
                  </a:lnTo>
                  <a:lnTo>
                    <a:pt x="291807" y="3708"/>
                  </a:lnTo>
                  <a:lnTo>
                    <a:pt x="250774" y="12395"/>
                  </a:lnTo>
                  <a:lnTo>
                    <a:pt x="211112" y="26035"/>
                  </a:lnTo>
                  <a:lnTo>
                    <a:pt x="173418" y="44437"/>
                  </a:lnTo>
                  <a:lnTo>
                    <a:pt x="138264" y="67297"/>
                  </a:lnTo>
                  <a:lnTo>
                    <a:pt x="106184" y="94310"/>
                  </a:lnTo>
                  <a:lnTo>
                    <a:pt x="77635" y="125031"/>
                  </a:lnTo>
                  <a:lnTo>
                    <a:pt x="53060" y="159029"/>
                  </a:lnTo>
                  <a:lnTo>
                    <a:pt x="32842" y="195770"/>
                  </a:lnTo>
                  <a:lnTo>
                    <a:pt x="17272" y="234708"/>
                  </a:lnTo>
                  <a:lnTo>
                    <a:pt x="6578" y="275272"/>
                  </a:lnTo>
                  <a:lnTo>
                    <a:pt x="927" y="316826"/>
                  </a:lnTo>
                  <a:lnTo>
                    <a:pt x="0" y="341985"/>
                  </a:lnTo>
                  <a:lnTo>
                    <a:pt x="114" y="350380"/>
                  </a:lnTo>
                  <a:lnTo>
                    <a:pt x="3708" y="392163"/>
                  </a:lnTo>
                  <a:lnTo>
                    <a:pt x="12395" y="433197"/>
                  </a:lnTo>
                  <a:lnTo>
                    <a:pt x="26035" y="472859"/>
                  </a:lnTo>
                  <a:lnTo>
                    <a:pt x="44437" y="510552"/>
                  </a:lnTo>
                  <a:lnTo>
                    <a:pt x="67310" y="545706"/>
                  </a:lnTo>
                  <a:lnTo>
                    <a:pt x="94310" y="577786"/>
                  </a:lnTo>
                  <a:lnTo>
                    <a:pt x="125031" y="606336"/>
                  </a:lnTo>
                  <a:lnTo>
                    <a:pt x="159029" y="630910"/>
                  </a:lnTo>
                  <a:lnTo>
                    <a:pt x="195770" y="651129"/>
                  </a:lnTo>
                  <a:lnTo>
                    <a:pt x="234708" y="666699"/>
                  </a:lnTo>
                  <a:lnTo>
                    <a:pt x="275272" y="677392"/>
                  </a:lnTo>
                  <a:lnTo>
                    <a:pt x="316826" y="683044"/>
                  </a:lnTo>
                  <a:lnTo>
                    <a:pt x="341985" y="683971"/>
                  </a:lnTo>
                  <a:lnTo>
                    <a:pt x="345363" y="683933"/>
                  </a:lnTo>
                  <a:lnTo>
                    <a:pt x="346062" y="683971"/>
                  </a:lnTo>
                  <a:lnTo>
                    <a:pt x="347091" y="683907"/>
                  </a:lnTo>
                  <a:lnTo>
                    <a:pt x="350380" y="683856"/>
                  </a:lnTo>
                  <a:lnTo>
                    <a:pt x="358762" y="683552"/>
                  </a:lnTo>
                  <a:lnTo>
                    <a:pt x="367144" y="683044"/>
                  </a:lnTo>
                  <a:lnTo>
                    <a:pt x="375500" y="682320"/>
                  </a:lnTo>
                  <a:lnTo>
                    <a:pt x="383070" y="681482"/>
                  </a:lnTo>
                  <a:lnTo>
                    <a:pt x="391909" y="680885"/>
                  </a:lnTo>
                  <a:lnTo>
                    <a:pt x="435889" y="671893"/>
                  </a:lnTo>
                  <a:lnTo>
                    <a:pt x="477583" y="657415"/>
                  </a:lnTo>
                  <a:lnTo>
                    <a:pt x="516610" y="637832"/>
                  </a:lnTo>
                  <a:lnTo>
                    <a:pt x="552538" y="613562"/>
                  </a:lnTo>
                  <a:lnTo>
                    <a:pt x="585000" y="585000"/>
                  </a:lnTo>
                  <a:lnTo>
                    <a:pt x="613562" y="552538"/>
                  </a:lnTo>
                  <a:lnTo>
                    <a:pt x="637832" y="516610"/>
                  </a:lnTo>
                  <a:lnTo>
                    <a:pt x="657415" y="477583"/>
                  </a:lnTo>
                  <a:lnTo>
                    <a:pt x="671893" y="435889"/>
                  </a:lnTo>
                  <a:lnTo>
                    <a:pt x="680885" y="391909"/>
                  </a:lnTo>
                  <a:lnTo>
                    <a:pt x="681469" y="383057"/>
                  </a:lnTo>
                  <a:lnTo>
                    <a:pt x="682320" y="375500"/>
                  </a:lnTo>
                  <a:lnTo>
                    <a:pt x="683044" y="367144"/>
                  </a:lnTo>
                  <a:lnTo>
                    <a:pt x="683552" y="358762"/>
                  </a:lnTo>
                  <a:lnTo>
                    <a:pt x="683869" y="350380"/>
                  </a:lnTo>
                  <a:lnTo>
                    <a:pt x="683907" y="346964"/>
                  </a:lnTo>
                  <a:lnTo>
                    <a:pt x="683971" y="346062"/>
                  </a:lnTo>
                  <a:lnTo>
                    <a:pt x="683920" y="345452"/>
                  </a:lnTo>
                  <a:lnTo>
                    <a:pt x="683971" y="341985"/>
                  </a:lnTo>
                  <a:close/>
                </a:path>
              </a:pathLst>
            </a:custGeom>
            <a:solidFill>
              <a:srgbClr val="F16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59757" y="4043472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29" h="328929">
                  <a:moveTo>
                    <a:pt x="328757" y="328757"/>
                  </a:moveTo>
                  <a:lnTo>
                    <a:pt x="0" y="328757"/>
                  </a:lnTo>
                  <a:lnTo>
                    <a:pt x="0" y="198218"/>
                  </a:lnTo>
                  <a:lnTo>
                    <a:pt x="14509" y="0"/>
                  </a:lnTo>
                  <a:lnTo>
                    <a:pt x="53185" y="0"/>
                  </a:lnTo>
                  <a:lnTo>
                    <a:pt x="67687" y="198218"/>
                  </a:lnTo>
                  <a:lnTo>
                    <a:pt x="328757" y="198218"/>
                  </a:lnTo>
                  <a:lnTo>
                    <a:pt x="328757" y="251404"/>
                  </a:lnTo>
                  <a:lnTo>
                    <a:pt x="38676" y="251404"/>
                  </a:lnTo>
                  <a:lnTo>
                    <a:pt x="38676" y="294909"/>
                  </a:lnTo>
                  <a:lnTo>
                    <a:pt x="328757" y="294909"/>
                  </a:lnTo>
                  <a:lnTo>
                    <a:pt x="328757" y="328757"/>
                  </a:lnTo>
                  <a:close/>
                </a:path>
                <a:path w="328929" h="328929">
                  <a:moveTo>
                    <a:pt x="198218" y="198218"/>
                  </a:moveTo>
                  <a:lnTo>
                    <a:pt x="67687" y="198218"/>
                  </a:lnTo>
                  <a:lnTo>
                    <a:pt x="198218" y="130538"/>
                  </a:lnTo>
                  <a:lnTo>
                    <a:pt x="198218" y="198218"/>
                  </a:lnTo>
                  <a:close/>
                </a:path>
                <a:path w="328929" h="328929">
                  <a:moveTo>
                    <a:pt x="328757" y="198218"/>
                  </a:moveTo>
                  <a:lnTo>
                    <a:pt x="198218" y="198218"/>
                  </a:lnTo>
                  <a:lnTo>
                    <a:pt x="328757" y="130538"/>
                  </a:lnTo>
                  <a:lnTo>
                    <a:pt x="328757" y="198218"/>
                  </a:lnTo>
                  <a:close/>
                </a:path>
                <a:path w="328929" h="328929">
                  <a:moveTo>
                    <a:pt x="135375" y="294909"/>
                  </a:moveTo>
                  <a:lnTo>
                    <a:pt x="96698" y="294909"/>
                  </a:lnTo>
                  <a:lnTo>
                    <a:pt x="96698" y="251404"/>
                  </a:lnTo>
                  <a:lnTo>
                    <a:pt x="135375" y="251404"/>
                  </a:lnTo>
                  <a:lnTo>
                    <a:pt x="135375" y="294909"/>
                  </a:lnTo>
                  <a:close/>
                </a:path>
                <a:path w="328929" h="328929">
                  <a:moveTo>
                    <a:pt x="232058" y="294909"/>
                  </a:moveTo>
                  <a:lnTo>
                    <a:pt x="193381" y="294909"/>
                  </a:lnTo>
                  <a:lnTo>
                    <a:pt x="193381" y="251404"/>
                  </a:lnTo>
                  <a:lnTo>
                    <a:pt x="232058" y="251404"/>
                  </a:lnTo>
                  <a:lnTo>
                    <a:pt x="232058" y="294909"/>
                  </a:lnTo>
                  <a:close/>
                </a:path>
                <a:path w="328929" h="328929">
                  <a:moveTo>
                    <a:pt x="328757" y="294909"/>
                  </a:moveTo>
                  <a:lnTo>
                    <a:pt x="290080" y="294909"/>
                  </a:lnTo>
                  <a:lnTo>
                    <a:pt x="290080" y="251404"/>
                  </a:lnTo>
                  <a:lnTo>
                    <a:pt x="328757" y="251404"/>
                  </a:lnTo>
                  <a:lnTo>
                    <a:pt x="328757" y="2949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647054" y="3832814"/>
            <a:ext cx="1998980" cy="436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10"/>
              </a:lnSpc>
              <a:spcBef>
                <a:spcPts val="110"/>
              </a:spcBef>
            </a:pPr>
            <a:r>
              <a:rPr dirty="0" sz="1400" spc="-10" b="1">
                <a:solidFill>
                  <a:srgbClr val="F16629"/>
                </a:solidFill>
                <a:latin typeface="Times New Roman"/>
                <a:cs typeface="Times New Roman"/>
              </a:rPr>
              <a:t>Industry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</a:pPr>
            <a:r>
              <a:rPr dirty="0" sz="1400">
                <a:latin typeface="Times New Roman"/>
                <a:cs typeface="Times New Roman"/>
              </a:rPr>
              <a:t>Technology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Innovation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98914" y="3869941"/>
            <a:ext cx="684530" cy="684530"/>
            <a:chOff x="6898914" y="3869941"/>
            <a:chExt cx="684530" cy="684530"/>
          </a:xfrm>
        </p:grpSpPr>
        <p:sp>
          <p:nvSpPr>
            <p:cNvPr id="15" name="object 15"/>
            <p:cNvSpPr/>
            <p:nvPr/>
          </p:nvSpPr>
          <p:spPr>
            <a:xfrm>
              <a:off x="6898907" y="3869943"/>
              <a:ext cx="684530" cy="684530"/>
            </a:xfrm>
            <a:custGeom>
              <a:avLst/>
              <a:gdLst/>
              <a:ahLst/>
              <a:cxnLst/>
              <a:rect l="l" t="t" r="r" b="b"/>
              <a:pathLst>
                <a:path w="684529" h="684529">
                  <a:moveTo>
                    <a:pt x="683958" y="337908"/>
                  </a:moveTo>
                  <a:lnTo>
                    <a:pt x="683895" y="337019"/>
                  </a:lnTo>
                  <a:lnTo>
                    <a:pt x="683856" y="333590"/>
                  </a:lnTo>
                  <a:lnTo>
                    <a:pt x="683552" y="325208"/>
                  </a:lnTo>
                  <a:lnTo>
                    <a:pt x="683031" y="316826"/>
                  </a:lnTo>
                  <a:lnTo>
                    <a:pt x="682320" y="308470"/>
                  </a:lnTo>
                  <a:lnTo>
                    <a:pt x="681443" y="300634"/>
                  </a:lnTo>
                  <a:lnTo>
                    <a:pt x="680872" y="292061"/>
                  </a:lnTo>
                  <a:lnTo>
                    <a:pt x="671893" y="248081"/>
                  </a:lnTo>
                  <a:lnTo>
                    <a:pt x="657402" y="206387"/>
                  </a:lnTo>
                  <a:lnTo>
                    <a:pt x="637832" y="167360"/>
                  </a:lnTo>
                  <a:lnTo>
                    <a:pt x="613549" y="131432"/>
                  </a:lnTo>
                  <a:lnTo>
                    <a:pt x="584987" y="98971"/>
                  </a:lnTo>
                  <a:lnTo>
                    <a:pt x="552538" y="70408"/>
                  </a:lnTo>
                  <a:lnTo>
                    <a:pt x="516597" y="46139"/>
                  </a:lnTo>
                  <a:lnTo>
                    <a:pt x="477583" y="26555"/>
                  </a:lnTo>
                  <a:lnTo>
                    <a:pt x="435889" y="12077"/>
                  </a:lnTo>
                  <a:lnTo>
                    <a:pt x="391909" y="3086"/>
                  </a:lnTo>
                  <a:lnTo>
                    <a:pt x="383044" y="2501"/>
                  </a:lnTo>
                  <a:lnTo>
                    <a:pt x="375500" y="1651"/>
                  </a:lnTo>
                  <a:lnTo>
                    <a:pt x="367131" y="927"/>
                  </a:lnTo>
                  <a:lnTo>
                    <a:pt x="358762" y="419"/>
                  </a:lnTo>
                  <a:lnTo>
                    <a:pt x="350380" y="101"/>
                  </a:lnTo>
                  <a:lnTo>
                    <a:pt x="346938" y="63"/>
                  </a:lnTo>
                  <a:lnTo>
                    <a:pt x="346049" y="0"/>
                  </a:lnTo>
                  <a:lnTo>
                    <a:pt x="345427" y="50"/>
                  </a:lnTo>
                  <a:lnTo>
                    <a:pt x="341985" y="0"/>
                  </a:lnTo>
                  <a:lnTo>
                    <a:pt x="333590" y="101"/>
                  </a:lnTo>
                  <a:lnTo>
                    <a:pt x="291807" y="3708"/>
                  </a:lnTo>
                  <a:lnTo>
                    <a:pt x="250774" y="12395"/>
                  </a:lnTo>
                  <a:lnTo>
                    <a:pt x="211112" y="26035"/>
                  </a:lnTo>
                  <a:lnTo>
                    <a:pt x="173418" y="44437"/>
                  </a:lnTo>
                  <a:lnTo>
                    <a:pt x="138264" y="67297"/>
                  </a:lnTo>
                  <a:lnTo>
                    <a:pt x="106172" y="94310"/>
                  </a:lnTo>
                  <a:lnTo>
                    <a:pt x="77622" y="125031"/>
                  </a:lnTo>
                  <a:lnTo>
                    <a:pt x="53060" y="159029"/>
                  </a:lnTo>
                  <a:lnTo>
                    <a:pt x="32829" y="195770"/>
                  </a:lnTo>
                  <a:lnTo>
                    <a:pt x="17259" y="234708"/>
                  </a:lnTo>
                  <a:lnTo>
                    <a:pt x="6565" y="275272"/>
                  </a:lnTo>
                  <a:lnTo>
                    <a:pt x="927" y="316826"/>
                  </a:lnTo>
                  <a:lnTo>
                    <a:pt x="0" y="341985"/>
                  </a:lnTo>
                  <a:lnTo>
                    <a:pt x="101" y="350380"/>
                  </a:lnTo>
                  <a:lnTo>
                    <a:pt x="3708" y="392163"/>
                  </a:lnTo>
                  <a:lnTo>
                    <a:pt x="12382" y="433197"/>
                  </a:lnTo>
                  <a:lnTo>
                    <a:pt x="26035" y="472859"/>
                  </a:lnTo>
                  <a:lnTo>
                    <a:pt x="44424" y="510552"/>
                  </a:lnTo>
                  <a:lnTo>
                    <a:pt x="67297" y="545706"/>
                  </a:lnTo>
                  <a:lnTo>
                    <a:pt x="94297" y="577786"/>
                  </a:lnTo>
                  <a:lnTo>
                    <a:pt x="125031" y="606336"/>
                  </a:lnTo>
                  <a:lnTo>
                    <a:pt x="159029" y="630910"/>
                  </a:lnTo>
                  <a:lnTo>
                    <a:pt x="195770" y="651129"/>
                  </a:lnTo>
                  <a:lnTo>
                    <a:pt x="234708" y="666699"/>
                  </a:lnTo>
                  <a:lnTo>
                    <a:pt x="275259" y="677392"/>
                  </a:lnTo>
                  <a:lnTo>
                    <a:pt x="316826" y="683044"/>
                  </a:lnTo>
                  <a:lnTo>
                    <a:pt x="341985" y="683971"/>
                  </a:lnTo>
                  <a:lnTo>
                    <a:pt x="350380" y="683856"/>
                  </a:lnTo>
                  <a:lnTo>
                    <a:pt x="392163" y="680262"/>
                  </a:lnTo>
                  <a:lnTo>
                    <a:pt x="433197" y="671576"/>
                  </a:lnTo>
                  <a:lnTo>
                    <a:pt x="472846" y="657936"/>
                  </a:lnTo>
                  <a:lnTo>
                    <a:pt x="510552" y="639533"/>
                  </a:lnTo>
                  <a:lnTo>
                    <a:pt x="545706" y="616661"/>
                  </a:lnTo>
                  <a:lnTo>
                    <a:pt x="577786" y="589661"/>
                  </a:lnTo>
                  <a:lnTo>
                    <a:pt x="606336" y="558939"/>
                  </a:lnTo>
                  <a:lnTo>
                    <a:pt x="630910" y="524941"/>
                  </a:lnTo>
                  <a:lnTo>
                    <a:pt x="651129" y="488200"/>
                  </a:lnTo>
                  <a:lnTo>
                    <a:pt x="666699" y="449262"/>
                  </a:lnTo>
                  <a:lnTo>
                    <a:pt x="677392" y="408698"/>
                  </a:lnTo>
                  <a:lnTo>
                    <a:pt x="683031" y="367144"/>
                  </a:lnTo>
                  <a:lnTo>
                    <a:pt x="683958" y="341985"/>
                  </a:lnTo>
                  <a:lnTo>
                    <a:pt x="683907" y="338531"/>
                  </a:lnTo>
                  <a:lnTo>
                    <a:pt x="683958" y="337908"/>
                  </a:lnTo>
                  <a:close/>
                </a:path>
              </a:pathLst>
            </a:custGeom>
            <a:solidFill>
              <a:srgbClr val="F166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061257" y="4024142"/>
              <a:ext cx="306705" cy="367665"/>
            </a:xfrm>
            <a:custGeom>
              <a:avLst/>
              <a:gdLst/>
              <a:ahLst/>
              <a:cxnLst/>
              <a:rect l="l" t="t" r="r" b="b"/>
              <a:pathLst>
                <a:path w="306704" h="367664">
                  <a:moveTo>
                    <a:pt x="183708" y="367417"/>
                  </a:moveTo>
                  <a:lnTo>
                    <a:pt x="134848" y="360860"/>
                  </a:lnTo>
                  <a:lnTo>
                    <a:pt x="90957" y="342351"/>
                  </a:lnTo>
                  <a:lnTo>
                    <a:pt x="53781" y="313636"/>
                  </a:lnTo>
                  <a:lnTo>
                    <a:pt x="25066" y="276460"/>
                  </a:lnTo>
                  <a:lnTo>
                    <a:pt x="6557" y="232569"/>
                  </a:lnTo>
                  <a:lnTo>
                    <a:pt x="0" y="183708"/>
                  </a:lnTo>
                  <a:lnTo>
                    <a:pt x="6177" y="136526"/>
                  </a:lnTo>
                  <a:lnTo>
                    <a:pt x="23635" y="93749"/>
                  </a:lnTo>
                  <a:lnTo>
                    <a:pt x="50761" y="57042"/>
                  </a:lnTo>
                  <a:lnTo>
                    <a:pt x="85945" y="28072"/>
                  </a:lnTo>
                  <a:lnTo>
                    <a:pt x="127573" y="8502"/>
                  </a:lnTo>
                  <a:lnTo>
                    <a:pt x="174035" y="0"/>
                  </a:lnTo>
                  <a:lnTo>
                    <a:pt x="174035" y="187576"/>
                  </a:lnTo>
                  <a:lnTo>
                    <a:pt x="306504" y="320045"/>
                  </a:lnTo>
                  <a:lnTo>
                    <a:pt x="279500" y="340500"/>
                  </a:lnTo>
                  <a:lnTo>
                    <a:pt x="249640" y="355334"/>
                  </a:lnTo>
                  <a:lnTo>
                    <a:pt x="217514" y="364366"/>
                  </a:lnTo>
                  <a:lnTo>
                    <a:pt x="183708" y="3674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54639" y="4024142"/>
              <a:ext cx="173555" cy="17403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68172" y="4217524"/>
              <a:ext cx="160022" cy="11312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667884" y="3832814"/>
            <a:ext cx="746760" cy="436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1610"/>
              </a:lnSpc>
              <a:spcBef>
                <a:spcPts val="110"/>
              </a:spcBef>
            </a:pPr>
            <a:r>
              <a:rPr dirty="0" sz="1400" spc="-10" b="1">
                <a:solidFill>
                  <a:srgbClr val="F16629"/>
                </a:solidFill>
                <a:latin typeface="Times New Roman"/>
                <a:cs typeface="Times New Roman"/>
              </a:rPr>
              <a:t>Domain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</a:pPr>
            <a:r>
              <a:rPr dirty="0" sz="1400">
                <a:latin typeface="Times New Roman"/>
                <a:cs typeface="Times New Roman"/>
              </a:rPr>
              <a:t>AI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ML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Problem</a:t>
            </a:r>
            <a:r>
              <a:rPr dirty="0" spc="30"/>
              <a:t> </a:t>
            </a:r>
            <a:r>
              <a:rPr dirty="0" spc="-1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57253" y="1378367"/>
            <a:ext cx="2214880" cy="4234180"/>
            <a:chOff x="857253" y="1378367"/>
            <a:chExt cx="2214880" cy="4234180"/>
          </a:xfrm>
        </p:grpSpPr>
        <p:sp>
          <p:nvSpPr>
            <p:cNvPr id="5" name="object 5"/>
            <p:cNvSpPr/>
            <p:nvPr/>
          </p:nvSpPr>
          <p:spPr>
            <a:xfrm>
              <a:off x="857253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80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57489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50"/>
                  </a:lnTo>
                  <a:lnTo>
                    <a:pt x="783247" y="251333"/>
                  </a:lnTo>
                  <a:lnTo>
                    <a:pt x="766165" y="215214"/>
                  </a:lnTo>
                  <a:lnTo>
                    <a:pt x="745629" y="180936"/>
                  </a:lnTo>
                  <a:lnTo>
                    <a:pt x="721829" y="148856"/>
                  </a:lnTo>
                  <a:lnTo>
                    <a:pt x="695007" y="119253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33" y="48082"/>
                  </a:lnTo>
                  <a:lnTo>
                    <a:pt x="562927" y="31000"/>
                  </a:lnTo>
                  <a:lnTo>
                    <a:pt x="525310" y="17538"/>
                  </a:lnTo>
                  <a:lnTo>
                    <a:pt x="486549" y="7823"/>
                  </a:lnTo>
                  <a:lnTo>
                    <a:pt x="447027" y="1968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37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56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53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68"/>
                  </a:lnTo>
                  <a:lnTo>
                    <a:pt x="298538" y="799503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47"/>
                  </a:lnTo>
                  <a:lnTo>
                    <a:pt x="417118" y="814120"/>
                  </a:lnTo>
                  <a:lnTo>
                    <a:pt x="456958" y="811187"/>
                  </a:lnTo>
                  <a:lnTo>
                    <a:pt x="496328" y="804354"/>
                  </a:lnTo>
                  <a:lnTo>
                    <a:pt x="534835" y="793699"/>
                  </a:lnTo>
                  <a:lnTo>
                    <a:pt x="572109" y="779322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403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708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1665" y="1654264"/>
              <a:ext cx="290081" cy="25285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57010" y="1635895"/>
              <a:ext cx="291465" cy="291465"/>
            </a:xfrm>
            <a:custGeom>
              <a:avLst/>
              <a:gdLst/>
              <a:ahLst/>
              <a:cxnLst/>
              <a:rect l="l" t="t" r="r" b="b"/>
              <a:pathLst>
                <a:path w="291464" h="291464">
                  <a:moveTo>
                    <a:pt x="110231" y="220935"/>
                  </a:moveTo>
                  <a:lnTo>
                    <a:pt x="67104" y="211925"/>
                  </a:lnTo>
                  <a:lnTo>
                    <a:pt x="32090" y="188001"/>
                  </a:lnTo>
                  <a:lnTo>
                    <a:pt x="8589" y="152747"/>
                  </a:lnTo>
                  <a:lnTo>
                    <a:pt x="0" y="109743"/>
                  </a:lnTo>
                  <a:lnTo>
                    <a:pt x="8589" y="66830"/>
                  </a:lnTo>
                  <a:lnTo>
                    <a:pt x="32090" y="31848"/>
                  </a:lnTo>
                  <a:lnTo>
                    <a:pt x="67104" y="8378"/>
                  </a:lnTo>
                  <a:lnTo>
                    <a:pt x="110231" y="0"/>
                  </a:lnTo>
                  <a:lnTo>
                    <a:pt x="153426" y="9013"/>
                  </a:lnTo>
                  <a:lnTo>
                    <a:pt x="173559" y="22725"/>
                  </a:lnTo>
                  <a:lnTo>
                    <a:pt x="110712" y="22725"/>
                  </a:lnTo>
                  <a:lnTo>
                    <a:pt x="94994" y="24076"/>
                  </a:lnTo>
                  <a:lnTo>
                    <a:pt x="53186" y="43993"/>
                  </a:lnTo>
                  <a:lnTo>
                    <a:pt x="22786" y="103884"/>
                  </a:lnTo>
                  <a:lnTo>
                    <a:pt x="26601" y="137340"/>
                  </a:lnTo>
                  <a:lnTo>
                    <a:pt x="43513" y="167757"/>
                  </a:lnTo>
                  <a:lnTo>
                    <a:pt x="204338" y="167757"/>
                  </a:lnTo>
                  <a:lnTo>
                    <a:pt x="197738" y="177911"/>
                  </a:lnTo>
                  <a:lnTo>
                    <a:pt x="214169" y="193870"/>
                  </a:lnTo>
                  <a:lnTo>
                    <a:pt x="223915" y="193870"/>
                  </a:lnTo>
                  <a:lnTo>
                    <a:pt x="226683" y="194349"/>
                  </a:lnTo>
                  <a:lnTo>
                    <a:pt x="232328" y="196857"/>
                  </a:lnTo>
                  <a:lnTo>
                    <a:pt x="234148" y="198218"/>
                  </a:lnTo>
                  <a:lnTo>
                    <a:pt x="177911" y="198218"/>
                  </a:lnTo>
                  <a:lnTo>
                    <a:pt x="162375" y="208088"/>
                  </a:lnTo>
                  <a:lnTo>
                    <a:pt x="145705" y="215195"/>
                  </a:lnTo>
                  <a:lnTo>
                    <a:pt x="128218" y="219492"/>
                  </a:lnTo>
                  <a:lnTo>
                    <a:pt x="110231" y="220935"/>
                  </a:lnTo>
                  <a:close/>
                </a:path>
                <a:path w="291464" h="291464">
                  <a:moveTo>
                    <a:pt x="204650" y="167277"/>
                  </a:moveTo>
                  <a:lnTo>
                    <a:pt x="177911" y="167277"/>
                  </a:lnTo>
                  <a:lnTo>
                    <a:pt x="186873" y="154835"/>
                  </a:lnTo>
                  <a:lnTo>
                    <a:pt x="193387" y="140988"/>
                  </a:lnTo>
                  <a:lnTo>
                    <a:pt x="197362" y="126144"/>
                  </a:lnTo>
                  <a:lnTo>
                    <a:pt x="198665" y="111192"/>
                  </a:lnTo>
                  <a:lnTo>
                    <a:pt x="198707" y="110712"/>
                  </a:lnTo>
                  <a:lnTo>
                    <a:pt x="191824" y="76364"/>
                  </a:lnTo>
                  <a:lnTo>
                    <a:pt x="173020" y="48407"/>
                  </a:lnTo>
                  <a:lnTo>
                    <a:pt x="145061" y="29606"/>
                  </a:lnTo>
                  <a:lnTo>
                    <a:pt x="110712" y="22725"/>
                  </a:lnTo>
                  <a:lnTo>
                    <a:pt x="173559" y="22725"/>
                  </a:lnTo>
                  <a:lnTo>
                    <a:pt x="188552" y="32936"/>
                  </a:lnTo>
                  <a:lnTo>
                    <a:pt x="212073" y="68189"/>
                  </a:lnTo>
                  <a:lnTo>
                    <a:pt x="220361" y="110712"/>
                  </a:lnTo>
                  <a:lnTo>
                    <a:pt x="220455" y="111192"/>
                  </a:lnTo>
                  <a:lnTo>
                    <a:pt x="219012" y="129096"/>
                  </a:lnTo>
                  <a:lnTo>
                    <a:pt x="214715" y="146365"/>
                  </a:lnTo>
                  <a:lnTo>
                    <a:pt x="207608" y="162727"/>
                  </a:lnTo>
                  <a:lnTo>
                    <a:pt x="204650" y="167277"/>
                  </a:lnTo>
                  <a:close/>
                </a:path>
                <a:path w="291464" h="291464">
                  <a:moveTo>
                    <a:pt x="204338" y="167757"/>
                  </a:moveTo>
                  <a:lnTo>
                    <a:pt x="43513" y="167757"/>
                  </a:lnTo>
                  <a:lnTo>
                    <a:pt x="49766" y="164395"/>
                  </a:lnTo>
                  <a:lnTo>
                    <a:pt x="89503" y="152530"/>
                  </a:lnTo>
                  <a:lnTo>
                    <a:pt x="109743" y="150837"/>
                  </a:lnTo>
                  <a:lnTo>
                    <a:pt x="119890" y="151276"/>
                  </a:lnTo>
                  <a:lnTo>
                    <a:pt x="164074" y="161473"/>
                  </a:lnTo>
                  <a:lnTo>
                    <a:pt x="177911" y="167277"/>
                  </a:lnTo>
                  <a:lnTo>
                    <a:pt x="204650" y="167277"/>
                  </a:lnTo>
                  <a:lnTo>
                    <a:pt x="204338" y="167757"/>
                  </a:lnTo>
                  <a:close/>
                </a:path>
                <a:path w="291464" h="291464">
                  <a:moveTo>
                    <a:pt x="223915" y="193870"/>
                  </a:moveTo>
                  <a:lnTo>
                    <a:pt x="214169" y="193870"/>
                  </a:lnTo>
                  <a:lnTo>
                    <a:pt x="220584" y="193293"/>
                  </a:lnTo>
                  <a:lnTo>
                    <a:pt x="223915" y="193870"/>
                  </a:lnTo>
                  <a:close/>
                </a:path>
                <a:path w="291464" h="291464">
                  <a:moveTo>
                    <a:pt x="264994" y="291223"/>
                  </a:moveTo>
                  <a:lnTo>
                    <a:pt x="201117" y="237375"/>
                  </a:lnTo>
                  <a:lnTo>
                    <a:pt x="192901" y="222393"/>
                  </a:lnTo>
                  <a:lnTo>
                    <a:pt x="194350" y="214169"/>
                  </a:lnTo>
                  <a:lnTo>
                    <a:pt x="177911" y="198218"/>
                  </a:lnTo>
                  <a:lnTo>
                    <a:pt x="234148" y="198218"/>
                  </a:lnTo>
                  <a:lnTo>
                    <a:pt x="237383" y="200636"/>
                  </a:lnTo>
                  <a:lnTo>
                    <a:pt x="284275" y="248009"/>
                  </a:lnTo>
                  <a:lnTo>
                    <a:pt x="289629" y="256599"/>
                  </a:lnTo>
                  <a:lnTo>
                    <a:pt x="291223" y="266322"/>
                  </a:lnTo>
                  <a:lnTo>
                    <a:pt x="289100" y="275955"/>
                  </a:lnTo>
                  <a:lnTo>
                    <a:pt x="283306" y="284275"/>
                  </a:lnTo>
                  <a:lnTo>
                    <a:pt x="274716" y="289629"/>
                  </a:lnTo>
                  <a:lnTo>
                    <a:pt x="264994" y="291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7931" y="1678439"/>
              <a:ext cx="97651" cy="976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5636" y="1654358"/>
              <a:ext cx="111681" cy="18507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954603" y="2142452"/>
            <a:ext cx="2014220" cy="2242185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Affected</a:t>
            </a:r>
            <a:r>
              <a:rPr dirty="0" sz="15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Stakeholders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>
              <a:lnSpc>
                <a:spcPct val="92000"/>
              </a:lnSpc>
              <a:spcBef>
                <a:spcPts val="775"/>
              </a:spcBef>
            </a:pPr>
            <a:r>
              <a:rPr dirty="0" sz="1150">
                <a:latin typeface="Times New Roman"/>
                <a:cs typeface="Times New Roman"/>
              </a:rPr>
              <a:t>People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who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online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portals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access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information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as </a:t>
            </a:r>
            <a:r>
              <a:rPr dirty="0" sz="1150">
                <a:latin typeface="Times New Roman"/>
                <a:cs typeface="Times New Roman"/>
              </a:rPr>
              <a:t>students,</a:t>
            </a:r>
            <a:r>
              <a:rPr dirty="0" sz="1150" spc="3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citizens,</a:t>
            </a:r>
            <a:r>
              <a:rPr dirty="0" sz="1150" spc="37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customers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will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impacted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if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fails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comprehend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0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queries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due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to </a:t>
            </a:r>
            <a:r>
              <a:rPr dirty="0" sz="1150" spc="10">
                <a:latin typeface="Times New Roman"/>
                <a:cs typeface="Times New Roman"/>
              </a:rPr>
              <a:t>incompleteness.</a:t>
            </a:r>
            <a:r>
              <a:rPr dirty="0" sz="1150" spc="4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Educational </a:t>
            </a:r>
            <a:r>
              <a:rPr dirty="0" sz="1150" spc="10">
                <a:latin typeface="Times New Roman"/>
                <a:cs typeface="Times New Roman"/>
              </a:rPr>
              <a:t>institutions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and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government </a:t>
            </a:r>
            <a:r>
              <a:rPr dirty="0" sz="1150">
                <a:latin typeface="Times New Roman"/>
                <a:cs typeface="Times New Roman"/>
              </a:rPr>
              <a:t>agencies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will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also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impacted </a:t>
            </a:r>
            <a:r>
              <a:rPr dirty="0" sz="1150">
                <a:latin typeface="Times New Roman"/>
                <a:cs typeface="Times New Roman"/>
              </a:rPr>
              <a:t>as</a:t>
            </a:r>
            <a:r>
              <a:rPr dirty="0" sz="1150" spc="1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they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will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have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resort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to </a:t>
            </a:r>
            <a:r>
              <a:rPr dirty="0" sz="1150">
                <a:latin typeface="Times New Roman"/>
                <a:cs typeface="Times New Roman"/>
              </a:rPr>
              <a:t>handling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more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manual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queries.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20840" y="1378367"/>
            <a:ext cx="2214880" cy="4234180"/>
            <a:chOff x="3120840" y="1378367"/>
            <a:chExt cx="2214880" cy="4234180"/>
          </a:xfrm>
        </p:grpSpPr>
        <p:sp>
          <p:nvSpPr>
            <p:cNvPr id="13" name="object 13"/>
            <p:cNvSpPr/>
            <p:nvPr/>
          </p:nvSpPr>
          <p:spPr>
            <a:xfrm>
              <a:off x="3120840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79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821087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50"/>
                  </a:lnTo>
                  <a:lnTo>
                    <a:pt x="783247" y="251333"/>
                  </a:lnTo>
                  <a:lnTo>
                    <a:pt x="766165" y="215214"/>
                  </a:lnTo>
                  <a:lnTo>
                    <a:pt x="745617" y="180936"/>
                  </a:lnTo>
                  <a:lnTo>
                    <a:pt x="721817" y="148856"/>
                  </a:lnTo>
                  <a:lnTo>
                    <a:pt x="694994" y="119253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82"/>
                  </a:lnTo>
                  <a:lnTo>
                    <a:pt x="562914" y="31000"/>
                  </a:lnTo>
                  <a:lnTo>
                    <a:pt x="525297" y="17538"/>
                  </a:lnTo>
                  <a:lnTo>
                    <a:pt x="486537" y="7823"/>
                  </a:lnTo>
                  <a:lnTo>
                    <a:pt x="447014" y="1968"/>
                  </a:lnTo>
                  <a:lnTo>
                    <a:pt x="407111" y="0"/>
                  </a:lnTo>
                  <a:lnTo>
                    <a:pt x="397116" y="127"/>
                  </a:lnTo>
                  <a:lnTo>
                    <a:pt x="357276" y="3060"/>
                  </a:lnTo>
                  <a:lnTo>
                    <a:pt x="317906" y="9893"/>
                  </a:lnTo>
                  <a:lnTo>
                    <a:pt x="279400" y="20548"/>
                  </a:lnTo>
                  <a:lnTo>
                    <a:pt x="242125" y="34937"/>
                  </a:lnTo>
                  <a:lnTo>
                    <a:pt x="206438" y="52895"/>
                  </a:lnTo>
                  <a:lnTo>
                    <a:pt x="172681" y="74269"/>
                  </a:lnTo>
                  <a:lnTo>
                    <a:pt x="141185" y="98856"/>
                  </a:lnTo>
                  <a:lnTo>
                    <a:pt x="112255" y="126403"/>
                  </a:lnTo>
                  <a:lnTo>
                    <a:pt x="86156" y="156654"/>
                  </a:lnTo>
                  <a:lnTo>
                    <a:pt x="63157" y="189318"/>
                  </a:lnTo>
                  <a:lnTo>
                    <a:pt x="43459" y="224078"/>
                  </a:lnTo>
                  <a:lnTo>
                    <a:pt x="27266" y="260604"/>
                  </a:lnTo>
                  <a:lnTo>
                    <a:pt x="14744" y="298538"/>
                  </a:lnTo>
                  <a:lnTo>
                    <a:pt x="5981" y="337527"/>
                  </a:lnTo>
                  <a:lnTo>
                    <a:pt x="1092" y="377177"/>
                  </a:lnTo>
                  <a:lnTo>
                    <a:pt x="0" y="407123"/>
                  </a:lnTo>
                  <a:lnTo>
                    <a:pt x="114" y="417118"/>
                  </a:lnTo>
                  <a:lnTo>
                    <a:pt x="3060" y="456958"/>
                  </a:lnTo>
                  <a:lnTo>
                    <a:pt x="9880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82" y="607796"/>
                  </a:lnTo>
                  <a:lnTo>
                    <a:pt x="74256" y="641553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06" y="751078"/>
                  </a:lnTo>
                  <a:lnTo>
                    <a:pt x="224066" y="770775"/>
                  </a:lnTo>
                  <a:lnTo>
                    <a:pt x="260591" y="786968"/>
                  </a:lnTo>
                  <a:lnTo>
                    <a:pt x="298526" y="799503"/>
                  </a:lnTo>
                  <a:lnTo>
                    <a:pt x="337515" y="808253"/>
                  </a:lnTo>
                  <a:lnTo>
                    <a:pt x="377164" y="813142"/>
                  </a:lnTo>
                  <a:lnTo>
                    <a:pt x="407111" y="814247"/>
                  </a:lnTo>
                  <a:lnTo>
                    <a:pt x="417106" y="814120"/>
                  </a:lnTo>
                  <a:lnTo>
                    <a:pt x="456958" y="811187"/>
                  </a:lnTo>
                  <a:lnTo>
                    <a:pt x="496316" y="804354"/>
                  </a:lnTo>
                  <a:lnTo>
                    <a:pt x="534822" y="793699"/>
                  </a:lnTo>
                  <a:lnTo>
                    <a:pt x="572096" y="779322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403"/>
                  </a:lnTo>
                  <a:lnTo>
                    <a:pt x="701967" y="687844"/>
                  </a:lnTo>
                  <a:lnTo>
                    <a:pt x="728065" y="657593"/>
                  </a:lnTo>
                  <a:lnTo>
                    <a:pt x="751078" y="624928"/>
                  </a:lnTo>
                  <a:lnTo>
                    <a:pt x="770763" y="590169"/>
                  </a:lnTo>
                  <a:lnTo>
                    <a:pt x="786955" y="553643"/>
                  </a:lnTo>
                  <a:lnTo>
                    <a:pt x="799490" y="515708"/>
                  </a:lnTo>
                  <a:lnTo>
                    <a:pt x="808240" y="476719"/>
                  </a:lnTo>
                  <a:lnTo>
                    <a:pt x="813130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044531" y="1630019"/>
              <a:ext cx="407670" cy="337820"/>
            </a:xfrm>
            <a:custGeom>
              <a:avLst/>
              <a:gdLst/>
              <a:ahLst/>
              <a:cxnLst/>
              <a:rect l="l" t="t" r="r" b="b"/>
              <a:pathLst>
                <a:path w="407670" h="337819">
                  <a:moveTo>
                    <a:pt x="83159" y="24180"/>
                  </a:moveTo>
                  <a:lnTo>
                    <a:pt x="81267" y="14770"/>
                  </a:lnTo>
                  <a:lnTo>
                    <a:pt x="76085" y="7086"/>
                  </a:lnTo>
                  <a:lnTo>
                    <a:pt x="68402" y="1905"/>
                  </a:lnTo>
                  <a:lnTo>
                    <a:pt x="58991" y="0"/>
                  </a:lnTo>
                  <a:lnTo>
                    <a:pt x="49580" y="1905"/>
                  </a:lnTo>
                  <a:lnTo>
                    <a:pt x="41897" y="7086"/>
                  </a:lnTo>
                  <a:lnTo>
                    <a:pt x="36715" y="14770"/>
                  </a:lnTo>
                  <a:lnTo>
                    <a:pt x="34823" y="24180"/>
                  </a:lnTo>
                  <a:lnTo>
                    <a:pt x="36715" y="33591"/>
                  </a:lnTo>
                  <a:lnTo>
                    <a:pt x="41897" y="41275"/>
                  </a:lnTo>
                  <a:lnTo>
                    <a:pt x="49580" y="46456"/>
                  </a:lnTo>
                  <a:lnTo>
                    <a:pt x="58991" y="48348"/>
                  </a:lnTo>
                  <a:lnTo>
                    <a:pt x="68402" y="46456"/>
                  </a:lnTo>
                  <a:lnTo>
                    <a:pt x="76085" y="41275"/>
                  </a:lnTo>
                  <a:lnTo>
                    <a:pt x="81267" y="33591"/>
                  </a:lnTo>
                  <a:lnTo>
                    <a:pt x="83159" y="24180"/>
                  </a:lnTo>
                  <a:close/>
                </a:path>
                <a:path w="407670" h="337819">
                  <a:moveTo>
                    <a:pt x="179666" y="24180"/>
                  </a:moveTo>
                  <a:lnTo>
                    <a:pt x="177761" y="14770"/>
                  </a:lnTo>
                  <a:lnTo>
                    <a:pt x="172580" y="7086"/>
                  </a:lnTo>
                  <a:lnTo>
                    <a:pt x="164896" y="1905"/>
                  </a:lnTo>
                  <a:lnTo>
                    <a:pt x="155486" y="0"/>
                  </a:lnTo>
                  <a:lnTo>
                    <a:pt x="146075" y="1905"/>
                  </a:lnTo>
                  <a:lnTo>
                    <a:pt x="138391" y="7086"/>
                  </a:lnTo>
                  <a:lnTo>
                    <a:pt x="133210" y="14770"/>
                  </a:lnTo>
                  <a:lnTo>
                    <a:pt x="131318" y="24180"/>
                  </a:lnTo>
                  <a:lnTo>
                    <a:pt x="133210" y="33591"/>
                  </a:lnTo>
                  <a:lnTo>
                    <a:pt x="138391" y="41275"/>
                  </a:lnTo>
                  <a:lnTo>
                    <a:pt x="146075" y="46456"/>
                  </a:lnTo>
                  <a:lnTo>
                    <a:pt x="155486" y="48348"/>
                  </a:lnTo>
                  <a:lnTo>
                    <a:pt x="164896" y="46456"/>
                  </a:lnTo>
                  <a:lnTo>
                    <a:pt x="172580" y="41275"/>
                  </a:lnTo>
                  <a:lnTo>
                    <a:pt x="177761" y="33591"/>
                  </a:lnTo>
                  <a:lnTo>
                    <a:pt x="179666" y="24180"/>
                  </a:lnTo>
                  <a:close/>
                </a:path>
                <a:path w="407670" h="337819">
                  <a:moveTo>
                    <a:pt x="276491" y="24180"/>
                  </a:moveTo>
                  <a:lnTo>
                    <a:pt x="274599" y="14770"/>
                  </a:lnTo>
                  <a:lnTo>
                    <a:pt x="269417" y="7086"/>
                  </a:lnTo>
                  <a:lnTo>
                    <a:pt x="261734" y="1905"/>
                  </a:lnTo>
                  <a:lnTo>
                    <a:pt x="252323" y="0"/>
                  </a:lnTo>
                  <a:lnTo>
                    <a:pt x="242912" y="1905"/>
                  </a:lnTo>
                  <a:lnTo>
                    <a:pt x="235229" y="7086"/>
                  </a:lnTo>
                  <a:lnTo>
                    <a:pt x="230047" y="14770"/>
                  </a:lnTo>
                  <a:lnTo>
                    <a:pt x="228155" y="24180"/>
                  </a:lnTo>
                  <a:lnTo>
                    <a:pt x="230047" y="33591"/>
                  </a:lnTo>
                  <a:lnTo>
                    <a:pt x="235229" y="41275"/>
                  </a:lnTo>
                  <a:lnTo>
                    <a:pt x="242912" y="46456"/>
                  </a:lnTo>
                  <a:lnTo>
                    <a:pt x="252323" y="48348"/>
                  </a:lnTo>
                  <a:lnTo>
                    <a:pt x="261734" y="46456"/>
                  </a:lnTo>
                  <a:lnTo>
                    <a:pt x="269417" y="41275"/>
                  </a:lnTo>
                  <a:lnTo>
                    <a:pt x="274599" y="33591"/>
                  </a:lnTo>
                  <a:lnTo>
                    <a:pt x="276491" y="24180"/>
                  </a:lnTo>
                  <a:close/>
                </a:path>
                <a:path w="407670" h="337819">
                  <a:moveTo>
                    <a:pt x="307771" y="132575"/>
                  </a:moveTo>
                  <a:lnTo>
                    <a:pt x="296748" y="83019"/>
                  </a:lnTo>
                  <a:lnTo>
                    <a:pt x="296684" y="82727"/>
                  </a:lnTo>
                  <a:lnTo>
                    <a:pt x="296570" y="82194"/>
                  </a:lnTo>
                  <a:lnTo>
                    <a:pt x="294335" y="72136"/>
                  </a:lnTo>
                  <a:lnTo>
                    <a:pt x="252222" y="53187"/>
                  </a:lnTo>
                  <a:lnTo>
                    <a:pt x="242379" y="54000"/>
                  </a:lnTo>
                  <a:lnTo>
                    <a:pt x="204025" y="100469"/>
                  </a:lnTo>
                  <a:lnTo>
                    <a:pt x="200126" y="83019"/>
                  </a:lnTo>
                  <a:lnTo>
                    <a:pt x="200063" y="82727"/>
                  </a:lnTo>
                  <a:lnTo>
                    <a:pt x="199936" y="82194"/>
                  </a:lnTo>
                  <a:lnTo>
                    <a:pt x="197688" y="72136"/>
                  </a:lnTo>
                  <a:lnTo>
                    <a:pt x="159893" y="53530"/>
                  </a:lnTo>
                  <a:lnTo>
                    <a:pt x="144729" y="54356"/>
                  </a:lnTo>
                  <a:lnTo>
                    <a:pt x="130530" y="58699"/>
                  </a:lnTo>
                  <a:lnTo>
                    <a:pt x="130378" y="58699"/>
                  </a:lnTo>
                  <a:lnTo>
                    <a:pt x="117005" y="66725"/>
                  </a:lnTo>
                  <a:lnTo>
                    <a:pt x="115366" y="68072"/>
                  </a:lnTo>
                  <a:lnTo>
                    <a:pt x="114185" y="69989"/>
                  </a:lnTo>
                  <a:lnTo>
                    <a:pt x="113715" y="72136"/>
                  </a:lnTo>
                  <a:lnTo>
                    <a:pt x="107340" y="99555"/>
                  </a:lnTo>
                  <a:lnTo>
                    <a:pt x="103479" y="82727"/>
                  </a:lnTo>
                  <a:lnTo>
                    <a:pt x="103365" y="82194"/>
                  </a:lnTo>
                  <a:lnTo>
                    <a:pt x="100558" y="69989"/>
                  </a:lnTo>
                  <a:lnTo>
                    <a:pt x="58839" y="53187"/>
                  </a:lnTo>
                  <a:lnTo>
                    <a:pt x="48996" y="54000"/>
                  </a:lnTo>
                  <a:lnTo>
                    <a:pt x="1358" y="142328"/>
                  </a:lnTo>
                  <a:lnTo>
                    <a:pt x="0" y="147688"/>
                  </a:lnTo>
                  <a:lnTo>
                    <a:pt x="419" y="148475"/>
                  </a:lnTo>
                  <a:lnTo>
                    <a:pt x="3251" y="153238"/>
                  </a:lnTo>
                  <a:lnTo>
                    <a:pt x="8661" y="154622"/>
                  </a:lnTo>
                  <a:lnTo>
                    <a:pt x="15519" y="154622"/>
                  </a:lnTo>
                  <a:lnTo>
                    <a:pt x="17272" y="153238"/>
                  </a:lnTo>
                  <a:lnTo>
                    <a:pt x="19342" y="151536"/>
                  </a:lnTo>
                  <a:lnTo>
                    <a:pt x="20320" y="147116"/>
                  </a:lnTo>
                  <a:lnTo>
                    <a:pt x="34823" y="82194"/>
                  </a:lnTo>
                  <a:lnTo>
                    <a:pt x="34823" y="116522"/>
                  </a:lnTo>
                  <a:lnTo>
                    <a:pt x="20320" y="188544"/>
                  </a:lnTo>
                  <a:lnTo>
                    <a:pt x="34823" y="188544"/>
                  </a:lnTo>
                  <a:lnTo>
                    <a:pt x="34823" y="260540"/>
                  </a:lnTo>
                  <a:lnTo>
                    <a:pt x="54152" y="241198"/>
                  </a:lnTo>
                  <a:lnTo>
                    <a:pt x="54152" y="188544"/>
                  </a:lnTo>
                  <a:lnTo>
                    <a:pt x="63817" y="188544"/>
                  </a:lnTo>
                  <a:lnTo>
                    <a:pt x="63817" y="231533"/>
                  </a:lnTo>
                  <a:lnTo>
                    <a:pt x="83159" y="212102"/>
                  </a:lnTo>
                  <a:lnTo>
                    <a:pt x="83159" y="188544"/>
                  </a:lnTo>
                  <a:lnTo>
                    <a:pt x="97675" y="188544"/>
                  </a:lnTo>
                  <a:lnTo>
                    <a:pt x="83159" y="116522"/>
                  </a:lnTo>
                  <a:lnTo>
                    <a:pt x="83159" y="82727"/>
                  </a:lnTo>
                  <a:lnTo>
                    <a:pt x="83223" y="83019"/>
                  </a:lnTo>
                  <a:lnTo>
                    <a:pt x="97675" y="145872"/>
                  </a:lnTo>
                  <a:lnTo>
                    <a:pt x="97777" y="147116"/>
                  </a:lnTo>
                  <a:lnTo>
                    <a:pt x="97891" y="148475"/>
                  </a:lnTo>
                  <a:lnTo>
                    <a:pt x="97942" y="149098"/>
                  </a:lnTo>
                  <a:lnTo>
                    <a:pt x="98094" y="150876"/>
                  </a:lnTo>
                  <a:lnTo>
                    <a:pt x="102184" y="154622"/>
                  </a:lnTo>
                  <a:lnTo>
                    <a:pt x="111937" y="154622"/>
                  </a:lnTo>
                  <a:lnTo>
                    <a:pt x="115747" y="151536"/>
                  </a:lnTo>
                  <a:lnTo>
                    <a:pt x="116713" y="147116"/>
                  </a:lnTo>
                  <a:lnTo>
                    <a:pt x="117005" y="145046"/>
                  </a:lnTo>
                  <a:lnTo>
                    <a:pt x="127355" y="99555"/>
                  </a:lnTo>
                  <a:lnTo>
                    <a:pt x="131114" y="83019"/>
                  </a:lnTo>
                  <a:lnTo>
                    <a:pt x="131114" y="164084"/>
                  </a:lnTo>
                  <a:lnTo>
                    <a:pt x="140550" y="154622"/>
                  </a:lnTo>
                  <a:lnTo>
                    <a:pt x="141973" y="153238"/>
                  </a:lnTo>
                  <a:lnTo>
                    <a:pt x="148247" y="149098"/>
                  </a:lnTo>
                  <a:lnTo>
                    <a:pt x="155473" y="147688"/>
                  </a:lnTo>
                  <a:lnTo>
                    <a:pt x="162750" y="149098"/>
                  </a:lnTo>
                  <a:lnTo>
                    <a:pt x="168998" y="153238"/>
                  </a:lnTo>
                  <a:lnTo>
                    <a:pt x="170472" y="154622"/>
                  </a:lnTo>
                  <a:lnTo>
                    <a:pt x="179857" y="163652"/>
                  </a:lnTo>
                  <a:lnTo>
                    <a:pt x="179857" y="147688"/>
                  </a:lnTo>
                  <a:lnTo>
                    <a:pt x="179857" y="83083"/>
                  </a:lnTo>
                  <a:lnTo>
                    <a:pt x="195338" y="151536"/>
                  </a:lnTo>
                  <a:lnTo>
                    <a:pt x="195199" y="151536"/>
                  </a:lnTo>
                  <a:lnTo>
                    <a:pt x="199161" y="154622"/>
                  </a:lnTo>
                  <a:lnTo>
                    <a:pt x="208661" y="154622"/>
                  </a:lnTo>
                  <a:lnTo>
                    <a:pt x="212483" y="151536"/>
                  </a:lnTo>
                  <a:lnTo>
                    <a:pt x="213448" y="147116"/>
                  </a:lnTo>
                  <a:lnTo>
                    <a:pt x="224015" y="100469"/>
                  </a:lnTo>
                  <a:lnTo>
                    <a:pt x="227952" y="83019"/>
                  </a:lnTo>
                  <a:lnTo>
                    <a:pt x="227952" y="212102"/>
                  </a:lnTo>
                  <a:lnTo>
                    <a:pt x="247294" y="192760"/>
                  </a:lnTo>
                  <a:lnTo>
                    <a:pt x="247294" y="159550"/>
                  </a:lnTo>
                  <a:lnTo>
                    <a:pt x="256971" y="159550"/>
                  </a:lnTo>
                  <a:lnTo>
                    <a:pt x="256971" y="183286"/>
                  </a:lnTo>
                  <a:lnTo>
                    <a:pt x="276301" y="163944"/>
                  </a:lnTo>
                  <a:lnTo>
                    <a:pt x="276301" y="159550"/>
                  </a:lnTo>
                  <a:lnTo>
                    <a:pt x="276301" y="83019"/>
                  </a:lnTo>
                  <a:lnTo>
                    <a:pt x="291515" y="148475"/>
                  </a:lnTo>
                  <a:lnTo>
                    <a:pt x="291871" y="148475"/>
                  </a:lnTo>
                  <a:lnTo>
                    <a:pt x="307771" y="132575"/>
                  </a:lnTo>
                  <a:close/>
                </a:path>
                <a:path w="407670" h="337819">
                  <a:moveTo>
                    <a:pt x="407085" y="80987"/>
                  </a:moveTo>
                  <a:lnTo>
                    <a:pt x="329730" y="80987"/>
                  </a:lnTo>
                  <a:lnTo>
                    <a:pt x="358254" y="109512"/>
                  </a:lnTo>
                  <a:lnTo>
                    <a:pt x="228206" y="239560"/>
                  </a:lnTo>
                  <a:lnTo>
                    <a:pt x="155676" y="167030"/>
                  </a:lnTo>
                  <a:lnTo>
                    <a:pt x="5321" y="317398"/>
                  </a:lnTo>
                  <a:lnTo>
                    <a:pt x="25628" y="337705"/>
                  </a:lnTo>
                  <a:lnTo>
                    <a:pt x="155676" y="207645"/>
                  </a:lnTo>
                  <a:lnTo>
                    <a:pt x="228206" y="280162"/>
                  </a:lnTo>
                  <a:lnTo>
                    <a:pt x="329730" y="178638"/>
                  </a:lnTo>
                  <a:lnTo>
                    <a:pt x="378548" y="129806"/>
                  </a:lnTo>
                  <a:lnTo>
                    <a:pt x="407085" y="158343"/>
                  </a:lnTo>
                  <a:lnTo>
                    <a:pt x="407085" y="809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195799" y="2253189"/>
            <a:ext cx="2059305" cy="23431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455295" marR="447675" indent="-635">
              <a:lnSpc>
                <a:spcPts val="1730"/>
              </a:lnSpc>
              <a:spcBef>
                <a:spcPts val="254"/>
              </a:spcBef>
            </a:pPr>
            <a:r>
              <a:rPr dirty="0" sz="1500" b="1">
                <a:solidFill>
                  <a:srgbClr val="F16629"/>
                </a:solidFill>
                <a:latin typeface="Times New Roman"/>
                <a:cs typeface="Times New Roman"/>
              </a:rPr>
              <a:t>Impact</a:t>
            </a:r>
            <a:r>
              <a:rPr dirty="0" sz="1500" spc="38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-25" b="1">
                <a:solidFill>
                  <a:srgbClr val="F16629"/>
                </a:solidFill>
                <a:latin typeface="Times New Roman"/>
                <a:cs typeface="Times New Roman"/>
              </a:rPr>
              <a:t>on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Stakeholders</a:t>
            </a:r>
            <a:endParaRPr sz="1500">
              <a:latin typeface="Times New Roman"/>
              <a:cs typeface="Times New Roman"/>
            </a:endParaRPr>
          </a:p>
          <a:p>
            <a:pPr algn="ctr" marL="12065" marR="5080" indent="-635">
              <a:lnSpc>
                <a:spcPct val="920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It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becomes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difficult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for</a:t>
            </a:r>
            <a:r>
              <a:rPr dirty="0" sz="1150" spc="50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students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users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retrieve </a:t>
            </a:r>
            <a:r>
              <a:rPr dirty="0" sz="1150">
                <a:latin typeface="Times New Roman"/>
                <a:cs typeface="Times New Roman"/>
              </a:rPr>
              <a:t>information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from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system,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they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get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frustrated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end </a:t>
            </a:r>
            <a:r>
              <a:rPr dirty="0" sz="1150">
                <a:latin typeface="Times New Roman"/>
                <a:cs typeface="Times New Roman"/>
              </a:rPr>
              <a:t>up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wasting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lot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time.</a:t>
            </a:r>
            <a:r>
              <a:rPr dirty="0" sz="1150" spc="1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the </a:t>
            </a:r>
            <a:r>
              <a:rPr dirty="0" sz="1150" spc="10">
                <a:latin typeface="Times New Roman"/>
                <a:cs typeface="Times New Roman"/>
              </a:rPr>
              <a:t>other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hand,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institutions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>
                <a:latin typeface="Times New Roman"/>
                <a:cs typeface="Times New Roman"/>
              </a:rPr>
              <a:t>providers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are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affected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by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high </a:t>
            </a:r>
            <a:r>
              <a:rPr dirty="0" sz="1150">
                <a:latin typeface="Times New Roman"/>
                <a:cs typeface="Times New Roman"/>
              </a:rPr>
              <a:t>workload,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large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number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users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requiring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support,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thus </a:t>
            </a:r>
            <a:r>
              <a:rPr dirty="0" sz="1150">
                <a:latin typeface="Times New Roman"/>
                <a:cs typeface="Times New Roman"/>
              </a:rPr>
              <a:t>slowing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down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delivery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of </a:t>
            </a:r>
            <a:r>
              <a:rPr dirty="0" sz="1150" spc="-10">
                <a:latin typeface="Times New Roman"/>
                <a:cs typeface="Times New Roman"/>
              </a:rPr>
              <a:t>information.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84427" y="1378367"/>
            <a:ext cx="2214880" cy="4234180"/>
            <a:chOff x="5384427" y="1378367"/>
            <a:chExt cx="2214880" cy="4234180"/>
          </a:xfrm>
        </p:grpSpPr>
        <p:sp>
          <p:nvSpPr>
            <p:cNvPr id="18" name="object 18"/>
            <p:cNvSpPr/>
            <p:nvPr/>
          </p:nvSpPr>
          <p:spPr>
            <a:xfrm>
              <a:off x="5384427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79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4674" y="1378367"/>
              <a:ext cx="814239" cy="81423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464729" y="2253189"/>
            <a:ext cx="2048510" cy="250571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716280" marR="708660">
              <a:lnSpc>
                <a:spcPts val="1730"/>
              </a:lnSpc>
              <a:spcBef>
                <a:spcPts val="254"/>
              </a:spcBef>
            </a:pPr>
            <a:r>
              <a:rPr dirty="0" sz="1500" spc="-20" b="1">
                <a:solidFill>
                  <a:srgbClr val="F16629"/>
                </a:solidFill>
                <a:latin typeface="Times New Roman"/>
                <a:cs typeface="Times New Roman"/>
              </a:rPr>
              <a:t>Root </a:t>
            </a: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Causes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>
              <a:lnSpc>
                <a:spcPct val="921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specific</a:t>
            </a:r>
            <a:r>
              <a:rPr dirty="0" sz="1150" spc="1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keywords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structured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queries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is </a:t>
            </a:r>
            <a:r>
              <a:rPr dirty="0" sz="1150">
                <a:latin typeface="Times New Roman"/>
                <a:cs typeface="Times New Roman"/>
              </a:rPr>
              <a:t>necessary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them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to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understand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user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queries.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These </a:t>
            </a:r>
            <a:r>
              <a:rPr dirty="0" sz="1150">
                <a:latin typeface="Times New Roman"/>
                <a:cs typeface="Times New Roman"/>
              </a:rPr>
              <a:t>systems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are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unable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to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understand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queries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are </a:t>
            </a:r>
            <a:r>
              <a:rPr dirty="0" sz="1150">
                <a:latin typeface="Times New Roman"/>
                <a:cs typeface="Times New Roman"/>
              </a:rPr>
              <a:t>partially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given,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ambiguous,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natural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language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The</a:t>
            </a:r>
            <a:r>
              <a:rPr dirty="0" sz="1150" spc="500">
                <a:latin typeface="Times New Roman"/>
                <a:cs typeface="Times New Roman"/>
              </a:rPr>
              <a:t>  </a:t>
            </a:r>
            <a:r>
              <a:rPr dirty="0" sz="1150">
                <a:latin typeface="Times New Roman"/>
                <a:cs typeface="Times New Roman"/>
              </a:rPr>
              <a:t>systems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inability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understand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context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their</a:t>
            </a:r>
            <a:r>
              <a:rPr dirty="0" sz="1150" spc="21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rigid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nature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make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it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hard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them</a:t>
            </a:r>
            <a:r>
              <a:rPr dirty="0" sz="1150" spc="18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to </a:t>
            </a:r>
            <a:r>
              <a:rPr dirty="0" sz="1150">
                <a:latin typeface="Times New Roman"/>
                <a:cs typeface="Times New Roman"/>
              </a:rPr>
              <a:t>understand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user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intent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648015" y="1378367"/>
            <a:ext cx="2214880" cy="4234180"/>
            <a:chOff x="7648015" y="1378367"/>
            <a:chExt cx="2214880" cy="4234180"/>
          </a:xfrm>
        </p:grpSpPr>
        <p:sp>
          <p:nvSpPr>
            <p:cNvPr id="22" name="object 22"/>
            <p:cNvSpPr/>
            <p:nvPr/>
          </p:nvSpPr>
          <p:spPr>
            <a:xfrm>
              <a:off x="7648015" y="1785487"/>
              <a:ext cx="2214880" cy="3827145"/>
            </a:xfrm>
            <a:custGeom>
              <a:avLst/>
              <a:gdLst/>
              <a:ahLst/>
              <a:cxnLst/>
              <a:rect l="l" t="t" r="r" b="b"/>
              <a:pathLst>
                <a:path w="2214879" h="3827145">
                  <a:moveTo>
                    <a:pt x="2214732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14732" y="0"/>
                  </a:lnTo>
                  <a:lnTo>
                    <a:pt x="2214732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48261" y="1378367"/>
              <a:ext cx="814239" cy="81423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730352" y="2253189"/>
            <a:ext cx="2044700" cy="234315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367030" marR="359410">
              <a:lnSpc>
                <a:spcPts val="1730"/>
              </a:lnSpc>
              <a:spcBef>
                <a:spcPts val="254"/>
              </a:spcBef>
            </a:pP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Personal/Team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Connect</a:t>
            </a:r>
            <a:endParaRPr sz="1500">
              <a:latin typeface="Times New Roman"/>
              <a:cs typeface="Times New Roman"/>
            </a:endParaRPr>
          </a:p>
          <a:p>
            <a:pPr algn="ctr" marL="12065" marR="5080" indent="-635">
              <a:lnSpc>
                <a:spcPct val="920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As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students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technology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>
                <a:latin typeface="Times New Roman"/>
                <a:cs typeface="Times New Roman"/>
              </a:rPr>
              <a:t>AI,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we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are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aware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6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the </a:t>
            </a:r>
            <a:r>
              <a:rPr dirty="0" sz="1150">
                <a:latin typeface="Times New Roman"/>
                <a:cs typeface="Times New Roman"/>
              </a:rPr>
              <a:t>challenges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come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with </a:t>
            </a:r>
            <a:r>
              <a:rPr dirty="0" sz="1150">
                <a:latin typeface="Times New Roman"/>
                <a:cs typeface="Times New Roman"/>
              </a:rPr>
              <a:t>retrieving</a:t>
            </a:r>
            <a:r>
              <a:rPr dirty="0" sz="1150" spc="3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information</a:t>
            </a:r>
            <a:r>
              <a:rPr dirty="0" sz="1150" spc="3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from</a:t>
            </a:r>
            <a:r>
              <a:rPr dirty="0" sz="1150" spc="350">
                <a:latin typeface="Times New Roman"/>
                <a:cs typeface="Times New Roman"/>
              </a:rPr>
              <a:t> </a:t>
            </a:r>
            <a:r>
              <a:rPr dirty="0" sz="1150" spc="-50">
                <a:latin typeface="Times New Roman"/>
                <a:cs typeface="Times New Roman"/>
              </a:rPr>
              <a:t>a </a:t>
            </a:r>
            <a:r>
              <a:rPr dirty="0" sz="1150">
                <a:latin typeface="Times New Roman"/>
                <a:cs typeface="Times New Roman"/>
              </a:rPr>
              <a:t>digital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when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queries </a:t>
            </a:r>
            <a:r>
              <a:rPr dirty="0" sz="1150">
                <a:latin typeface="Times New Roman"/>
                <a:cs typeface="Times New Roman"/>
              </a:rPr>
              <a:t>are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incomplete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unclear.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Our </a:t>
            </a:r>
            <a:r>
              <a:rPr dirty="0" sz="1150">
                <a:latin typeface="Times New Roman"/>
                <a:cs typeface="Times New Roman"/>
              </a:rPr>
              <a:t>group</a:t>
            </a:r>
            <a:r>
              <a:rPr dirty="0" sz="1150" spc="2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interested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utilizing </a:t>
            </a:r>
            <a:r>
              <a:rPr dirty="0" sz="1150">
                <a:latin typeface="Times New Roman"/>
                <a:cs typeface="Times New Roman"/>
              </a:rPr>
              <a:t>AI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machine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learning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to </a:t>
            </a:r>
            <a:r>
              <a:rPr dirty="0" sz="1150" spc="10">
                <a:latin typeface="Times New Roman"/>
                <a:cs typeface="Times New Roman"/>
              </a:rPr>
              <a:t>enhance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user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understanding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by </a:t>
            </a:r>
            <a:r>
              <a:rPr dirty="0" sz="1150">
                <a:latin typeface="Times New Roman"/>
                <a:cs typeface="Times New Roman"/>
              </a:rPr>
              <a:t>making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information</a:t>
            </a:r>
            <a:r>
              <a:rPr dirty="0" sz="1150" spc="36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access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more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efficient.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981" y="2567157"/>
            <a:ext cx="2849880" cy="228028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55575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225"/>
              </a:spcBef>
            </a:pPr>
            <a:r>
              <a:rPr dirty="0" sz="2300" spc="-10" b="1">
                <a:solidFill>
                  <a:srgbClr val="FFFFFF"/>
                </a:solidFill>
                <a:latin typeface="Times New Roman"/>
                <a:cs typeface="Times New Roman"/>
              </a:rPr>
              <a:t>Primary</a:t>
            </a:r>
            <a:endParaRPr sz="2300">
              <a:latin typeface="Times New Roman"/>
              <a:cs typeface="Times New Roman"/>
            </a:endParaRPr>
          </a:p>
          <a:p>
            <a:pPr marL="260350" marR="403860">
              <a:lnSpc>
                <a:spcPct val="93800"/>
              </a:lnSpc>
              <a:spcBef>
                <a:spcPts val="1739"/>
              </a:spcBef>
            </a:pPr>
            <a:r>
              <a:rPr dirty="0" sz="1500" spc="45">
                <a:solidFill>
                  <a:srgbClr val="FFFFFF"/>
                </a:solidFill>
                <a:latin typeface="Times New Roman"/>
                <a:cs typeface="Times New Roman"/>
              </a:rPr>
              <a:t>Students</a:t>
            </a:r>
            <a:r>
              <a:rPr dirty="0" sz="1500" spc="1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500" spc="1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imes New Roman"/>
                <a:cs typeface="Times New Roman"/>
              </a:rPr>
              <a:t>young </a:t>
            </a:r>
            <a:r>
              <a:rPr dirty="0" sz="1500" spc="45">
                <a:solidFill>
                  <a:srgbClr val="FFFFFF"/>
                </a:solidFill>
                <a:latin typeface="Times New Roman"/>
                <a:cs typeface="Times New Roman"/>
              </a:rPr>
              <a:t>professionals</a:t>
            </a:r>
            <a:r>
              <a:rPr dirty="0" sz="15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who</a:t>
            </a:r>
            <a:r>
              <a:rPr dirty="0" sz="15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rely</a:t>
            </a:r>
            <a:r>
              <a:rPr dirty="0" sz="1500" spc="2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Times New Roman"/>
                <a:cs typeface="Times New Roman"/>
              </a:rPr>
              <a:t>on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online</a:t>
            </a:r>
            <a:r>
              <a:rPr dirty="0" sz="15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45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dirty="0" sz="1500" spc="2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50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imes New Roman"/>
                <a:cs typeface="Times New Roman"/>
              </a:rPr>
              <a:t>access </a:t>
            </a:r>
            <a:r>
              <a:rPr dirty="0" sz="1500" spc="4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4957" y="1761060"/>
            <a:ext cx="3598940" cy="38920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06034" y="2567157"/>
            <a:ext cx="2849880" cy="2280285"/>
          </a:xfrm>
          <a:prstGeom prst="rect">
            <a:avLst/>
          </a:prstGeom>
          <a:solidFill>
            <a:srgbClr val="F16629"/>
          </a:solidFill>
        </p:spPr>
        <p:txBody>
          <a:bodyPr wrap="square" lIns="0" tIns="155575" rIns="0" bIns="0" rtlCol="0" vert="horz">
            <a:spAutoFit/>
          </a:bodyPr>
          <a:lstStyle/>
          <a:p>
            <a:pPr marL="1218565">
              <a:lnSpc>
                <a:spcPct val="100000"/>
              </a:lnSpc>
              <a:spcBef>
                <a:spcPts val="1225"/>
              </a:spcBef>
            </a:pPr>
            <a:r>
              <a:rPr dirty="0" sz="2300" spc="-10" b="1">
                <a:solidFill>
                  <a:srgbClr val="FFFFFF"/>
                </a:solidFill>
                <a:latin typeface="Times New Roman"/>
                <a:cs typeface="Times New Roman"/>
              </a:rPr>
              <a:t>Secondary</a:t>
            </a:r>
            <a:endParaRPr sz="2300">
              <a:latin typeface="Times New Roman"/>
              <a:cs typeface="Times New Roman"/>
            </a:endParaRPr>
          </a:p>
          <a:p>
            <a:pPr algn="r" marL="874394" marR="258445" indent="-273050">
              <a:lnSpc>
                <a:spcPct val="93800"/>
              </a:lnSpc>
              <a:spcBef>
                <a:spcPts val="1739"/>
              </a:spcBef>
            </a:pP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Educational</a:t>
            </a:r>
            <a:r>
              <a:rPr dirty="0" sz="1500" spc="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Times New Roman"/>
                <a:cs typeface="Times New Roman"/>
              </a:rPr>
              <a:t>institutions </a:t>
            </a:r>
            <a:r>
              <a:rPr dirty="0" sz="15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500" spc="2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Times New Roman"/>
                <a:cs typeface="Times New Roman"/>
              </a:rPr>
              <a:t>organizations </a:t>
            </a:r>
            <a:r>
              <a:rPr dirty="0" sz="1500" spc="45">
                <a:solidFill>
                  <a:srgbClr val="FFFFFF"/>
                </a:solidFill>
                <a:latin typeface="Times New Roman"/>
                <a:cs typeface="Times New Roman"/>
              </a:rPr>
              <a:t>providing</a:t>
            </a:r>
            <a:r>
              <a:rPr dirty="0" sz="150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Times New Roman"/>
                <a:cs typeface="Times New Roman"/>
              </a:rPr>
              <a:t>digital </a:t>
            </a:r>
            <a:r>
              <a:rPr dirty="0" sz="1500" spc="5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15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Times New Roman"/>
                <a:cs typeface="Times New Roman"/>
              </a:rPr>
              <a:t>services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Target</a:t>
            </a:r>
            <a:r>
              <a:rPr dirty="0" spc="105">
                <a:solidFill>
                  <a:srgbClr val="BF0000"/>
                </a:solidFill>
              </a:rPr>
              <a:t> </a:t>
            </a:r>
            <a:r>
              <a:rPr dirty="0">
                <a:solidFill>
                  <a:srgbClr val="BF0000"/>
                </a:solidFill>
              </a:rPr>
              <a:t>Customer</a:t>
            </a:r>
            <a:r>
              <a:rPr dirty="0" spc="55">
                <a:solidFill>
                  <a:srgbClr val="BF0000"/>
                </a:solidFill>
              </a:rPr>
              <a:t> </a:t>
            </a:r>
            <a:r>
              <a:rPr dirty="0" spc="-10">
                <a:solidFill>
                  <a:srgbClr val="BF0000"/>
                </a:solidFill>
              </a:rPr>
              <a:t>Segments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8" name="object 8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Customer</a:t>
            </a:r>
            <a:r>
              <a:rPr dirty="0" spc="125"/>
              <a:t> </a:t>
            </a:r>
            <a:r>
              <a:rPr dirty="0"/>
              <a:t>Segment</a:t>
            </a:r>
            <a:r>
              <a:rPr dirty="0" spc="180"/>
              <a:t> </a:t>
            </a:r>
            <a:r>
              <a:rPr dirty="0"/>
              <a:t>&amp;</a:t>
            </a:r>
            <a:r>
              <a:rPr dirty="0" spc="180"/>
              <a:t> </a:t>
            </a:r>
            <a:r>
              <a:rPr dirty="0" spc="-10"/>
              <a:t>Persona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6696" y="1899480"/>
            <a:ext cx="3257550" cy="152273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42875" rIns="0" bIns="0" rtlCol="0" vert="horz">
            <a:spAutoFit/>
          </a:bodyPr>
          <a:lstStyle/>
          <a:p>
            <a:pPr marL="850265">
              <a:lnSpc>
                <a:spcPct val="100000"/>
              </a:lnSpc>
              <a:spcBef>
                <a:spcPts val="1125"/>
              </a:spcBef>
            </a:pPr>
            <a:r>
              <a:rPr dirty="0" sz="1500" spc="50" b="1">
                <a:solidFill>
                  <a:srgbClr val="FFFFFF"/>
                </a:solidFill>
                <a:latin typeface="Times New Roman"/>
                <a:cs typeface="Times New Roman"/>
              </a:rPr>
              <a:t>Primary</a:t>
            </a:r>
            <a:r>
              <a:rPr dirty="0" sz="1500" spc="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500" spc="40" b="1">
                <a:solidFill>
                  <a:srgbClr val="FFFFFF"/>
                </a:solidFill>
                <a:latin typeface="Times New Roman"/>
                <a:cs typeface="Times New Roman"/>
              </a:rPr>
              <a:t>Segment</a:t>
            </a:r>
            <a:endParaRPr sz="1500">
              <a:latin typeface="Times New Roman"/>
              <a:cs typeface="Times New Roman"/>
            </a:endParaRPr>
          </a:p>
          <a:p>
            <a:pPr algn="ctr" marL="272415" marR="270510">
              <a:lnSpc>
                <a:spcPts val="1410"/>
              </a:lnSpc>
              <a:spcBef>
                <a:spcPts val="1395"/>
              </a:spcBef>
            </a:pP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Students</a:t>
            </a:r>
            <a:r>
              <a:rPr dirty="0" sz="125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25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young</a:t>
            </a:r>
            <a:r>
              <a:rPr dirty="0" sz="125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45">
                <a:solidFill>
                  <a:srgbClr val="FFFFFF"/>
                </a:solidFill>
                <a:latin typeface="Times New Roman"/>
                <a:cs typeface="Times New Roman"/>
              </a:rPr>
              <a:t>professionals</a:t>
            </a:r>
            <a:r>
              <a:rPr dirty="0" sz="125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Times New Roman"/>
                <a:cs typeface="Times New Roman"/>
              </a:rPr>
              <a:t>who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rely</a:t>
            </a:r>
            <a:r>
              <a:rPr dirty="0" sz="125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125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online</a:t>
            </a:r>
            <a:r>
              <a:rPr dirty="0" sz="125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45">
                <a:solidFill>
                  <a:srgbClr val="FFFFFF"/>
                </a:solidFill>
                <a:latin typeface="Times New Roman"/>
                <a:cs typeface="Times New Roman"/>
              </a:rPr>
              <a:t>platforms</a:t>
            </a:r>
            <a:r>
              <a:rPr dirty="0" sz="125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25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Times New Roman"/>
                <a:cs typeface="Times New Roman"/>
              </a:rPr>
              <a:t>access </a:t>
            </a:r>
            <a:r>
              <a:rPr dirty="0" sz="1250" spc="35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6696" y="3479106"/>
            <a:ext cx="3257550" cy="151511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42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25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Secondary</a:t>
            </a:r>
            <a:r>
              <a:rPr dirty="0" sz="1500" spc="114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Segment</a:t>
            </a:r>
            <a:endParaRPr sz="1500">
              <a:latin typeface="Times New Roman"/>
              <a:cs typeface="Times New Roman"/>
            </a:endParaRPr>
          </a:p>
          <a:p>
            <a:pPr algn="ctr" marL="537210" marR="535305">
              <a:lnSpc>
                <a:spcPts val="1410"/>
              </a:lnSpc>
              <a:spcBef>
                <a:spcPts val="1330"/>
              </a:spcBef>
            </a:pPr>
            <a:r>
              <a:rPr dirty="0" sz="1250" spc="20">
                <a:latin typeface="Times New Roman"/>
                <a:cs typeface="Times New Roman"/>
              </a:rPr>
              <a:t>Educational</a:t>
            </a:r>
            <a:r>
              <a:rPr dirty="0" sz="1250" spc="390">
                <a:latin typeface="Times New Roman"/>
                <a:cs typeface="Times New Roman"/>
              </a:rPr>
              <a:t> </a:t>
            </a:r>
            <a:r>
              <a:rPr dirty="0" sz="1250" spc="20">
                <a:latin typeface="Times New Roman"/>
                <a:cs typeface="Times New Roman"/>
              </a:rPr>
              <a:t>institutions</a:t>
            </a:r>
            <a:r>
              <a:rPr dirty="0" sz="1250" spc="395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and </a:t>
            </a:r>
            <a:r>
              <a:rPr dirty="0" sz="1250" spc="45">
                <a:latin typeface="Times New Roman"/>
                <a:cs typeface="Times New Roman"/>
              </a:rPr>
              <a:t>organizations</a:t>
            </a:r>
            <a:r>
              <a:rPr dirty="0" sz="1250" spc="10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providing</a:t>
            </a:r>
            <a:r>
              <a:rPr dirty="0" sz="1250" spc="11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digital </a:t>
            </a:r>
            <a:r>
              <a:rPr dirty="0" sz="1250" spc="45">
                <a:latin typeface="Times New Roman"/>
                <a:cs typeface="Times New Roman"/>
              </a:rPr>
              <a:t>information</a:t>
            </a:r>
            <a:r>
              <a:rPr dirty="0" sz="1250" spc="12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services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8759" y="2241461"/>
            <a:ext cx="1221360" cy="12213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98942" y="3555973"/>
            <a:ext cx="2655570" cy="124206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just" marL="668020" marR="660400" indent="46990">
              <a:lnSpc>
                <a:spcPts val="1540"/>
              </a:lnSpc>
              <a:spcBef>
                <a:spcPts val="405"/>
              </a:spcBef>
            </a:pPr>
            <a:r>
              <a:rPr dirty="0" sz="1500" b="1">
                <a:solidFill>
                  <a:srgbClr val="F16629"/>
                </a:solidFill>
                <a:latin typeface="Times New Roman"/>
                <a:cs typeface="Times New Roman"/>
              </a:rPr>
              <a:t>Rahul</a:t>
            </a:r>
            <a:r>
              <a:rPr dirty="0" sz="1500" spc="33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30" b="1">
                <a:solidFill>
                  <a:srgbClr val="F16629"/>
                </a:solidFill>
                <a:latin typeface="Times New Roman"/>
                <a:cs typeface="Times New Roman"/>
              </a:rPr>
              <a:t>Kumar </a:t>
            </a:r>
            <a:r>
              <a:rPr dirty="0" sz="1400" b="1">
                <a:latin typeface="Times New Roman"/>
                <a:cs typeface="Times New Roman"/>
              </a:rPr>
              <a:t>Age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years:</a:t>
            </a:r>
            <a:r>
              <a:rPr dirty="0" sz="1400" spc="20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22 </a:t>
            </a:r>
            <a:r>
              <a:rPr dirty="0" sz="1400" b="1">
                <a:latin typeface="Times New Roman"/>
                <a:cs typeface="Times New Roman"/>
              </a:rPr>
              <a:t>Location:</a:t>
            </a:r>
            <a:r>
              <a:rPr dirty="0" sz="1400" spc="43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Other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470"/>
              </a:lnSpc>
            </a:pPr>
            <a:r>
              <a:rPr dirty="0" sz="1400" spc="10" b="1">
                <a:latin typeface="Times New Roman"/>
                <a:cs typeface="Times New Roman"/>
              </a:rPr>
              <a:t>Organizational</a:t>
            </a:r>
            <a:r>
              <a:rPr dirty="0" sz="1400" spc="355" b="1">
                <a:latin typeface="Times New Roman"/>
                <a:cs typeface="Times New Roman"/>
              </a:rPr>
              <a:t> </a:t>
            </a:r>
            <a:r>
              <a:rPr dirty="0" sz="1400" spc="10" b="1">
                <a:latin typeface="Times New Roman"/>
                <a:cs typeface="Times New Roman"/>
              </a:rPr>
              <a:t>Role:</a:t>
            </a:r>
            <a:r>
              <a:rPr dirty="0" sz="1400" spc="3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{Persona's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570"/>
              </a:lnSpc>
            </a:pPr>
            <a:r>
              <a:rPr dirty="0" sz="1400" b="1">
                <a:latin typeface="Times New Roman"/>
                <a:cs typeface="Times New Roman"/>
              </a:rPr>
              <a:t>primary</a:t>
            </a:r>
            <a:r>
              <a:rPr dirty="0" sz="1400" spc="350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role}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10"/>
              </a:lnSpc>
            </a:pPr>
            <a:r>
              <a:rPr dirty="0" sz="1400">
                <a:latin typeface="Times New Roman"/>
                <a:cs typeface="Times New Roman"/>
              </a:rPr>
              <a:t>(if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applicable)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86745" y="2269473"/>
            <a:ext cx="62674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10">
                <a:latin typeface="Times New Roman"/>
                <a:cs typeface="Times New Roman"/>
              </a:rPr>
              <a:t>Persona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88751" y="2607881"/>
            <a:ext cx="1775460" cy="163195"/>
          </a:xfrm>
          <a:custGeom>
            <a:avLst/>
            <a:gdLst/>
            <a:ahLst/>
            <a:cxnLst/>
            <a:rect l="l" t="t" r="r" b="b"/>
            <a:pathLst>
              <a:path w="1775460" h="163194">
                <a:moveTo>
                  <a:pt x="1628482" y="73279"/>
                </a:moveTo>
                <a:lnTo>
                  <a:pt x="0" y="73279"/>
                </a:lnTo>
                <a:lnTo>
                  <a:pt x="0" y="97701"/>
                </a:lnTo>
                <a:lnTo>
                  <a:pt x="1628482" y="97701"/>
                </a:lnTo>
                <a:lnTo>
                  <a:pt x="1628482" y="73279"/>
                </a:lnTo>
                <a:close/>
              </a:path>
              <a:path w="1775460" h="163194">
                <a:moveTo>
                  <a:pt x="1775053" y="81419"/>
                </a:moveTo>
                <a:lnTo>
                  <a:pt x="1652917" y="0"/>
                </a:lnTo>
                <a:lnTo>
                  <a:pt x="1652917" y="162839"/>
                </a:lnTo>
                <a:lnTo>
                  <a:pt x="1775053" y="81419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8120" y="1288800"/>
            <a:ext cx="9413240" cy="16510"/>
          </a:xfrm>
          <a:custGeom>
            <a:avLst/>
            <a:gdLst/>
            <a:ahLst/>
            <a:cxnLst/>
            <a:rect l="l" t="t" r="r" b="b"/>
            <a:pathLst>
              <a:path w="9413240" h="16509">
                <a:moveTo>
                  <a:pt x="9412614" y="16284"/>
                </a:moveTo>
                <a:lnTo>
                  <a:pt x="0" y="16284"/>
                </a:lnTo>
                <a:lnTo>
                  <a:pt x="0" y="0"/>
                </a:lnTo>
                <a:lnTo>
                  <a:pt x="9412614" y="0"/>
                </a:lnTo>
                <a:lnTo>
                  <a:pt x="9412614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281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90"/>
              </a:spcBef>
            </a:pPr>
            <a:r>
              <a:rPr dirty="0">
                <a:latin typeface="Arial"/>
                <a:cs typeface="Arial"/>
              </a:rPr>
              <a:t>Customer</a:t>
            </a:r>
            <a:r>
              <a:rPr dirty="0" spc="-135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Profile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3647" y="678121"/>
            <a:ext cx="977088" cy="5129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8120" y="1565642"/>
            <a:ext cx="4544060" cy="252476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Times New Roman"/>
              <a:cs typeface="Times New Roman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Education: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High school pass </a:t>
            </a:r>
            <a:r>
              <a:rPr dirty="0" sz="1150" spc="-25">
                <a:solidFill>
                  <a:srgbClr val="FFFFFF"/>
                </a:solidFill>
                <a:latin typeface="Arial"/>
                <a:cs typeface="Arial"/>
              </a:rPr>
              <a:t>out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Gender: </a:t>
            </a:r>
            <a:r>
              <a:rPr dirty="0" sz="1150" spc="-20">
                <a:solidFill>
                  <a:srgbClr val="FFFFFF"/>
                </a:solidFill>
                <a:latin typeface="Arial"/>
                <a:cs typeface="Arial"/>
              </a:rPr>
              <a:t>Male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Occupation: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Student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Interests/Hobbies: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Gaming and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Entertainment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Primary Source of Information: </a:t>
            </a:r>
            <a:r>
              <a:rPr dirty="0" sz="1150">
                <a:solidFill>
                  <a:srgbClr val="FFFFFF"/>
                </a:solidFill>
                <a:latin typeface="Arial"/>
                <a:cs typeface="Arial"/>
              </a:rPr>
              <a:t>Social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Media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7276" y="1565642"/>
            <a:ext cx="4544060" cy="2524760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06680" rIns="0" bIns="0" rtlCol="0" vert="horz">
            <a:spAutoFit/>
          </a:bodyPr>
          <a:lstStyle/>
          <a:p>
            <a:pPr marL="194945" marR="1973580">
              <a:lnSpc>
                <a:spcPct val="234600"/>
              </a:lnSpc>
              <a:spcBef>
                <a:spcPts val="84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Shopping Preference: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Hybrid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Comfort</a:t>
            </a:r>
            <a:r>
              <a:rPr dirty="0" sz="115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Technology: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Medium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Favourite Social Media: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Instagram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5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Favourite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Offline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Gathering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Spots: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Arial"/>
                <a:cs typeface="Arial"/>
              </a:rPr>
              <a:t>Parks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Jobs-to-be-</a:t>
            </a:r>
            <a:r>
              <a:rPr dirty="0" spc="-20"/>
              <a:t>Done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57253" y="1980905"/>
            <a:ext cx="2931795" cy="2849880"/>
            <a:chOff x="857253" y="1980905"/>
            <a:chExt cx="2931795" cy="2849880"/>
          </a:xfrm>
        </p:grpSpPr>
        <p:sp>
          <p:nvSpPr>
            <p:cNvPr id="5" name="object 5"/>
            <p:cNvSpPr/>
            <p:nvPr/>
          </p:nvSpPr>
          <p:spPr>
            <a:xfrm>
              <a:off x="857253" y="1980905"/>
              <a:ext cx="2931795" cy="2849880"/>
            </a:xfrm>
            <a:custGeom>
              <a:avLst/>
              <a:gdLst/>
              <a:ahLst/>
              <a:cxnLst/>
              <a:rect l="l" t="t" r="r" b="b"/>
              <a:pathLst>
                <a:path w="2931795" h="2849879">
                  <a:moveTo>
                    <a:pt x="2931263" y="2849839"/>
                  </a:moveTo>
                  <a:lnTo>
                    <a:pt x="0" y="2849839"/>
                  </a:lnTo>
                  <a:lnTo>
                    <a:pt x="0" y="0"/>
                  </a:lnTo>
                  <a:lnTo>
                    <a:pt x="2931263" y="0"/>
                  </a:lnTo>
                  <a:lnTo>
                    <a:pt x="2931263" y="28498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38144" y="2136888"/>
              <a:ext cx="305435" cy="265430"/>
            </a:xfrm>
            <a:custGeom>
              <a:avLst/>
              <a:gdLst/>
              <a:ahLst/>
              <a:cxnLst/>
              <a:rect l="l" t="t" r="r" b="b"/>
              <a:pathLst>
                <a:path w="305435" h="265430">
                  <a:moveTo>
                    <a:pt x="305333" y="143129"/>
                  </a:moveTo>
                  <a:lnTo>
                    <a:pt x="175564" y="143129"/>
                  </a:lnTo>
                  <a:lnTo>
                    <a:pt x="175564" y="150761"/>
                  </a:lnTo>
                  <a:lnTo>
                    <a:pt x="175564" y="159156"/>
                  </a:lnTo>
                  <a:lnTo>
                    <a:pt x="168694" y="166027"/>
                  </a:lnTo>
                  <a:lnTo>
                    <a:pt x="136626" y="166027"/>
                  </a:lnTo>
                  <a:lnTo>
                    <a:pt x="129755" y="159156"/>
                  </a:lnTo>
                  <a:lnTo>
                    <a:pt x="129755" y="143129"/>
                  </a:lnTo>
                  <a:lnTo>
                    <a:pt x="0" y="143129"/>
                  </a:lnTo>
                  <a:lnTo>
                    <a:pt x="0" y="258394"/>
                  </a:lnTo>
                  <a:lnTo>
                    <a:pt x="6858" y="265264"/>
                  </a:lnTo>
                  <a:lnTo>
                    <a:pt x="298462" y="265264"/>
                  </a:lnTo>
                  <a:lnTo>
                    <a:pt x="305333" y="258394"/>
                  </a:lnTo>
                  <a:lnTo>
                    <a:pt x="305333" y="143129"/>
                  </a:lnTo>
                  <a:close/>
                </a:path>
                <a:path w="305435" h="265430">
                  <a:moveTo>
                    <a:pt x="305333" y="58394"/>
                  </a:moveTo>
                  <a:lnTo>
                    <a:pt x="298462" y="51523"/>
                  </a:lnTo>
                  <a:lnTo>
                    <a:pt x="213728" y="51523"/>
                  </a:lnTo>
                  <a:lnTo>
                    <a:pt x="213728" y="26720"/>
                  </a:lnTo>
                  <a:lnTo>
                    <a:pt x="212966" y="22898"/>
                  </a:lnTo>
                  <a:lnTo>
                    <a:pt x="211645" y="16268"/>
                  </a:lnTo>
                  <a:lnTo>
                    <a:pt x="205955" y="7772"/>
                  </a:lnTo>
                  <a:lnTo>
                    <a:pt x="197459" y="2082"/>
                  </a:lnTo>
                  <a:lnTo>
                    <a:pt x="190830" y="762"/>
                  </a:lnTo>
                  <a:lnTo>
                    <a:pt x="190830" y="24422"/>
                  </a:lnTo>
                  <a:lnTo>
                    <a:pt x="190830" y="51523"/>
                  </a:lnTo>
                  <a:lnTo>
                    <a:pt x="114490" y="51523"/>
                  </a:lnTo>
                  <a:lnTo>
                    <a:pt x="114490" y="24422"/>
                  </a:lnTo>
                  <a:lnTo>
                    <a:pt x="116027" y="22898"/>
                  </a:lnTo>
                  <a:lnTo>
                    <a:pt x="189306" y="22898"/>
                  </a:lnTo>
                  <a:lnTo>
                    <a:pt x="190830" y="24422"/>
                  </a:lnTo>
                  <a:lnTo>
                    <a:pt x="190830" y="762"/>
                  </a:lnTo>
                  <a:lnTo>
                    <a:pt x="187007" y="0"/>
                  </a:lnTo>
                  <a:lnTo>
                    <a:pt x="118313" y="0"/>
                  </a:lnTo>
                  <a:lnTo>
                    <a:pt x="107861" y="2082"/>
                  </a:lnTo>
                  <a:lnTo>
                    <a:pt x="99377" y="7772"/>
                  </a:lnTo>
                  <a:lnTo>
                    <a:pt x="93675" y="16268"/>
                  </a:lnTo>
                  <a:lnTo>
                    <a:pt x="91592" y="26720"/>
                  </a:lnTo>
                  <a:lnTo>
                    <a:pt x="91592" y="51523"/>
                  </a:lnTo>
                  <a:lnTo>
                    <a:pt x="6858" y="51523"/>
                  </a:lnTo>
                  <a:lnTo>
                    <a:pt x="0" y="58394"/>
                  </a:lnTo>
                  <a:lnTo>
                    <a:pt x="0" y="127863"/>
                  </a:lnTo>
                  <a:lnTo>
                    <a:pt x="129755" y="127863"/>
                  </a:lnTo>
                  <a:lnTo>
                    <a:pt x="129755" y="120230"/>
                  </a:lnTo>
                  <a:lnTo>
                    <a:pt x="175564" y="120230"/>
                  </a:lnTo>
                  <a:lnTo>
                    <a:pt x="175564" y="127863"/>
                  </a:lnTo>
                  <a:lnTo>
                    <a:pt x="305333" y="127863"/>
                  </a:lnTo>
                  <a:lnTo>
                    <a:pt x="305333" y="120230"/>
                  </a:lnTo>
                  <a:lnTo>
                    <a:pt x="305333" y="58394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57253" y="1980905"/>
            <a:ext cx="2931795" cy="284988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420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Functional</a:t>
            </a:r>
            <a:r>
              <a:rPr dirty="0" sz="1400" spc="49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JTBD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400">
              <a:latin typeface="Times New Roman"/>
              <a:cs typeface="Times New Roman"/>
            </a:endParaRPr>
          </a:p>
          <a:p>
            <a:pPr marL="113664" marR="112395">
              <a:lnSpc>
                <a:spcPct val="92000"/>
              </a:lnSpc>
            </a:pPr>
            <a:r>
              <a:rPr dirty="0" sz="1150">
                <a:latin typeface="Times New Roman"/>
                <a:cs typeface="Times New Roman"/>
              </a:rPr>
              <a:t>Access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important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information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from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online </a:t>
            </a:r>
            <a:r>
              <a:rPr dirty="0" sz="1150">
                <a:latin typeface="Times New Roman"/>
                <a:cs typeface="Times New Roman"/>
              </a:rPr>
              <a:t>systems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such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as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college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portals,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government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websites,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service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platforms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quickly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easily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without </a:t>
            </a:r>
            <a:r>
              <a:rPr dirty="0" sz="1150">
                <a:latin typeface="Times New Roman"/>
                <a:cs typeface="Times New Roman"/>
              </a:rPr>
              <a:t>needing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enter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perfectly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structured queries.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18796" y="1980905"/>
            <a:ext cx="2931795" cy="2849880"/>
            <a:chOff x="3918796" y="1980905"/>
            <a:chExt cx="2931795" cy="2849880"/>
          </a:xfrm>
        </p:grpSpPr>
        <p:sp>
          <p:nvSpPr>
            <p:cNvPr id="9" name="object 9"/>
            <p:cNvSpPr/>
            <p:nvPr/>
          </p:nvSpPr>
          <p:spPr>
            <a:xfrm>
              <a:off x="3918796" y="1980905"/>
              <a:ext cx="2931795" cy="2849880"/>
            </a:xfrm>
            <a:custGeom>
              <a:avLst/>
              <a:gdLst/>
              <a:ahLst/>
              <a:cxnLst/>
              <a:rect l="l" t="t" r="r" b="b"/>
              <a:pathLst>
                <a:path w="2931795" h="2849879">
                  <a:moveTo>
                    <a:pt x="2931263" y="2849839"/>
                  </a:moveTo>
                  <a:lnTo>
                    <a:pt x="0" y="2849839"/>
                  </a:lnTo>
                  <a:lnTo>
                    <a:pt x="0" y="0"/>
                  </a:lnTo>
                  <a:lnTo>
                    <a:pt x="2931263" y="0"/>
                  </a:lnTo>
                  <a:lnTo>
                    <a:pt x="2931263" y="28498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26528" y="2123202"/>
              <a:ext cx="228600" cy="326390"/>
            </a:xfrm>
            <a:custGeom>
              <a:avLst/>
              <a:gdLst/>
              <a:ahLst/>
              <a:cxnLst/>
              <a:rect l="l" t="t" r="r" b="b"/>
              <a:pathLst>
                <a:path w="228600" h="326389">
                  <a:moveTo>
                    <a:pt x="114120" y="326086"/>
                  </a:moveTo>
                  <a:lnTo>
                    <a:pt x="96289" y="313483"/>
                  </a:lnTo>
                  <a:lnTo>
                    <a:pt x="57060" y="280541"/>
                  </a:lnTo>
                  <a:lnTo>
                    <a:pt x="17831" y="234565"/>
                  </a:lnTo>
                  <a:lnTo>
                    <a:pt x="0" y="182855"/>
                  </a:lnTo>
                  <a:lnTo>
                    <a:pt x="2401" y="167869"/>
                  </a:lnTo>
                  <a:lnTo>
                    <a:pt x="9085" y="153680"/>
                  </a:lnTo>
                  <a:lnTo>
                    <a:pt x="19274" y="141321"/>
                  </a:lnTo>
                  <a:lnTo>
                    <a:pt x="32187" y="131829"/>
                  </a:lnTo>
                  <a:lnTo>
                    <a:pt x="32187" y="83714"/>
                  </a:lnTo>
                  <a:lnTo>
                    <a:pt x="38626" y="51128"/>
                  </a:lnTo>
                  <a:lnTo>
                    <a:pt x="56185" y="24519"/>
                  </a:lnTo>
                  <a:lnTo>
                    <a:pt x="82228" y="6578"/>
                  </a:lnTo>
                  <a:lnTo>
                    <a:pt x="114120" y="0"/>
                  </a:lnTo>
                  <a:lnTo>
                    <a:pt x="146012" y="6578"/>
                  </a:lnTo>
                  <a:lnTo>
                    <a:pt x="171183" y="23918"/>
                  </a:lnTo>
                  <a:lnTo>
                    <a:pt x="114120" y="23918"/>
                  </a:lnTo>
                  <a:lnTo>
                    <a:pt x="91340" y="28617"/>
                  </a:lnTo>
                  <a:lnTo>
                    <a:pt x="72738" y="41432"/>
                  </a:lnTo>
                  <a:lnTo>
                    <a:pt x="60196" y="60438"/>
                  </a:lnTo>
                  <a:lnTo>
                    <a:pt x="55597" y="83714"/>
                  </a:lnTo>
                  <a:lnTo>
                    <a:pt x="55597" y="125212"/>
                  </a:lnTo>
                  <a:lnTo>
                    <a:pt x="70754" y="127240"/>
                  </a:lnTo>
                  <a:lnTo>
                    <a:pt x="85970" y="134769"/>
                  </a:lnTo>
                  <a:lnTo>
                    <a:pt x="100631" y="148622"/>
                  </a:lnTo>
                  <a:lnTo>
                    <a:pt x="114120" y="169620"/>
                  </a:lnTo>
                  <a:lnTo>
                    <a:pt x="223478" y="169620"/>
                  </a:lnTo>
                  <a:lnTo>
                    <a:pt x="228198" y="182855"/>
                  </a:lnTo>
                  <a:lnTo>
                    <a:pt x="223970" y="195342"/>
                  </a:lnTo>
                  <a:lnTo>
                    <a:pt x="112719" y="195342"/>
                  </a:lnTo>
                  <a:lnTo>
                    <a:pt x="104032" y="197640"/>
                  </a:lnTo>
                  <a:lnTo>
                    <a:pt x="96821" y="203099"/>
                  </a:lnTo>
                  <a:lnTo>
                    <a:pt x="92049" y="211250"/>
                  </a:lnTo>
                  <a:lnTo>
                    <a:pt x="90747" y="220655"/>
                  </a:lnTo>
                  <a:lnTo>
                    <a:pt x="92997" y="229531"/>
                  </a:lnTo>
                  <a:lnTo>
                    <a:pt x="98340" y="236898"/>
                  </a:lnTo>
                  <a:lnTo>
                    <a:pt x="106317" y="241774"/>
                  </a:lnTo>
                  <a:lnTo>
                    <a:pt x="106317" y="263101"/>
                  </a:lnTo>
                  <a:lnTo>
                    <a:pt x="186085" y="263101"/>
                  </a:lnTo>
                  <a:lnTo>
                    <a:pt x="171193" y="280541"/>
                  </a:lnTo>
                  <a:lnTo>
                    <a:pt x="131954" y="313483"/>
                  </a:lnTo>
                  <a:lnTo>
                    <a:pt x="114120" y="326086"/>
                  </a:lnTo>
                  <a:close/>
                </a:path>
                <a:path w="228600" h="326389">
                  <a:moveTo>
                    <a:pt x="196053" y="99659"/>
                  </a:moveTo>
                  <a:lnTo>
                    <a:pt x="172644" y="99659"/>
                  </a:lnTo>
                  <a:lnTo>
                    <a:pt x="172644" y="83714"/>
                  </a:lnTo>
                  <a:lnTo>
                    <a:pt x="168045" y="60438"/>
                  </a:lnTo>
                  <a:lnTo>
                    <a:pt x="155503" y="41432"/>
                  </a:lnTo>
                  <a:lnTo>
                    <a:pt x="136900" y="28617"/>
                  </a:lnTo>
                  <a:lnTo>
                    <a:pt x="114120" y="23918"/>
                  </a:lnTo>
                  <a:lnTo>
                    <a:pt x="171183" y="23918"/>
                  </a:lnTo>
                  <a:lnTo>
                    <a:pt x="172056" y="24519"/>
                  </a:lnTo>
                  <a:lnTo>
                    <a:pt x="189615" y="51128"/>
                  </a:lnTo>
                  <a:lnTo>
                    <a:pt x="196053" y="83714"/>
                  </a:lnTo>
                  <a:lnTo>
                    <a:pt x="196053" y="99659"/>
                  </a:lnTo>
                  <a:close/>
                </a:path>
                <a:path w="228600" h="326389">
                  <a:moveTo>
                    <a:pt x="223478" y="169620"/>
                  </a:moveTo>
                  <a:lnTo>
                    <a:pt x="114120" y="169620"/>
                  </a:lnTo>
                  <a:lnTo>
                    <a:pt x="149794" y="130263"/>
                  </a:lnTo>
                  <a:lnTo>
                    <a:pt x="187041" y="127848"/>
                  </a:lnTo>
                  <a:lnTo>
                    <a:pt x="216357" y="149658"/>
                  </a:lnTo>
                  <a:lnTo>
                    <a:pt x="223478" y="169620"/>
                  </a:lnTo>
                  <a:close/>
                </a:path>
                <a:path w="228600" h="326389">
                  <a:moveTo>
                    <a:pt x="186085" y="263101"/>
                  </a:moveTo>
                  <a:lnTo>
                    <a:pt x="121923" y="263101"/>
                  </a:lnTo>
                  <a:lnTo>
                    <a:pt x="121923" y="241774"/>
                  </a:lnTo>
                  <a:lnTo>
                    <a:pt x="128590" y="239366"/>
                  </a:lnTo>
                  <a:lnTo>
                    <a:pt x="133834" y="234007"/>
                  </a:lnTo>
                  <a:lnTo>
                    <a:pt x="136191" y="227196"/>
                  </a:lnTo>
                  <a:lnTo>
                    <a:pt x="137494" y="217792"/>
                  </a:lnTo>
                  <a:lnTo>
                    <a:pt x="135244" y="208916"/>
                  </a:lnTo>
                  <a:lnTo>
                    <a:pt x="129901" y="201549"/>
                  </a:lnTo>
                  <a:lnTo>
                    <a:pt x="121923" y="196673"/>
                  </a:lnTo>
                  <a:lnTo>
                    <a:pt x="112719" y="195342"/>
                  </a:lnTo>
                  <a:lnTo>
                    <a:pt x="223970" y="195342"/>
                  </a:lnTo>
                  <a:lnTo>
                    <a:pt x="210427" y="234565"/>
                  </a:lnTo>
                  <a:lnTo>
                    <a:pt x="208460" y="236898"/>
                  </a:lnTo>
                  <a:lnTo>
                    <a:pt x="186085" y="263101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918796" y="1980905"/>
            <a:ext cx="2931795" cy="2849880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485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Emotional</a:t>
            </a:r>
            <a:r>
              <a:rPr dirty="0" sz="1400" spc="44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JTBD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400">
              <a:latin typeface="Times New Roman"/>
              <a:cs typeface="Times New Roman"/>
            </a:endParaRPr>
          </a:p>
          <a:p>
            <a:pPr marL="113664" marR="254635">
              <a:lnSpc>
                <a:spcPts val="1280"/>
              </a:lnSpc>
            </a:pPr>
            <a:r>
              <a:rPr dirty="0" sz="1150">
                <a:latin typeface="Times New Roman"/>
                <a:cs typeface="Times New Roman"/>
              </a:rPr>
              <a:t>Feel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confident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satisfied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while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using </a:t>
            </a:r>
            <a:r>
              <a:rPr dirty="0" sz="1150">
                <a:latin typeface="Times New Roman"/>
                <a:cs typeface="Times New Roman"/>
              </a:rPr>
              <a:t>digital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systems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without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frustration, </a:t>
            </a:r>
            <a:r>
              <a:rPr dirty="0" sz="1150">
                <a:latin typeface="Times New Roman"/>
                <a:cs typeface="Times New Roman"/>
              </a:rPr>
              <a:t>confusion,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wasting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time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trying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get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2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correct</a:t>
            </a:r>
            <a:r>
              <a:rPr dirty="0" sz="1150" spc="229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information.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80338" y="1980905"/>
            <a:ext cx="2931795" cy="2849880"/>
            <a:chOff x="6980338" y="1980905"/>
            <a:chExt cx="2931795" cy="2849880"/>
          </a:xfrm>
        </p:grpSpPr>
        <p:sp>
          <p:nvSpPr>
            <p:cNvPr id="13" name="object 13"/>
            <p:cNvSpPr/>
            <p:nvPr/>
          </p:nvSpPr>
          <p:spPr>
            <a:xfrm>
              <a:off x="6980338" y="1980905"/>
              <a:ext cx="2931795" cy="2849880"/>
            </a:xfrm>
            <a:custGeom>
              <a:avLst/>
              <a:gdLst/>
              <a:ahLst/>
              <a:cxnLst/>
              <a:rect l="l" t="t" r="r" b="b"/>
              <a:pathLst>
                <a:path w="2931795" h="2849879">
                  <a:moveTo>
                    <a:pt x="2931263" y="2849839"/>
                  </a:moveTo>
                  <a:lnTo>
                    <a:pt x="0" y="2849839"/>
                  </a:lnTo>
                  <a:lnTo>
                    <a:pt x="0" y="0"/>
                  </a:lnTo>
                  <a:lnTo>
                    <a:pt x="2931263" y="0"/>
                  </a:lnTo>
                  <a:lnTo>
                    <a:pt x="2931263" y="284983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65742" y="2150718"/>
              <a:ext cx="266822" cy="27105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980338" y="1980905"/>
            <a:ext cx="2931795" cy="2849880"/>
          </a:xfrm>
          <a:prstGeom prst="rect">
            <a:avLst/>
          </a:prstGeom>
        </p:spPr>
        <p:txBody>
          <a:bodyPr wrap="square" lIns="0" tIns="188595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1485"/>
              </a:spcBef>
            </a:pPr>
            <a:r>
              <a:rPr dirty="0" sz="1400" b="1">
                <a:solidFill>
                  <a:srgbClr val="F16629"/>
                </a:solidFill>
                <a:latin typeface="Times New Roman"/>
                <a:cs typeface="Times New Roman"/>
              </a:rPr>
              <a:t>Social</a:t>
            </a:r>
            <a:r>
              <a:rPr dirty="0" sz="1400" spc="305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16629"/>
                </a:solidFill>
                <a:latin typeface="Times New Roman"/>
                <a:cs typeface="Times New Roman"/>
              </a:rPr>
              <a:t>JTBD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400">
              <a:latin typeface="Times New Roman"/>
              <a:cs typeface="Times New Roman"/>
            </a:endParaRPr>
          </a:p>
          <a:p>
            <a:pPr marL="113664" marR="144780">
              <a:lnSpc>
                <a:spcPts val="1280"/>
              </a:lnSpc>
            </a:pPr>
            <a:r>
              <a:rPr dirty="0" sz="1150">
                <a:latin typeface="Times New Roman"/>
                <a:cs typeface="Times New Roman"/>
              </a:rPr>
              <a:t>Be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able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quickly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find</a:t>
            </a:r>
            <a:r>
              <a:rPr dirty="0" sz="1150" spc="1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accurate </a:t>
            </a:r>
            <a:r>
              <a:rPr dirty="0" sz="1150">
                <a:latin typeface="Times New Roman"/>
                <a:cs typeface="Times New Roman"/>
              </a:rPr>
              <a:t>information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appear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knowledgeable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efficient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when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interacting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peers, </a:t>
            </a:r>
            <a:r>
              <a:rPr dirty="0" sz="1150">
                <a:latin typeface="Times New Roman"/>
                <a:cs typeface="Times New Roman"/>
              </a:rPr>
              <a:t>teachers,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colleagues.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6696" y="1117810"/>
            <a:ext cx="9575800" cy="16510"/>
          </a:xfrm>
          <a:custGeom>
            <a:avLst/>
            <a:gdLst/>
            <a:ahLst/>
            <a:cxnLst/>
            <a:rect l="l" t="t" r="r" b="b"/>
            <a:pathLst>
              <a:path w="9575800" h="16509">
                <a:moveTo>
                  <a:pt x="9575462" y="16284"/>
                </a:moveTo>
                <a:lnTo>
                  <a:pt x="0" y="16284"/>
                </a:lnTo>
                <a:lnTo>
                  <a:pt x="0" y="0"/>
                </a:lnTo>
                <a:lnTo>
                  <a:pt x="9575462" y="0"/>
                </a:lnTo>
                <a:lnTo>
                  <a:pt x="9575462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Current</a:t>
            </a:r>
            <a:r>
              <a:rPr dirty="0" spc="35"/>
              <a:t> </a:t>
            </a:r>
            <a:r>
              <a:rPr dirty="0" spc="-10"/>
              <a:t>Alternatives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705578" y="1419079"/>
            <a:ext cx="757555" cy="757555"/>
            <a:chOff x="2705578" y="1419079"/>
            <a:chExt cx="757555" cy="757555"/>
          </a:xfrm>
        </p:grpSpPr>
        <p:sp>
          <p:nvSpPr>
            <p:cNvPr id="6" name="object 6"/>
            <p:cNvSpPr/>
            <p:nvPr/>
          </p:nvSpPr>
          <p:spPr>
            <a:xfrm>
              <a:off x="2705578" y="1419079"/>
              <a:ext cx="757555" cy="757555"/>
            </a:xfrm>
            <a:custGeom>
              <a:avLst/>
              <a:gdLst/>
              <a:ahLst/>
              <a:cxnLst/>
              <a:rect l="l" t="t" r="r" b="b"/>
              <a:pathLst>
                <a:path w="757554" h="757555">
                  <a:moveTo>
                    <a:pt x="378621" y="757243"/>
                  </a:moveTo>
                  <a:lnTo>
                    <a:pt x="331128" y="754293"/>
                  </a:lnTo>
                  <a:lnTo>
                    <a:pt x="285395" y="745679"/>
                  </a:lnTo>
                  <a:lnTo>
                    <a:pt x="241778" y="731757"/>
                  </a:lnTo>
                  <a:lnTo>
                    <a:pt x="200630" y="712881"/>
                  </a:lnTo>
                  <a:lnTo>
                    <a:pt x="162307" y="689406"/>
                  </a:lnTo>
                  <a:lnTo>
                    <a:pt x="127164" y="661687"/>
                  </a:lnTo>
                  <a:lnTo>
                    <a:pt x="95556" y="630078"/>
                  </a:lnTo>
                  <a:lnTo>
                    <a:pt x="67836" y="594935"/>
                  </a:lnTo>
                  <a:lnTo>
                    <a:pt x="44361" y="556612"/>
                  </a:lnTo>
                  <a:lnTo>
                    <a:pt x="25485" y="515465"/>
                  </a:lnTo>
                  <a:lnTo>
                    <a:pt x="11563" y="471847"/>
                  </a:lnTo>
                  <a:lnTo>
                    <a:pt x="2950" y="426114"/>
                  </a:lnTo>
                  <a:lnTo>
                    <a:pt x="0" y="378621"/>
                  </a:lnTo>
                  <a:lnTo>
                    <a:pt x="2950" y="331128"/>
                  </a:lnTo>
                  <a:lnTo>
                    <a:pt x="11563" y="285395"/>
                  </a:lnTo>
                  <a:lnTo>
                    <a:pt x="25485" y="241778"/>
                  </a:lnTo>
                  <a:lnTo>
                    <a:pt x="44361" y="200630"/>
                  </a:lnTo>
                  <a:lnTo>
                    <a:pt x="67836" y="162307"/>
                  </a:lnTo>
                  <a:lnTo>
                    <a:pt x="95556" y="127164"/>
                  </a:lnTo>
                  <a:lnTo>
                    <a:pt x="127164" y="95556"/>
                  </a:lnTo>
                  <a:lnTo>
                    <a:pt x="162307" y="67836"/>
                  </a:lnTo>
                  <a:lnTo>
                    <a:pt x="200630" y="44361"/>
                  </a:lnTo>
                  <a:lnTo>
                    <a:pt x="241778" y="25485"/>
                  </a:lnTo>
                  <a:lnTo>
                    <a:pt x="285395" y="11563"/>
                  </a:lnTo>
                  <a:lnTo>
                    <a:pt x="331128" y="2950"/>
                  </a:lnTo>
                  <a:lnTo>
                    <a:pt x="378621" y="0"/>
                  </a:lnTo>
                  <a:lnTo>
                    <a:pt x="426114" y="2950"/>
                  </a:lnTo>
                  <a:lnTo>
                    <a:pt x="471847" y="11563"/>
                  </a:lnTo>
                  <a:lnTo>
                    <a:pt x="515465" y="25485"/>
                  </a:lnTo>
                  <a:lnTo>
                    <a:pt x="556612" y="44361"/>
                  </a:lnTo>
                  <a:lnTo>
                    <a:pt x="594935" y="67836"/>
                  </a:lnTo>
                  <a:lnTo>
                    <a:pt x="630078" y="95556"/>
                  </a:lnTo>
                  <a:lnTo>
                    <a:pt x="661687" y="127164"/>
                  </a:lnTo>
                  <a:lnTo>
                    <a:pt x="689406" y="162307"/>
                  </a:lnTo>
                  <a:lnTo>
                    <a:pt x="712881" y="200630"/>
                  </a:lnTo>
                  <a:lnTo>
                    <a:pt x="731757" y="241778"/>
                  </a:lnTo>
                  <a:lnTo>
                    <a:pt x="745679" y="285395"/>
                  </a:lnTo>
                  <a:lnTo>
                    <a:pt x="754293" y="331128"/>
                  </a:lnTo>
                  <a:lnTo>
                    <a:pt x="757243" y="378621"/>
                  </a:lnTo>
                  <a:lnTo>
                    <a:pt x="754293" y="426114"/>
                  </a:lnTo>
                  <a:lnTo>
                    <a:pt x="745679" y="471847"/>
                  </a:lnTo>
                  <a:lnTo>
                    <a:pt x="731757" y="515465"/>
                  </a:lnTo>
                  <a:lnTo>
                    <a:pt x="712881" y="556612"/>
                  </a:lnTo>
                  <a:lnTo>
                    <a:pt x="689406" y="594935"/>
                  </a:lnTo>
                  <a:lnTo>
                    <a:pt x="661687" y="630078"/>
                  </a:lnTo>
                  <a:lnTo>
                    <a:pt x="630078" y="661687"/>
                  </a:lnTo>
                  <a:lnTo>
                    <a:pt x="594935" y="689406"/>
                  </a:lnTo>
                  <a:lnTo>
                    <a:pt x="556612" y="712881"/>
                  </a:lnTo>
                  <a:lnTo>
                    <a:pt x="515465" y="731757"/>
                  </a:lnTo>
                  <a:lnTo>
                    <a:pt x="471847" y="745679"/>
                  </a:lnTo>
                  <a:lnTo>
                    <a:pt x="426114" y="754293"/>
                  </a:lnTo>
                  <a:lnTo>
                    <a:pt x="378621" y="75724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0718" y="1484218"/>
              <a:ext cx="597183" cy="60493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07401" y="2302043"/>
            <a:ext cx="4140200" cy="986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45" b="1">
                <a:latin typeface="Times New Roman"/>
                <a:cs typeface="Times New Roman"/>
              </a:rPr>
              <a:t>Current</a:t>
            </a:r>
            <a:r>
              <a:rPr dirty="0" sz="1500" spc="30" b="1">
                <a:latin typeface="Times New Roman"/>
                <a:cs typeface="Times New Roman"/>
              </a:rPr>
              <a:t> </a:t>
            </a:r>
            <a:r>
              <a:rPr dirty="0" sz="1500" spc="40" b="1">
                <a:latin typeface="Times New Roman"/>
                <a:cs typeface="Times New Roman"/>
              </a:rPr>
              <a:t>Alternatives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410"/>
              </a:lnSpc>
              <a:spcBef>
                <a:spcPts val="1525"/>
              </a:spcBef>
            </a:pPr>
            <a:r>
              <a:rPr dirty="0" sz="1250" spc="45">
                <a:latin typeface="Times New Roman"/>
                <a:cs typeface="Times New Roman"/>
              </a:rPr>
              <a:t>Searching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multiple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websites,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asking</a:t>
            </a:r>
            <a:r>
              <a:rPr dirty="0" sz="1250" spc="22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friends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or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classmates, </a:t>
            </a:r>
            <a:r>
              <a:rPr dirty="0" sz="1250" spc="10">
                <a:latin typeface="Times New Roman"/>
                <a:cs typeface="Times New Roman"/>
              </a:rPr>
              <a:t>contacting</a:t>
            </a:r>
            <a:r>
              <a:rPr dirty="0" sz="1250" spc="18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customer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support,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checking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FAQs,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or</a:t>
            </a:r>
            <a:r>
              <a:rPr dirty="0" sz="1250" spc="18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reaching </a:t>
            </a:r>
            <a:r>
              <a:rPr dirty="0" sz="1250">
                <a:latin typeface="Times New Roman"/>
                <a:cs typeface="Times New Roman"/>
              </a:rPr>
              <a:t>out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to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help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desks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staff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for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assistance.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40895" y="1419079"/>
            <a:ext cx="757555" cy="757555"/>
            <a:chOff x="7240895" y="1419079"/>
            <a:chExt cx="757555" cy="757555"/>
          </a:xfrm>
        </p:grpSpPr>
        <p:sp>
          <p:nvSpPr>
            <p:cNvPr id="10" name="object 10"/>
            <p:cNvSpPr/>
            <p:nvPr/>
          </p:nvSpPr>
          <p:spPr>
            <a:xfrm>
              <a:off x="7240895" y="1419079"/>
              <a:ext cx="757555" cy="757555"/>
            </a:xfrm>
            <a:custGeom>
              <a:avLst/>
              <a:gdLst/>
              <a:ahLst/>
              <a:cxnLst/>
              <a:rect l="l" t="t" r="r" b="b"/>
              <a:pathLst>
                <a:path w="757554" h="757555">
                  <a:moveTo>
                    <a:pt x="378621" y="757243"/>
                  </a:moveTo>
                  <a:lnTo>
                    <a:pt x="331128" y="754293"/>
                  </a:lnTo>
                  <a:lnTo>
                    <a:pt x="285395" y="745679"/>
                  </a:lnTo>
                  <a:lnTo>
                    <a:pt x="241778" y="731757"/>
                  </a:lnTo>
                  <a:lnTo>
                    <a:pt x="200630" y="712881"/>
                  </a:lnTo>
                  <a:lnTo>
                    <a:pt x="162307" y="689406"/>
                  </a:lnTo>
                  <a:lnTo>
                    <a:pt x="127164" y="661687"/>
                  </a:lnTo>
                  <a:lnTo>
                    <a:pt x="95556" y="630078"/>
                  </a:lnTo>
                  <a:lnTo>
                    <a:pt x="67836" y="594935"/>
                  </a:lnTo>
                  <a:lnTo>
                    <a:pt x="44361" y="556612"/>
                  </a:lnTo>
                  <a:lnTo>
                    <a:pt x="25485" y="515465"/>
                  </a:lnTo>
                  <a:lnTo>
                    <a:pt x="11563" y="471847"/>
                  </a:lnTo>
                  <a:lnTo>
                    <a:pt x="2950" y="426114"/>
                  </a:lnTo>
                  <a:lnTo>
                    <a:pt x="0" y="378621"/>
                  </a:lnTo>
                  <a:lnTo>
                    <a:pt x="2950" y="331128"/>
                  </a:lnTo>
                  <a:lnTo>
                    <a:pt x="11563" y="285395"/>
                  </a:lnTo>
                  <a:lnTo>
                    <a:pt x="25485" y="241778"/>
                  </a:lnTo>
                  <a:lnTo>
                    <a:pt x="44361" y="200630"/>
                  </a:lnTo>
                  <a:lnTo>
                    <a:pt x="67836" y="162307"/>
                  </a:lnTo>
                  <a:lnTo>
                    <a:pt x="95556" y="127164"/>
                  </a:lnTo>
                  <a:lnTo>
                    <a:pt x="127164" y="95556"/>
                  </a:lnTo>
                  <a:lnTo>
                    <a:pt x="162307" y="67836"/>
                  </a:lnTo>
                  <a:lnTo>
                    <a:pt x="200630" y="44361"/>
                  </a:lnTo>
                  <a:lnTo>
                    <a:pt x="241778" y="25485"/>
                  </a:lnTo>
                  <a:lnTo>
                    <a:pt x="285395" y="11563"/>
                  </a:lnTo>
                  <a:lnTo>
                    <a:pt x="331128" y="2950"/>
                  </a:lnTo>
                  <a:lnTo>
                    <a:pt x="378621" y="0"/>
                  </a:lnTo>
                  <a:lnTo>
                    <a:pt x="426114" y="2950"/>
                  </a:lnTo>
                  <a:lnTo>
                    <a:pt x="471847" y="11563"/>
                  </a:lnTo>
                  <a:lnTo>
                    <a:pt x="515465" y="25485"/>
                  </a:lnTo>
                  <a:lnTo>
                    <a:pt x="556612" y="44361"/>
                  </a:lnTo>
                  <a:lnTo>
                    <a:pt x="594935" y="67836"/>
                  </a:lnTo>
                  <a:lnTo>
                    <a:pt x="630078" y="95556"/>
                  </a:lnTo>
                  <a:lnTo>
                    <a:pt x="661687" y="127164"/>
                  </a:lnTo>
                  <a:lnTo>
                    <a:pt x="689406" y="162307"/>
                  </a:lnTo>
                  <a:lnTo>
                    <a:pt x="712881" y="200630"/>
                  </a:lnTo>
                  <a:lnTo>
                    <a:pt x="731757" y="241778"/>
                  </a:lnTo>
                  <a:lnTo>
                    <a:pt x="745679" y="285395"/>
                  </a:lnTo>
                  <a:lnTo>
                    <a:pt x="754293" y="331128"/>
                  </a:lnTo>
                  <a:lnTo>
                    <a:pt x="757243" y="378621"/>
                  </a:lnTo>
                  <a:lnTo>
                    <a:pt x="754293" y="426114"/>
                  </a:lnTo>
                  <a:lnTo>
                    <a:pt x="745679" y="471847"/>
                  </a:lnTo>
                  <a:lnTo>
                    <a:pt x="731757" y="515465"/>
                  </a:lnTo>
                  <a:lnTo>
                    <a:pt x="712881" y="556612"/>
                  </a:lnTo>
                  <a:lnTo>
                    <a:pt x="689406" y="594935"/>
                  </a:lnTo>
                  <a:lnTo>
                    <a:pt x="661687" y="630078"/>
                  </a:lnTo>
                  <a:lnTo>
                    <a:pt x="630078" y="661687"/>
                  </a:lnTo>
                  <a:lnTo>
                    <a:pt x="594935" y="689406"/>
                  </a:lnTo>
                  <a:lnTo>
                    <a:pt x="556612" y="712881"/>
                  </a:lnTo>
                  <a:lnTo>
                    <a:pt x="515465" y="731757"/>
                  </a:lnTo>
                  <a:lnTo>
                    <a:pt x="471847" y="745679"/>
                  </a:lnTo>
                  <a:lnTo>
                    <a:pt x="426114" y="754293"/>
                  </a:lnTo>
                  <a:lnTo>
                    <a:pt x="378621" y="75724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6747" y="1565642"/>
              <a:ext cx="545541" cy="46411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534576" y="2302043"/>
            <a:ext cx="4002404" cy="11658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b="1">
                <a:latin typeface="Times New Roman"/>
                <a:cs typeface="Times New Roman"/>
              </a:rPr>
              <a:t>Gaps</a:t>
            </a:r>
            <a:r>
              <a:rPr dirty="0" sz="1500" spc="19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in</a:t>
            </a:r>
            <a:r>
              <a:rPr dirty="0" sz="1500" spc="195" b="1">
                <a:latin typeface="Times New Roman"/>
                <a:cs typeface="Times New Roman"/>
              </a:rPr>
              <a:t> </a:t>
            </a:r>
            <a:r>
              <a:rPr dirty="0" sz="1500" spc="45" b="1">
                <a:latin typeface="Times New Roman"/>
                <a:cs typeface="Times New Roman"/>
              </a:rPr>
              <a:t>Current</a:t>
            </a:r>
            <a:r>
              <a:rPr dirty="0" sz="1500" spc="85" b="1">
                <a:latin typeface="Times New Roman"/>
                <a:cs typeface="Times New Roman"/>
              </a:rPr>
              <a:t> </a:t>
            </a:r>
            <a:r>
              <a:rPr dirty="0" sz="1500" spc="40" b="1">
                <a:latin typeface="Times New Roman"/>
                <a:cs typeface="Times New Roman"/>
              </a:rPr>
              <a:t>Alternatives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410"/>
              </a:lnSpc>
              <a:spcBef>
                <a:spcPts val="1525"/>
              </a:spcBef>
            </a:pPr>
            <a:r>
              <a:rPr dirty="0" sz="1250">
                <a:latin typeface="Times New Roman"/>
                <a:cs typeface="Times New Roman"/>
              </a:rPr>
              <a:t>These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methods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are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 spc="50">
                <a:latin typeface="Times New Roman"/>
                <a:cs typeface="Times New Roman"/>
              </a:rPr>
              <a:t>time-</a:t>
            </a:r>
            <a:r>
              <a:rPr dirty="0" sz="1250" spc="45">
                <a:latin typeface="Times New Roman"/>
                <a:cs typeface="Times New Roman"/>
              </a:rPr>
              <a:t>consuming,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require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extra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effort,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1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often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provide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inconsistent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or</a:t>
            </a:r>
            <a:r>
              <a:rPr dirty="0" sz="1250" spc="16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delayed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responses.</a:t>
            </a:r>
            <a:endParaRPr sz="1250">
              <a:latin typeface="Times New Roman"/>
              <a:cs typeface="Times New Roman"/>
            </a:endParaRPr>
          </a:p>
          <a:p>
            <a:pPr marL="12700" marR="48895">
              <a:lnSpc>
                <a:spcPts val="1410"/>
              </a:lnSpc>
            </a:pPr>
            <a:r>
              <a:rPr dirty="0" sz="1250">
                <a:latin typeface="Times New Roman"/>
                <a:cs typeface="Times New Roman"/>
              </a:rPr>
              <a:t>Users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still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struggle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to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find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accurate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information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quickly </a:t>
            </a:r>
            <a:r>
              <a:rPr dirty="0" sz="1250">
                <a:latin typeface="Times New Roman"/>
                <a:cs typeface="Times New Roman"/>
              </a:rPr>
              <a:t>when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their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queries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are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incomplete</a:t>
            </a:r>
            <a:r>
              <a:rPr dirty="0" sz="1250" spc="2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or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unclear.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60000" y="2697436"/>
            <a:ext cx="16510" cy="1221740"/>
          </a:xfrm>
          <a:custGeom>
            <a:avLst/>
            <a:gdLst/>
            <a:ahLst/>
            <a:cxnLst/>
            <a:rect l="l" t="t" r="r" b="b"/>
            <a:pathLst>
              <a:path w="16510" h="1221739">
                <a:moveTo>
                  <a:pt x="16284" y="1221359"/>
                </a:moveTo>
                <a:lnTo>
                  <a:pt x="0" y="1221359"/>
                </a:lnTo>
                <a:lnTo>
                  <a:pt x="0" y="0"/>
                </a:lnTo>
                <a:lnTo>
                  <a:pt x="16284" y="0"/>
                </a:lnTo>
                <a:lnTo>
                  <a:pt x="16284" y="1221359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981" y="1761060"/>
            <a:ext cx="3598940" cy="38920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11922" y="2119325"/>
            <a:ext cx="5944235" cy="146621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  <a:p>
            <a:pPr marL="260350" marR="461645">
              <a:lnSpc>
                <a:spcPts val="1540"/>
              </a:lnSpc>
              <a:spcBef>
                <a:spcPts val="1610"/>
              </a:spcBef>
            </a:pP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dirty="0" sz="140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Query</a:t>
            </a:r>
            <a:r>
              <a:rPr dirty="0" sz="140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Understanding</a:t>
            </a:r>
            <a:r>
              <a:rPr dirty="0" sz="140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Chatbot</a:t>
            </a:r>
            <a:r>
              <a:rPr dirty="0" sz="140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dirty="0" sz="1400" spc="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dirty="0" sz="1400" spc="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AI-powered</a:t>
            </a:r>
            <a:r>
              <a:rPr dirty="0" sz="140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chatbot</a:t>
            </a:r>
            <a:r>
              <a:rPr dirty="0" sz="140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1400" spc="22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understand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incomplete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poorly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structured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queries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help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users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quickly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retrieve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accurate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14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digital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platform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1922" y="3829229"/>
            <a:ext cx="5944235" cy="1466215"/>
          </a:xfrm>
          <a:prstGeom prst="rect">
            <a:avLst/>
          </a:prstGeom>
          <a:solidFill>
            <a:srgbClr val="F16629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60350">
              <a:lnSpc>
                <a:spcPct val="100000"/>
              </a:lnSpc>
              <a:spcBef>
                <a:spcPts val="115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Core</a:t>
            </a:r>
            <a:r>
              <a:rPr dirty="0" sz="1800" spc="1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Technologies/</a:t>
            </a:r>
            <a:r>
              <a:rPr dirty="0" sz="1800" spc="2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Methodologies</a:t>
            </a:r>
            <a:endParaRPr sz="1800">
              <a:latin typeface="Times New Roman"/>
              <a:cs typeface="Times New Roman"/>
            </a:endParaRPr>
          </a:p>
          <a:p>
            <a:pPr marL="260350" marR="264795">
              <a:lnSpc>
                <a:spcPts val="1540"/>
              </a:lnSpc>
              <a:spcBef>
                <a:spcPts val="1610"/>
              </a:spcBef>
            </a:pP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React.js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frontend,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Node.js/FastAPI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4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FFFFFF"/>
                </a:solidFill>
                <a:latin typeface="Times New Roman"/>
                <a:cs typeface="Times New Roman"/>
              </a:rPr>
              <a:t>backend,</a:t>
            </a:r>
            <a:r>
              <a:rPr dirty="0" sz="14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MongoDB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Natural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Language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r>
              <a:rPr dirty="0" sz="14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14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endParaRPr sz="1400">
              <a:latin typeface="Times New Roman"/>
              <a:cs typeface="Times New Roman"/>
            </a:endParaRPr>
          </a:p>
          <a:p>
            <a:pPr marL="260350">
              <a:lnSpc>
                <a:spcPts val="1510"/>
              </a:lnSpc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.APIs</a:t>
            </a:r>
            <a:r>
              <a:rPr dirty="0" sz="14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transforms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BF0000"/>
                </a:solidFill>
              </a:rPr>
              <a:t>Our</a:t>
            </a:r>
            <a:r>
              <a:rPr dirty="0" spc="65">
                <a:solidFill>
                  <a:srgbClr val="BF0000"/>
                </a:solidFill>
              </a:rPr>
              <a:t> </a:t>
            </a:r>
            <a:r>
              <a:rPr dirty="0" spc="-10">
                <a:solidFill>
                  <a:srgbClr val="BF0000"/>
                </a:solidFill>
              </a:rPr>
              <a:t>Solution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8" name="object 8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Solution</a:t>
            </a:r>
            <a:r>
              <a:rPr dirty="0" spc="265"/>
              <a:t> </a:t>
            </a:r>
            <a:r>
              <a:rPr dirty="0" spc="-1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4553" y="4606342"/>
            <a:ext cx="2517140" cy="400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455"/>
              </a:lnSpc>
              <a:spcBef>
                <a:spcPts val="130"/>
              </a:spcBef>
            </a:pPr>
            <a:r>
              <a:rPr dirty="0" sz="1250" b="1">
                <a:latin typeface="Times New Roman"/>
                <a:cs typeface="Times New Roman"/>
              </a:rPr>
              <a:t>Solution</a:t>
            </a:r>
            <a:r>
              <a:rPr dirty="0" sz="1250" spc="440" b="1">
                <a:latin typeface="Times New Roman"/>
                <a:cs typeface="Times New Roman"/>
              </a:rPr>
              <a:t> </a:t>
            </a:r>
            <a:r>
              <a:rPr dirty="0" sz="1250" spc="35" b="1">
                <a:latin typeface="Times New Roman"/>
                <a:cs typeface="Times New Roman"/>
              </a:rPr>
              <a:t>Format: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ts val="1455"/>
              </a:lnSpc>
            </a:pPr>
            <a:r>
              <a:rPr dirty="0" sz="1250">
                <a:latin typeface="Times New Roman"/>
                <a:cs typeface="Times New Roman"/>
              </a:rPr>
              <a:t>Digital</a:t>
            </a:r>
            <a:r>
              <a:rPr dirty="0" sz="1250" spc="27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Product</a:t>
            </a:r>
            <a:r>
              <a:rPr dirty="0" sz="1250" spc="27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7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Digital</a:t>
            </a:r>
            <a:r>
              <a:rPr dirty="0" sz="1250" spc="28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Service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9507" y="4961023"/>
            <a:ext cx="16510" cy="407670"/>
          </a:xfrm>
          <a:custGeom>
            <a:avLst/>
            <a:gdLst/>
            <a:ahLst/>
            <a:cxnLst/>
            <a:rect l="l" t="t" r="r" b="b"/>
            <a:pathLst>
              <a:path w="16510" h="407670">
                <a:moveTo>
                  <a:pt x="16284" y="407119"/>
                </a:moveTo>
                <a:lnTo>
                  <a:pt x="0" y="407119"/>
                </a:lnTo>
                <a:lnTo>
                  <a:pt x="0" y="0"/>
                </a:lnTo>
                <a:lnTo>
                  <a:pt x="16284" y="0"/>
                </a:lnTo>
                <a:lnTo>
                  <a:pt x="16284" y="407119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220978" y="4606342"/>
            <a:ext cx="5277485" cy="7588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455"/>
              </a:lnSpc>
              <a:spcBef>
                <a:spcPts val="130"/>
              </a:spcBef>
            </a:pPr>
            <a:r>
              <a:rPr dirty="0" sz="1250" spc="10" b="1">
                <a:latin typeface="Times New Roman"/>
                <a:cs typeface="Times New Roman"/>
              </a:rPr>
              <a:t>Core</a:t>
            </a:r>
            <a:r>
              <a:rPr dirty="0" sz="1250" spc="310" b="1">
                <a:latin typeface="Times New Roman"/>
                <a:cs typeface="Times New Roman"/>
              </a:rPr>
              <a:t> </a:t>
            </a:r>
            <a:r>
              <a:rPr dirty="0" sz="1250" spc="10" b="1">
                <a:latin typeface="Times New Roman"/>
                <a:cs typeface="Times New Roman"/>
              </a:rPr>
              <a:t>Technologies/</a:t>
            </a:r>
            <a:r>
              <a:rPr dirty="0" sz="1250" spc="350" b="1">
                <a:latin typeface="Times New Roman"/>
                <a:cs typeface="Times New Roman"/>
              </a:rPr>
              <a:t> </a:t>
            </a:r>
            <a:r>
              <a:rPr dirty="0" sz="1250" spc="35" b="1">
                <a:latin typeface="Times New Roman"/>
                <a:cs typeface="Times New Roman"/>
              </a:rPr>
              <a:t>Methodologies:</a:t>
            </a: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ts val="1410"/>
              </a:lnSpc>
              <a:spcBef>
                <a:spcPts val="80"/>
              </a:spcBef>
            </a:pPr>
            <a:r>
              <a:rPr dirty="0" sz="1250" spc="45">
                <a:latin typeface="Times New Roman"/>
                <a:cs typeface="Times New Roman"/>
              </a:rPr>
              <a:t>React.js</a:t>
            </a:r>
            <a:r>
              <a:rPr dirty="0" sz="1250" spc="21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for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the</a:t>
            </a:r>
            <a:r>
              <a:rPr dirty="0" sz="1250" spc="21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frontend,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Node.js/FastAPI</a:t>
            </a:r>
            <a:r>
              <a:rPr dirty="0" sz="1250" spc="21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for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the</a:t>
            </a:r>
            <a:r>
              <a:rPr dirty="0" sz="1250" spc="21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backend,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MongoDB</a:t>
            </a:r>
            <a:r>
              <a:rPr dirty="0" sz="1250" spc="21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and </a:t>
            </a:r>
            <a:r>
              <a:rPr dirty="0" sz="1250" spc="45">
                <a:latin typeface="Times New Roman"/>
                <a:cs typeface="Times New Roman"/>
              </a:rPr>
              <a:t>Natural</a:t>
            </a:r>
            <a:r>
              <a:rPr dirty="0" sz="1250" spc="21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Language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Processing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with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Machine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Learning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models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.APIs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and </a:t>
            </a:r>
            <a:r>
              <a:rPr dirty="0" sz="1250" spc="35">
                <a:latin typeface="Times New Roman"/>
                <a:cs typeface="Times New Roman"/>
              </a:rPr>
              <a:t>transforms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7253" y="1378367"/>
            <a:ext cx="2972435" cy="2849880"/>
            <a:chOff x="857253" y="1378367"/>
            <a:chExt cx="2972435" cy="2849880"/>
          </a:xfrm>
        </p:grpSpPr>
        <p:sp>
          <p:nvSpPr>
            <p:cNvPr id="8" name="object 8"/>
            <p:cNvSpPr/>
            <p:nvPr/>
          </p:nvSpPr>
          <p:spPr>
            <a:xfrm>
              <a:off x="857253" y="1785487"/>
              <a:ext cx="2972435" cy="2442845"/>
            </a:xfrm>
            <a:custGeom>
              <a:avLst/>
              <a:gdLst/>
              <a:ahLst/>
              <a:cxnLst/>
              <a:rect l="l" t="t" r="r" b="b"/>
              <a:pathLst>
                <a:path w="2972435" h="2442845">
                  <a:moveTo>
                    <a:pt x="2971975" y="2442719"/>
                  </a:moveTo>
                  <a:lnTo>
                    <a:pt x="0" y="2442719"/>
                  </a:lnTo>
                  <a:lnTo>
                    <a:pt x="0" y="0"/>
                  </a:lnTo>
                  <a:lnTo>
                    <a:pt x="2971975" y="0"/>
                  </a:lnTo>
                  <a:lnTo>
                    <a:pt x="2971975" y="244271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32038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21" y="288950"/>
                  </a:lnTo>
                  <a:lnTo>
                    <a:pt x="783259" y="251333"/>
                  </a:lnTo>
                  <a:lnTo>
                    <a:pt x="766178" y="215214"/>
                  </a:lnTo>
                  <a:lnTo>
                    <a:pt x="745629" y="180936"/>
                  </a:lnTo>
                  <a:lnTo>
                    <a:pt x="721829" y="148856"/>
                  </a:lnTo>
                  <a:lnTo>
                    <a:pt x="695007" y="119253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46" y="48082"/>
                  </a:lnTo>
                  <a:lnTo>
                    <a:pt x="562927" y="31000"/>
                  </a:lnTo>
                  <a:lnTo>
                    <a:pt x="525310" y="17538"/>
                  </a:lnTo>
                  <a:lnTo>
                    <a:pt x="486549" y="7823"/>
                  </a:lnTo>
                  <a:lnTo>
                    <a:pt x="447027" y="1968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37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56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57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73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53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68"/>
                  </a:lnTo>
                  <a:lnTo>
                    <a:pt x="298538" y="799503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47"/>
                  </a:lnTo>
                  <a:lnTo>
                    <a:pt x="417118" y="814120"/>
                  </a:lnTo>
                  <a:lnTo>
                    <a:pt x="456958" y="811187"/>
                  </a:lnTo>
                  <a:lnTo>
                    <a:pt x="496328" y="804354"/>
                  </a:lnTo>
                  <a:lnTo>
                    <a:pt x="534835" y="793699"/>
                  </a:lnTo>
                  <a:lnTo>
                    <a:pt x="572109" y="779322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403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708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41717" y="157021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218517" y="386763"/>
                  </a:moveTo>
                  <a:lnTo>
                    <a:pt x="136336" y="304582"/>
                  </a:lnTo>
                  <a:lnTo>
                    <a:pt x="125398" y="300798"/>
                  </a:lnTo>
                  <a:lnTo>
                    <a:pt x="114097" y="306576"/>
                  </a:lnTo>
                  <a:lnTo>
                    <a:pt x="105333" y="318246"/>
                  </a:lnTo>
                  <a:lnTo>
                    <a:pt x="102007" y="332136"/>
                  </a:lnTo>
                  <a:lnTo>
                    <a:pt x="95777" y="352042"/>
                  </a:lnTo>
                  <a:lnTo>
                    <a:pt x="79347" y="363018"/>
                  </a:lnTo>
                  <a:lnTo>
                    <a:pt x="58295" y="363750"/>
                  </a:lnTo>
                  <a:lnTo>
                    <a:pt x="38195" y="352924"/>
                  </a:lnTo>
                  <a:lnTo>
                    <a:pt x="34808" y="349545"/>
                  </a:lnTo>
                  <a:lnTo>
                    <a:pt x="23831" y="329290"/>
                  </a:lnTo>
                  <a:lnTo>
                    <a:pt x="24232" y="307904"/>
                  </a:lnTo>
                  <a:lnTo>
                    <a:pt x="34876" y="291141"/>
                  </a:lnTo>
                  <a:lnTo>
                    <a:pt x="54627" y="284756"/>
                  </a:lnTo>
                  <a:lnTo>
                    <a:pt x="68522" y="281435"/>
                  </a:lnTo>
                  <a:lnTo>
                    <a:pt x="80194" y="272673"/>
                  </a:lnTo>
                  <a:lnTo>
                    <a:pt x="85973" y="261373"/>
                  </a:lnTo>
                  <a:lnTo>
                    <a:pt x="82189" y="250435"/>
                  </a:lnTo>
                  <a:lnTo>
                    <a:pt x="0" y="168246"/>
                  </a:lnTo>
                  <a:lnTo>
                    <a:pt x="58495" y="109262"/>
                  </a:lnTo>
                  <a:lnTo>
                    <a:pt x="69436" y="105478"/>
                  </a:lnTo>
                  <a:lnTo>
                    <a:pt x="80736" y="111257"/>
                  </a:lnTo>
                  <a:lnTo>
                    <a:pt x="89498" y="122929"/>
                  </a:lnTo>
                  <a:lnTo>
                    <a:pt x="92823" y="136824"/>
                  </a:lnTo>
                  <a:lnTo>
                    <a:pt x="99205" y="156575"/>
                  </a:lnTo>
                  <a:lnTo>
                    <a:pt x="115968" y="167219"/>
                  </a:lnTo>
                  <a:lnTo>
                    <a:pt x="137353" y="167620"/>
                  </a:lnTo>
                  <a:lnTo>
                    <a:pt x="157604" y="156643"/>
                  </a:lnTo>
                  <a:lnTo>
                    <a:pt x="160991" y="153256"/>
                  </a:lnTo>
                  <a:lnTo>
                    <a:pt x="171813" y="133156"/>
                  </a:lnTo>
                  <a:lnTo>
                    <a:pt x="171079" y="112104"/>
                  </a:lnTo>
                  <a:lnTo>
                    <a:pt x="160105" y="95675"/>
                  </a:lnTo>
                  <a:lnTo>
                    <a:pt x="140203" y="89444"/>
                  </a:lnTo>
                  <a:lnTo>
                    <a:pt x="126308" y="86118"/>
                  </a:lnTo>
                  <a:lnTo>
                    <a:pt x="114636" y="77354"/>
                  </a:lnTo>
                  <a:lnTo>
                    <a:pt x="108857" y="66053"/>
                  </a:lnTo>
                  <a:lnTo>
                    <a:pt x="112641" y="55115"/>
                  </a:lnTo>
                  <a:lnTo>
                    <a:pt x="168246" y="0"/>
                  </a:lnTo>
                  <a:lnTo>
                    <a:pt x="250427" y="82189"/>
                  </a:lnTo>
                  <a:lnTo>
                    <a:pt x="261365" y="85973"/>
                  </a:lnTo>
                  <a:lnTo>
                    <a:pt x="272666" y="80195"/>
                  </a:lnTo>
                  <a:lnTo>
                    <a:pt x="281430" y="68525"/>
                  </a:lnTo>
                  <a:lnTo>
                    <a:pt x="284756" y="54635"/>
                  </a:lnTo>
                  <a:lnTo>
                    <a:pt x="290986" y="34729"/>
                  </a:lnTo>
                  <a:lnTo>
                    <a:pt x="307416" y="23753"/>
                  </a:lnTo>
                  <a:lnTo>
                    <a:pt x="328468" y="23021"/>
                  </a:lnTo>
                  <a:lnTo>
                    <a:pt x="348568" y="33847"/>
                  </a:lnTo>
                  <a:lnTo>
                    <a:pt x="351955" y="37227"/>
                  </a:lnTo>
                  <a:lnTo>
                    <a:pt x="362932" y="57481"/>
                  </a:lnTo>
                  <a:lnTo>
                    <a:pt x="362531" y="78867"/>
                  </a:lnTo>
                  <a:lnTo>
                    <a:pt x="351887" y="95630"/>
                  </a:lnTo>
                  <a:lnTo>
                    <a:pt x="332136" y="102016"/>
                  </a:lnTo>
                  <a:lnTo>
                    <a:pt x="318241" y="105337"/>
                  </a:lnTo>
                  <a:lnTo>
                    <a:pt x="306569" y="114098"/>
                  </a:lnTo>
                  <a:lnTo>
                    <a:pt x="300790" y="125398"/>
                  </a:lnTo>
                  <a:lnTo>
                    <a:pt x="304574" y="136336"/>
                  </a:lnTo>
                  <a:lnTo>
                    <a:pt x="386763" y="218525"/>
                  </a:lnTo>
                  <a:lnTo>
                    <a:pt x="331648" y="273641"/>
                  </a:lnTo>
                  <a:lnTo>
                    <a:pt x="320710" y="277425"/>
                  </a:lnTo>
                  <a:lnTo>
                    <a:pt x="309410" y="271646"/>
                  </a:lnTo>
                  <a:lnTo>
                    <a:pt x="300648" y="259974"/>
                  </a:lnTo>
                  <a:lnTo>
                    <a:pt x="297327" y="246079"/>
                  </a:lnTo>
                  <a:lnTo>
                    <a:pt x="290941" y="226328"/>
                  </a:lnTo>
                  <a:lnTo>
                    <a:pt x="274179" y="215685"/>
                  </a:lnTo>
                  <a:lnTo>
                    <a:pt x="252793" y="215284"/>
                  </a:lnTo>
                  <a:lnTo>
                    <a:pt x="232538" y="226261"/>
                  </a:lnTo>
                  <a:lnTo>
                    <a:pt x="229159" y="229648"/>
                  </a:lnTo>
                  <a:lnTo>
                    <a:pt x="218333" y="249747"/>
                  </a:lnTo>
                  <a:lnTo>
                    <a:pt x="219065" y="270799"/>
                  </a:lnTo>
                  <a:lnTo>
                    <a:pt x="230041" y="287229"/>
                  </a:lnTo>
                  <a:lnTo>
                    <a:pt x="249947" y="293460"/>
                  </a:lnTo>
                  <a:lnTo>
                    <a:pt x="264040" y="296785"/>
                  </a:lnTo>
                  <a:lnTo>
                    <a:pt x="275687" y="305549"/>
                  </a:lnTo>
                  <a:lnTo>
                    <a:pt x="281352" y="316850"/>
                  </a:lnTo>
                  <a:lnTo>
                    <a:pt x="277501" y="327788"/>
                  </a:lnTo>
                  <a:lnTo>
                    <a:pt x="218517" y="3867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57253" y="2310185"/>
            <a:ext cx="2972435" cy="1548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F16629"/>
                </a:solidFill>
                <a:latin typeface="Times New Roman"/>
                <a:cs typeface="Times New Roman"/>
              </a:rPr>
              <a:t>Our</a:t>
            </a:r>
            <a:r>
              <a:rPr dirty="0" sz="18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  <a:p>
            <a:pPr algn="ctr" marL="120014" marR="121285">
              <a:lnSpc>
                <a:spcPts val="1410"/>
              </a:lnSpc>
              <a:spcBef>
                <a:spcPts val="1395"/>
              </a:spcBef>
            </a:pPr>
            <a:r>
              <a:rPr dirty="0" sz="1250">
                <a:latin typeface="Times New Roman"/>
                <a:cs typeface="Times New Roman"/>
              </a:rPr>
              <a:t>AI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Query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Understanding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Chatbot</a:t>
            </a:r>
            <a:r>
              <a:rPr dirty="0" sz="1250" spc="17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–</a:t>
            </a:r>
            <a:r>
              <a:rPr dirty="0" sz="1250" spc="9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An </a:t>
            </a:r>
            <a:r>
              <a:rPr dirty="0" sz="1250" spc="50">
                <a:latin typeface="Times New Roman"/>
                <a:cs typeface="Times New Roman"/>
              </a:rPr>
              <a:t>AI-</a:t>
            </a:r>
            <a:r>
              <a:rPr dirty="0" sz="1250" spc="45">
                <a:latin typeface="Times New Roman"/>
                <a:cs typeface="Times New Roman"/>
              </a:rPr>
              <a:t>powered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chatbot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that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can</a:t>
            </a:r>
            <a:r>
              <a:rPr dirty="0" sz="1250" spc="45">
                <a:latin typeface="Times New Roman"/>
                <a:cs typeface="Times New Roman"/>
              </a:rPr>
              <a:t> understand</a:t>
            </a:r>
            <a:r>
              <a:rPr dirty="0" sz="1250" spc="13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incomplete</a:t>
            </a:r>
            <a:r>
              <a:rPr dirty="0" sz="1250" spc="13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or</a:t>
            </a:r>
            <a:r>
              <a:rPr dirty="0" sz="1250" spc="135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poorly </a:t>
            </a:r>
            <a:r>
              <a:rPr dirty="0" sz="1250" spc="45">
                <a:latin typeface="Times New Roman"/>
                <a:cs typeface="Times New Roman"/>
              </a:rPr>
              <a:t>structured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user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queries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19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help</a:t>
            </a:r>
            <a:r>
              <a:rPr dirty="0" sz="1250" spc="190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users </a:t>
            </a:r>
            <a:r>
              <a:rPr dirty="0" sz="1250">
                <a:latin typeface="Times New Roman"/>
                <a:cs typeface="Times New Roman"/>
              </a:rPr>
              <a:t>quickly</a:t>
            </a:r>
            <a:r>
              <a:rPr dirty="0" sz="1250" spc="21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retrieve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accurate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information </a:t>
            </a:r>
            <a:r>
              <a:rPr dirty="0" sz="1250">
                <a:latin typeface="Times New Roman"/>
                <a:cs typeface="Times New Roman"/>
              </a:rPr>
              <a:t>from</a:t>
            </a:r>
            <a:r>
              <a:rPr dirty="0" sz="1250" spc="33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digital</a:t>
            </a:r>
            <a:r>
              <a:rPr dirty="0" sz="1250" spc="33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platform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78084" y="1378367"/>
            <a:ext cx="2964180" cy="2849880"/>
            <a:chOff x="3878084" y="1378367"/>
            <a:chExt cx="2964180" cy="2849880"/>
          </a:xfrm>
        </p:grpSpPr>
        <p:sp>
          <p:nvSpPr>
            <p:cNvPr id="13" name="object 13"/>
            <p:cNvSpPr/>
            <p:nvPr/>
          </p:nvSpPr>
          <p:spPr>
            <a:xfrm>
              <a:off x="3878084" y="1785487"/>
              <a:ext cx="2964180" cy="2442845"/>
            </a:xfrm>
            <a:custGeom>
              <a:avLst/>
              <a:gdLst/>
              <a:ahLst/>
              <a:cxnLst/>
              <a:rect l="l" t="t" r="r" b="b"/>
              <a:pathLst>
                <a:path w="2964179" h="2442845">
                  <a:moveTo>
                    <a:pt x="2963833" y="2442719"/>
                  </a:moveTo>
                  <a:lnTo>
                    <a:pt x="0" y="2442719"/>
                  </a:lnTo>
                  <a:lnTo>
                    <a:pt x="0" y="0"/>
                  </a:lnTo>
                  <a:lnTo>
                    <a:pt x="2963833" y="0"/>
                  </a:lnTo>
                  <a:lnTo>
                    <a:pt x="2963833" y="244271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952873" y="1378368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50"/>
                  </a:lnTo>
                  <a:lnTo>
                    <a:pt x="783247" y="251333"/>
                  </a:lnTo>
                  <a:lnTo>
                    <a:pt x="766165" y="215214"/>
                  </a:lnTo>
                  <a:lnTo>
                    <a:pt x="745629" y="180936"/>
                  </a:lnTo>
                  <a:lnTo>
                    <a:pt x="721829" y="148856"/>
                  </a:lnTo>
                  <a:lnTo>
                    <a:pt x="694994" y="119253"/>
                  </a:lnTo>
                  <a:lnTo>
                    <a:pt x="665391" y="92417"/>
                  </a:lnTo>
                  <a:lnTo>
                    <a:pt x="633310" y="68618"/>
                  </a:lnTo>
                  <a:lnTo>
                    <a:pt x="599033" y="48082"/>
                  </a:lnTo>
                  <a:lnTo>
                    <a:pt x="562914" y="31000"/>
                  </a:lnTo>
                  <a:lnTo>
                    <a:pt x="525297" y="17538"/>
                  </a:lnTo>
                  <a:lnTo>
                    <a:pt x="486549" y="7823"/>
                  </a:lnTo>
                  <a:lnTo>
                    <a:pt x="447027" y="1968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37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56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53"/>
                  </a:lnTo>
                  <a:lnTo>
                    <a:pt x="98844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68"/>
                  </a:lnTo>
                  <a:lnTo>
                    <a:pt x="298538" y="799503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47"/>
                  </a:lnTo>
                  <a:lnTo>
                    <a:pt x="417118" y="814120"/>
                  </a:lnTo>
                  <a:lnTo>
                    <a:pt x="456958" y="811187"/>
                  </a:lnTo>
                  <a:lnTo>
                    <a:pt x="496328" y="804354"/>
                  </a:lnTo>
                  <a:lnTo>
                    <a:pt x="534835" y="793699"/>
                  </a:lnTo>
                  <a:lnTo>
                    <a:pt x="572109" y="779322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403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490" y="515708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206060" y="1579422"/>
              <a:ext cx="300355" cy="387350"/>
            </a:xfrm>
            <a:custGeom>
              <a:avLst/>
              <a:gdLst/>
              <a:ahLst/>
              <a:cxnLst/>
              <a:rect l="l" t="t" r="r" b="b"/>
              <a:pathLst>
                <a:path w="300354" h="387350">
                  <a:moveTo>
                    <a:pt x="241719" y="305054"/>
                  </a:moveTo>
                  <a:lnTo>
                    <a:pt x="159537" y="305054"/>
                  </a:lnTo>
                  <a:lnTo>
                    <a:pt x="159537" y="324383"/>
                  </a:lnTo>
                  <a:lnTo>
                    <a:pt x="241719" y="324383"/>
                  </a:lnTo>
                  <a:lnTo>
                    <a:pt x="241719" y="305054"/>
                  </a:lnTo>
                  <a:close/>
                </a:path>
                <a:path w="300354" h="387350">
                  <a:moveTo>
                    <a:pt x="241719" y="227698"/>
                  </a:moveTo>
                  <a:lnTo>
                    <a:pt x="159537" y="227698"/>
                  </a:lnTo>
                  <a:lnTo>
                    <a:pt x="159537" y="247040"/>
                  </a:lnTo>
                  <a:lnTo>
                    <a:pt x="241719" y="247040"/>
                  </a:lnTo>
                  <a:lnTo>
                    <a:pt x="241719" y="227698"/>
                  </a:lnTo>
                  <a:close/>
                </a:path>
                <a:path w="300354" h="387350">
                  <a:moveTo>
                    <a:pt x="241719" y="150342"/>
                  </a:moveTo>
                  <a:lnTo>
                    <a:pt x="159537" y="150342"/>
                  </a:lnTo>
                  <a:lnTo>
                    <a:pt x="159537" y="169684"/>
                  </a:lnTo>
                  <a:lnTo>
                    <a:pt x="241719" y="169684"/>
                  </a:lnTo>
                  <a:lnTo>
                    <a:pt x="241719" y="150342"/>
                  </a:lnTo>
                  <a:close/>
                </a:path>
                <a:path w="300354" h="387350">
                  <a:moveTo>
                    <a:pt x="241719" y="72986"/>
                  </a:moveTo>
                  <a:lnTo>
                    <a:pt x="159537" y="72986"/>
                  </a:lnTo>
                  <a:lnTo>
                    <a:pt x="159537" y="92329"/>
                  </a:lnTo>
                  <a:lnTo>
                    <a:pt x="241719" y="92329"/>
                  </a:lnTo>
                  <a:lnTo>
                    <a:pt x="241719" y="72986"/>
                  </a:lnTo>
                  <a:close/>
                </a:path>
                <a:path w="300354" h="387350">
                  <a:moveTo>
                    <a:pt x="29973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358140"/>
                  </a:lnTo>
                  <a:lnTo>
                    <a:pt x="0" y="387350"/>
                  </a:lnTo>
                  <a:lnTo>
                    <a:pt x="299732" y="387350"/>
                  </a:lnTo>
                  <a:lnTo>
                    <a:pt x="299732" y="358241"/>
                  </a:lnTo>
                  <a:lnTo>
                    <a:pt x="299732" y="29476"/>
                  </a:lnTo>
                  <a:lnTo>
                    <a:pt x="270725" y="29476"/>
                  </a:lnTo>
                  <a:lnTo>
                    <a:pt x="270725" y="358140"/>
                  </a:lnTo>
                  <a:lnTo>
                    <a:pt x="28994" y="358140"/>
                  </a:lnTo>
                  <a:lnTo>
                    <a:pt x="28994" y="29210"/>
                  </a:lnTo>
                  <a:lnTo>
                    <a:pt x="299732" y="29210"/>
                  </a:lnTo>
                  <a:lnTo>
                    <a:pt x="2997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4075" y="1628241"/>
              <a:ext cx="71547" cy="29006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959149" y="2310185"/>
            <a:ext cx="2795905" cy="1369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800" b="1">
                <a:solidFill>
                  <a:srgbClr val="F16629"/>
                </a:solidFill>
                <a:latin typeface="Times New Roman"/>
                <a:cs typeface="Times New Roman"/>
              </a:rPr>
              <a:t>Key</a:t>
            </a:r>
            <a:r>
              <a:rPr dirty="0" sz="1800" spc="13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Features</a:t>
            </a:r>
            <a:endParaRPr sz="1800">
              <a:latin typeface="Times New Roman"/>
              <a:cs typeface="Times New Roman"/>
            </a:endParaRPr>
          </a:p>
          <a:p>
            <a:pPr algn="ctr" marL="12700" marR="5080">
              <a:lnSpc>
                <a:spcPts val="1410"/>
              </a:lnSpc>
              <a:spcBef>
                <a:spcPts val="1395"/>
              </a:spcBef>
            </a:pPr>
            <a:r>
              <a:rPr dirty="0" sz="1250">
                <a:latin typeface="Times New Roman"/>
                <a:cs typeface="Times New Roman"/>
              </a:rPr>
              <a:t>AI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chatbot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that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understands</a:t>
            </a:r>
            <a:r>
              <a:rPr dirty="0" sz="1250" spc="16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incomplete </a:t>
            </a:r>
            <a:r>
              <a:rPr dirty="0" sz="1250" spc="45">
                <a:latin typeface="Times New Roman"/>
                <a:cs typeface="Times New Roman"/>
              </a:rPr>
              <a:t>queries,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detects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user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intent,</a:t>
            </a:r>
            <a:r>
              <a:rPr dirty="0" sz="1250" spc="21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asks </a:t>
            </a:r>
            <a:r>
              <a:rPr dirty="0" sz="1250" spc="45">
                <a:latin typeface="Times New Roman"/>
                <a:cs typeface="Times New Roman"/>
              </a:rPr>
              <a:t>clarification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questions,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10">
                <a:latin typeface="Times New Roman"/>
                <a:cs typeface="Times New Roman"/>
              </a:rPr>
              <a:t>and</a:t>
            </a:r>
            <a:r>
              <a:rPr dirty="0" sz="1250" spc="254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retrieves </a:t>
            </a:r>
            <a:r>
              <a:rPr dirty="0" sz="1250" spc="45">
                <a:latin typeface="Times New Roman"/>
                <a:cs typeface="Times New Roman"/>
              </a:rPr>
              <a:t>information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quickly</a:t>
            </a:r>
            <a:r>
              <a:rPr dirty="0" sz="1250" spc="26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from</a:t>
            </a:r>
            <a:r>
              <a:rPr dirty="0" sz="1250" spc="27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digital </a:t>
            </a:r>
            <a:r>
              <a:rPr dirty="0" sz="1250" spc="35">
                <a:latin typeface="Times New Roman"/>
                <a:cs typeface="Times New Roman"/>
              </a:rPr>
              <a:t>platforms.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90772" y="1378367"/>
            <a:ext cx="2972435" cy="2849880"/>
            <a:chOff x="6890772" y="1378367"/>
            <a:chExt cx="2972435" cy="2849880"/>
          </a:xfrm>
        </p:grpSpPr>
        <p:sp>
          <p:nvSpPr>
            <p:cNvPr id="19" name="object 19"/>
            <p:cNvSpPr/>
            <p:nvPr/>
          </p:nvSpPr>
          <p:spPr>
            <a:xfrm>
              <a:off x="6890772" y="1785487"/>
              <a:ext cx="2972435" cy="2442845"/>
            </a:xfrm>
            <a:custGeom>
              <a:avLst/>
              <a:gdLst/>
              <a:ahLst/>
              <a:cxnLst/>
              <a:rect l="l" t="t" r="r" b="b"/>
              <a:pathLst>
                <a:path w="2972434" h="2442845">
                  <a:moveTo>
                    <a:pt x="2971975" y="2442719"/>
                  </a:moveTo>
                  <a:lnTo>
                    <a:pt x="0" y="2442719"/>
                  </a:lnTo>
                  <a:lnTo>
                    <a:pt x="0" y="0"/>
                  </a:lnTo>
                  <a:lnTo>
                    <a:pt x="2971975" y="0"/>
                  </a:lnTo>
                  <a:lnTo>
                    <a:pt x="2971975" y="244271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73711" y="1378367"/>
              <a:ext cx="814239" cy="81423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890772" y="2310185"/>
            <a:ext cx="2972435" cy="1189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Uniqueness</a:t>
            </a:r>
            <a:endParaRPr sz="1800">
              <a:latin typeface="Times New Roman"/>
              <a:cs typeface="Times New Roman"/>
            </a:endParaRPr>
          </a:p>
          <a:p>
            <a:pPr algn="ctr" marL="106680" marR="102235">
              <a:lnSpc>
                <a:spcPts val="1410"/>
              </a:lnSpc>
              <a:spcBef>
                <a:spcPts val="1395"/>
              </a:spcBef>
            </a:pPr>
            <a:r>
              <a:rPr dirty="0" sz="1250">
                <a:latin typeface="Times New Roman"/>
                <a:cs typeface="Times New Roman"/>
              </a:rPr>
              <a:t>Uses</a:t>
            </a:r>
            <a:r>
              <a:rPr dirty="0" sz="1250" spc="12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AI</a:t>
            </a:r>
            <a:r>
              <a:rPr dirty="0" sz="1250" spc="21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21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NLP</a:t>
            </a:r>
            <a:r>
              <a:rPr dirty="0" sz="1250" spc="15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to</a:t>
            </a:r>
            <a:r>
              <a:rPr dirty="0" sz="1250" spc="21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understand </a:t>
            </a:r>
            <a:r>
              <a:rPr dirty="0" sz="1250" spc="45">
                <a:latin typeface="Times New Roman"/>
                <a:cs typeface="Times New Roman"/>
              </a:rPr>
              <a:t>incomplete</a:t>
            </a:r>
            <a:r>
              <a:rPr dirty="0" sz="1250" spc="14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queries,</a:t>
            </a:r>
            <a:r>
              <a:rPr dirty="0" sz="1250" spc="15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predict</a:t>
            </a:r>
            <a:r>
              <a:rPr dirty="0" sz="1250" spc="1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user</a:t>
            </a:r>
            <a:r>
              <a:rPr dirty="0" sz="1250" spc="15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intent, </a:t>
            </a:r>
            <a:r>
              <a:rPr dirty="0" sz="1250">
                <a:latin typeface="Times New Roman"/>
                <a:cs typeface="Times New Roman"/>
              </a:rPr>
              <a:t>and</a:t>
            </a:r>
            <a:r>
              <a:rPr dirty="0" sz="1250" spc="14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provide</a:t>
            </a:r>
            <a:r>
              <a:rPr dirty="0" sz="1250" spc="14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accurate</a:t>
            </a:r>
            <a:r>
              <a:rPr dirty="0" sz="1250" spc="14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responses</a:t>
            </a:r>
            <a:r>
              <a:rPr dirty="0" sz="1250" spc="14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unlike </a:t>
            </a:r>
            <a:r>
              <a:rPr dirty="0" sz="1250" spc="45">
                <a:latin typeface="Times New Roman"/>
                <a:cs typeface="Times New Roman"/>
              </a:rPr>
              <a:t>traditional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 spc="50">
                <a:latin typeface="Times New Roman"/>
                <a:cs typeface="Times New Roman"/>
              </a:rPr>
              <a:t>keyword-</a:t>
            </a:r>
            <a:r>
              <a:rPr dirty="0" sz="1250">
                <a:latin typeface="Times New Roman"/>
                <a:cs typeface="Times New Roman"/>
              </a:rPr>
              <a:t>based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systems.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Solution</a:t>
            </a:r>
            <a:r>
              <a:rPr dirty="0" spc="265"/>
              <a:t> </a:t>
            </a:r>
            <a:r>
              <a:rPr dirty="0" spc="-10"/>
              <a:t>Benefits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26975" y="1541215"/>
            <a:ext cx="2231390" cy="4234180"/>
            <a:chOff x="726975" y="1541215"/>
            <a:chExt cx="2231390" cy="4234180"/>
          </a:xfrm>
        </p:grpSpPr>
        <p:sp>
          <p:nvSpPr>
            <p:cNvPr id="5" name="object 5"/>
            <p:cNvSpPr/>
            <p:nvPr/>
          </p:nvSpPr>
          <p:spPr>
            <a:xfrm>
              <a:off x="726975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35354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33" y="48069"/>
                  </a:lnTo>
                  <a:lnTo>
                    <a:pt x="562927" y="30988"/>
                  </a:lnTo>
                  <a:lnTo>
                    <a:pt x="525310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93379" y="1803043"/>
              <a:ext cx="305435" cy="265430"/>
            </a:xfrm>
            <a:custGeom>
              <a:avLst/>
              <a:gdLst/>
              <a:ahLst/>
              <a:cxnLst/>
              <a:rect l="l" t="t" r="r" b="b"/>
              <a:pathLst>
                <a:path w="305435" h="265430">
                  <a:moveTo>
                    <a:pt x="305333" y="143129"/>
                  </a:moveTo>
                  <a:lnTo>
                    <a:pt x="175564" y="143129"/>
                  </a:lnTo>
                  <a:lnTo>
                    <a:pt x="175564" y="150774"/>
                  </a:lnTo>
                  <a:lnTo>
                    <a:pt x="175564" y="159169"/>
                  </a:lnTo>
                  <a:lnTo>
                    <a:pt x="168694" y="166039"/>
                  </a:lnTo>
                  <a:lnTo>
                    <a:pt x="136626" y="166039"/>
                  </a:lnTo>
                  <a:lnTo>
                    <a:pt x="129755" y="159169"/>
                  </a:lnTo>
                  <a:lnTo>
                    <a:pt x="129755" y="143129"/>
                  </a:lnTo>
                  <a:lnTo>
                    <a:pt x="0" y="143129"/>
                  </a:lnTo>
                  <a:lnTo>
                    <a:pt x="0" y="258406"/>
                  </a:lnTo>
                  <a:lnTo>
                    <a:pt x="6858" y="265264"/>
                  </a:lnTo>
                  <a:lnTo>
                    <a:pt x="298462" y="265264"/>
                  </a:lnTo>
                  <a:lnTo>
                    <a:pt x="305333" y="258406"/>
                  </a:lnTo>
                  <a:lnTo>
                    <a:pt x="305333" y="143129"/>
                  </a:lnTo>
                  <a:close/>
                </a:path>
                <a:path w="305435" h="265430">
                  <a:moveTo>
                    <a:pt x="305333" y="58407"/>
                  </a:moveTo>
                  <a:lnTo>
                    <a:pt x="298462" y="51523"/>
                  </a:lnTo>
                  <a:lnTo>
                    <a:pt x="213728" y="51523"/>
                  </a:lnTo>
                  <a:lnTo>
                    <a:pt x="213728" y="26733"/>
                  </a:lnTo>
                  <a:lnTo>
                    <a:pt x="212966" y="22910"/>
                  </a:lnTo>
                  <a:lnTo>
                    <a:pt x="211645" y="16268"/>
                  </a:lnTo>
                  <a:lnTo>
                    <a:pt x="205955" y="7785"/>
                  </a:lnTo>
                  <a:lnTo>
                    <a:pt x="197459" y="2082"/>
                  </a:lnTo>
                  <a:lnTo>
                    <a:pt x="190830" y="762"/>
                  </a:lnTo>
                  <a:lnTo>
                    <a:pt x="190830" y="24434"/>
                  </a:lnTo>
                  <a:lnTo>
                    <a:pt x="190830" y="51523"/>
                  </a:lnTo>
                  <a:lnTo>
                    <a:pt x="114490" y="51523"/>
                  </a:lnTo>
                  <a:lnTo>
                    <a:pt x="114490" y="24434"/>
                  </a:lnTo>
                  <a:lnTo>
                    <a:pt x="116027" y="22910"/>
                  </a:lnTo>
                  <a:lnTo>
                    <a:pt x="189306" y="22910"/>
                  </a:lnTo>
                  <a:lnTo>
                    <a:pt x="190830" y="24434"/>
                  </a:lnTo>
                  <a:lnTo>
                    <a:pt x="190830" y="762"/>
                  </a:lnTo>
                  <a:lnTo>
                    <a:pt x="187007" y="0"/>
                  </a:lnTo>
                  <a:lnTo>
                    <a:pt x="118313" y="0"/>
                  </a:lnTo>
                  <a:lnTo>
                    <a:pt x="107861" y="2082"/>
                  </a:lnTo>
                  <a:lnTo>
                    <a:pt x="99377" y="7785"/>
                  </a:lnTo>
                  <a:lnTo>
                    <a:pt x="93675" y="16268"/>
                  </a:lnTo>
                  <a:lnTo>
                    <a:pt x="91592" y="26733"/>
                  </a:lnTo>
                  <a:lnTo>
                    <a:pt x="91592" y="51523"/>
                  </a:lnTo>
                  <a:lnTo>
                    <a:pt x="6858" y="51523"/>
                  </a:lnTo>
                  <a:lnTo>
                    <a:pt x="0" y="58407"/>
                  </a:lnTo>
                  <a:lnTo>
                    <a:pt x="0" y="127863"/>
                  </a:lnTo>
                  <a:lnTo>
                    <a:pt x="129755" y="127863"/>
                  </a:lnTo>
                  <a:lnTo>
                    <a:pt x="129755" y="120230"/>
                  </a:lnTo>
                  <a:lnTo>
                    <a:pt x="175564" y="120230"/>
                  </a:lnTo>
                  <a:lnTo>
                    <a:pt x="175564" y="127863"/>
                  </a:lnTo>
                  <a:lnTo>
                    <a:pt x="305333" y="127863"/>
                  </a:lnTo>
                  <a:lnTo>
                    <a:pt x="305333" y="120230"/>
                  </a:lnTo>
                  <a:lnTo>
                    <a:pt x="305333" y="584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17580" y="2416037"/>
            <a:ext cx="1844039" cy="186245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445770" marR="437515">
              <a:lnSpc>
                <a:spcPts val="1730"/>
              </a:lnSpc>
              <a:spcBef>
                <a:spcPts val="254"/>
              </a:spcBef>
            </a:pP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Functional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>
              <a:lnSpc>
                <a:spcPct val="92300"/>
              </a:lnSpc>
              <a:spcBef>
                <a:spcPts val="660"/>
              </a:spcBef>
            </a:pPr>
            <a:r>
              <a:rPr dirty="0" sz="1150">
                <a:latin typeface="Times New Roman"/>
                <a:cs typeface="Times New Roman"/>
              </a:rPr>
              <a:t>Quickly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access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accurate </a:t>
            </a:r>
            <a:r>
              <a:rPr dirty="0" sz="1150">
                <a:latin typeface="Times New Roman"/>
                <a:cs typeface="Times New Roman"/>
              </a:rPr>
              <a:t>information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from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digital </a:t>
            </a:r>
            <a:r>
              <a:rPr dirty="0" sz="1150">
                <a:latin typeface="Times New Roman"/>
                <a:cs typeface="Times New Roman"/>
              </a:rPr>
              <a:t>platforms,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Get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answers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even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incomplete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unclear </a:t>
            </a:r>
            <a:r>
              <a:rPr dirty="0" sz="1150">
                <a:latin typeface="Times New Roman"/>
                <a:cs typeface="Times New Roman"/>
              </a:rPr>
              <a:t>queries,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Reduce</a:t>
            </a:r>
            <a:r>
              <a:rPr dirty="0" sz="1150" spc="26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time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spent </a:t>
            </a:r>
            <a:r>
              <a:rPr dirty="0" sz="1150">
                <a:latin typeface="Times New Roman"/>
                <a:cs typeface="Times New Roman"/>
              </a:rPr>
              <a:t>searching</a:t>
            </a:r>
            <a:r>
              <a:rPr dirty="0" sz="1150" spc="3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multiple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websites, </a:t>
            </a:r>
            <a:r>
              <a:rPr dirty="0" sz="1150">
                <a:latin typeface="Times New Roman"/>
                <a:cs typeface="Times New Roman"/>
              </a:rPr>
              <a:t>Simplify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interaction</a:t>
            </a:r>
            <a:r>
              <a:rPr dirty="0" sz="1150" spc="39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with </a:t>
            </a:r>
            <a:r>
              <a:rPr dirty="0" sz="1150">
                <a:latin typeface="Times New Roman"/>
                <a:cs typeface="Times New Roman"/>
              </a:rPr>
              <a:t>complex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system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088271" y="1541215"/>
            <a:ext cx="2231390" cy="4234180"/>
            <a:chOff x="3088271" y="1541215"/>
            <a:chExt cx="2231390" cy="4234180"/>
          </a:xfrm>
        </p:grpSpPr>
        <p:sp>
          <p:nvSpPr>
            <p:cNvPr id="10" name="object 10"/>
            <p:cNvSpPr/>
            <p:nvPr/>
          </p:nvSpPr>
          <p:spPr>
            <a:xfrm>
              <a:off x="3088271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796652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310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76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40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490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81326" y="1751061"/>
              <a:ext cx="253365" cy="354330"/>
            </a:xfrm>
            <a:custGeom>
              <a:avLst/>
              <a:gdLst/>
              <a:ahLst/>
              <a:cxnLst/>
              <a:rect l="l" t="t" r="r" b="b"/>
              <a:pathLst>
                <a:path w="253364" h="354330">
                  <a:moveTo>
                    <a:pt x="126524" y="353836"/>
                  </a:moveTo>
                  <a:lnTo>
                    <a:pt x="106755" y="340160"/>
                  </a:lnTo>
                  <a:lnTo>
                    <a:pt x="63262" y="304414"/>
                  </a:lnTo>
                  <a:lnTo>
                    <a:pt x="19769" y="254524"/>
                  </a:lnTo>
                  <a:lnTo>
                    <a:pt x="45" y="198544"/>
                  </a:lnTo>
                  <a:lnTo>
                    <a:pt x="0" y="198414"/>
                  </a:lnTo>
                  <a:lnTo>
                    <a:pt x="2662" y="182154"/>
                  </a:lnTo>
                  <a:lnTo>
                    <a:pt x="10073" y="166757"/>
                  </a:lnTo>
                  <a:lnTo>
                    <a:pt x="21369" y="153346"/>
                  </a:lnTo>
                  <a:lnTo>
                    <a:pt x="35688" y="143045"/>
                  </a:lnTo>
                  <a:lnTo>
                    <a:pt x="35688" y="90836"/>
                  </a:lnTo>
                  <a:lnTo>
                    <a:pt x="42826" y="55479"/>
                  </a:lnTo>
                  <a:lnTo>
                    <a:pt x="62294" y="26606"/>
                  </a:lnTo>
                  <a:lnTo>
                    <a:pt x="91167" y="7138"/>
                  </a:lnTo>
                  <a:lnTo>
                    <a:pt x="126524" y="0"/>
                  </a:lnTo>
                  <a:lnTo>
                    <a:pt x="161881" y="7138"/>
                  </a:lnTo>
                  <a:lnTo>
                    <a:pt x="189781" y="25949"/>
                  </a:lnTo>
                  <a:lnTo>
                    <a:pt x="126524" y="25949"/>
                  </a:lnTo>
                  <a:lnTo>
                    <a:pt x="101268" y="31049"/>
                  </a:lnTo>
                  <a:lnTo>
                    <a:pt x="80643" y="44955"/>
                  </a:lnTo>
                  <a:lnTo>
                    <a:pt x="66737" y="65580"/>
                  </a:lnTo>
                  <a:lnTo>
                    <a:pt x="61638" y="90836"/>
                  </a:lnTo>
                  <a:lnTo>
                    <a:pt x="61638" y="135849"/>
                  </a:lnTo>
                  <a:lnTo>
                    <a:pt x="78445" y="138067"/>
                  </a:lnTo>
                  <a:lnTo>
                    <a:pt x="95314" y="146239"/>
                  </a:lnTo>
                  <a:lnTo>
                    <a:pt x="111567" y="161272"/>
                  </a:lnTo>
                  <a:lnTo>
                    <a:pt x="126524" y="184058"/>
                  </a:lnTo>
                  <a:lnTo>
                    <a:pt x="248795" y="184058"/>
                  </a:lnTo>
                  <a:lnTo>
                    <a:pt x="253011" y="198414"/>
                  </a:lnTo>
                  <a:lnTo>
                    <a:pt x="253049" y="198544"/>
                  </a:lnTo>
                  <a:lnTo>
                    <a:pt x="248313" y="211966"/>
                  </a:lnTo>
                  <a:lnTo>
                    <a:pt x="124971" y="211966"/>
                  </a:lnTo>
                  <a:lnTo>
                    <a:pt x="115341" y="214460"/>
                  </a:lnTo>
                  <a:lnTo>
                    <a:pt x="107347" y="220383"/>
                  </a:lnTo>
                  <a:lnTo>
                    <a:pt x="102056" y="229224"/>
                  </a:lnTo>
                  <a:lnTo>
                    <a:pt x="100611" y="239430"/>
                  </a:lnTo>
                  <a:lnTo>
                    <a:pt x="103106" y="249062"/>
                  </a:lnTo>
                  <a:lnTo>
                    <a:pt x="109031" y="257056"/>
                  </a:lnTo>
                  <a:lnTo>
                    <a:pt x="117877" y="262348"/>
                  </a:lnTo>
                  <a:lnTo>
                    <a:pt x="117877" y="285488"/>
                  </a:lnTo>
                  <a:lnTo>
                    <a:pt x="206313" y="285488"/>
                  </a:lnTo>
                  <a:lnTo>
                    <a:pt x="189801" y="304414"/>
                  </a:lnTo>
                  <a:lnTo>
                    <a:pt x="146296" y="340160"/>
                  </a:lnTo>
                  <a:lnTo>
                    <a:pt x="126524" y="353836"/>
                  </a:lnTo>
                  <a:close/>
                </a:path>
                <a:path w="253364" h="354330">
                  <a:moveTo>
                    <a:pt x="217361" y="108139"/>
                  </a:moveTo>
                  <a:lnTo>
                    <a:pt x="191411" y="108139"/>
                  </a:lnTo>
                  <a:lnTo>
                    <a:pt x="191411" y="90836"/>
                  </a:lnTo>
                  <a:lnTo>
                    <a:pt x="186312" y="65580"/>
                  </a:lnTo>
                  <a:lnTo>
                    <a:pt x="172406" y="44955"/>
                  </a:lnTo>
                  <a:lnTo>
                    <a:pt x="151781" y="31049"/>
                  </a:lnTo>
                  <a:lnTo>
                    <a:pt x="126524" y="25949"/>
                  </a:lnTo>
                  <a:lnTo>
                    <a:pt x="189781" y="25949"/>
                  </a:lnTo>
                  <a:lnTo>
                    <a:pt x="190755" y="26606"/>
                  </a:lnTo>
                  <a:lnTo>
                    <a:pt x="210222" y="55479"/>
                  </a:lnTo>
                  <a:lnTo>
                    <a:pt x="217361" y="90836"/>
                  </a:lnTo>
                  <a:lnTo>
                    <a:pt x="217361" y="108139"/>
                  </a:lnTo>
                  <a:close/>
                </a:path>
                <a:path w="253364" h="354330">
                  <a:moveTo>
                    <a:pt x="248795" y="184058"/>
                  </a:moveTo>
                  <a:lnTo>
                    <a:pt x="126524" y="184058"/>
                  </a:lnTo>
                  <a:lnTo>
                    <a:pt x="157702" y="146239"/>
                  </a:lnTo>
                  <a:lnTo>
                    <a:pt x="191318" y="135849"/>
                  </a:lnTo>
                  <a:lnTo>
                    <a:pt x="222017" y="145812"/>
                  </a:lnTo>
                  <a:lnTo>
                    <a:pt x="244392" y="169065"/>
                  </a:lnTo>
                  <a:lnTo>
                    <a:pt x="248795" y="184058"/>
                  </a:lnTo>
                  <a:close/>
                </a:path>
                <a:path w="253364" h="354330">
                  <a:moveTo>
                    <a:pt x="206313" y="285488"/>
                  </a:moveTo>
                  <a:lnTo>
                    <a:pt x="135172" y="285488"/>
                  </a:lnTo>
                  <a:lnTo>
                    <a:pt x="135172" y="262348"/>
                  </a:lnTo>
                  <a:lnTo>
                    <a:pt x="142565" y="259734"/>
                  </a:lnTo>
                  <a:lnTo>
                    <a:pt x="148378" y="253920"/>
                  </a:lnTo>
                  <a:lnTo>
                    <a:pt x="150992" y="246527"/>
                  </a:lnTo>
                  <a:lnTo>
                    <a:pt x="152437" y="236326"/>
                  </a:lnTo>
                  <a:lnTo>
                    <a:pt x="149943" y="226696"/>
                  </a:lnTo>
                  <a:lnTo>
                    <a:pt x="144018" y="218703"/>
                  </a:lnTo>
                  <a:lnTo>
                    <a:pt x="135172" y="213412"/>
                  </a:lnTo>
                  <a:lnTo>
                    <a:pt x="124971" y="211966"/>
                  </a:lnTo>
                  <a:lnTo>
                    <a:pt x="248313" y="211966"/>
                  </a:lnTo>
                  <a:lnTo>
                    <a:pt x="233299" y="254524"/>
                  </a:lnTo>
                  <a:lnTo>
                    <a:pt x="231118" y="257056"/>
                  </a:lnTo>
                  <a:lnTo>
                    <a:pt x="206313" y="285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251523" y="2416037"/>
            <a:ext cx="1898650" cy="153670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492125" marR="484505">
              <a:lnSpc>
                <a:spcPts val="1730"/>
              </a:lnSpc>
              <a:spcBef>
                <a:spcPts val="254"/>
              </a:spcBef>
            </a:pPr>
            <a:r>
              <a:rPr dirty="0" sz="1500" spc="40" b="1">
                <a:solidFill>
                  <a:srgbClr val="F16629"/>
                </a:solidFill>
                <a:latin typeface="Times New Roman"/>
                <a:cs typeface="Times New Roman"/>
              </a:rPr>
              <a:t>Emotional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065" marR="5080">
              <a:lnSpc>
                <a:spcPct val="920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Reduced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frustration</a:t>
            </a:r>
            <a:r>
              <a:rPr dirty="0" sz="1150" spc="38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when </a:t>
            </a:r>
            <a:r>
              <a:rPr dirty="0" sz="1150">
                <a:latin typeface="Times New Roman"/>
                <a:cs typeface="Times New Roman"/>
              </a:rPr>
              <a:t>searching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information, </a:t>
            </a:r>
            <a:r>
              <a:rPr dirty="0" sz="1150">
                <a:latin typeface="Times New Roman"/>
                <a:cs typeface="Times New Roman"/>
              </a:rPr>
              <a:t>Greater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confidence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8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using </a:t>
            </a:r>
            <a:r>
              <a:rPr dirty="0" sz="1150">
                <a:latin typeface="Times New Roman"/>
                <a:cs typeface="Times New Roman"/>
              </a:rPr>
              <a:t>digital</a:t>
            </a:r>
            <a:r>
              <a:rPr dirty="0" sz="1150" spc="35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platforms,</a:t>
            </a:r>
            <a:r>
              <a:rPr dirty="0" sz="1150" spc="35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Feeling </a:t>
            </a:r>
            <a:r>
              <a:rPr dirty="0" sz="1150">
                <a:latin typeface="Times New Roman"/>
                <a:cs typeface="Times New Roman"/>
              </a:rPr>
              <a:t>satisfied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supported</a:t>
            </a:r>
            <a:r>
              <a:rPr dirty="0" sz="1150" spc="31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while </a:t>
            </a:r>
            <a:r>
              <a:rPr dirty="0" sz="1150">
                <a:latin typeface="Times New Roman"/>
                <a:cs typeface="Times New Roman"/>
              </a:rPr>
              <a:t>interacting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with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systems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49567" y="1541215"/>
            <a:ext cx="2231390" cy="4234180"/>
            <a:chOff x="5449567" y="1541215"/>
            <a:chExt cx="2231390" cy="4234180"/>
          </a:xfrm>
        </p:grpSpPr>
        <p:sp>
          <p:nvSpPr>
            <p:cNvPr id="15" name="object 15"/>
            <p:cNvSpPr/>
            <p:nvPr/>
          </p:nvSpPr>
          <p:spPr>
            <a:xfrm>
              <a:off x="5449567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57950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37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76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55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06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15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16" y="804341"/>
                  </a:lnTo>
                  <a:lnTo>
                    <a:pt x="534822" y="793686"/>
                  </a:lnTo>
                  <a:lnTo>
                    <a:pt x="572109" y="779310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63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40" y="476719"/>
                  </a:lnTo>
                  <a:lnTo>
                    <a:pt x="813142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94425" y="1761413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39">
                  <a:moveTo>
                    <a:pt x="130987" y="173520"/>
                  </a:moveTo>
                  <a:lnTo>
                    <a:pt x="124675" y="170408"/>
                  </a:lnTo>
                  <a:lnTo>
                    <a:pt x="118706" y="166649"/>
                  </a:lnTo>
                  <a:lnTo>
                    <a:pt x="113157" y="162331"/>
                  </a:lnTo>
                  <a:lnTo>
                    <a:pt x="86868" y="207924"/>
                  </a:lnTo>
                  <a:lnTo>
                    <a:pt x="93789" y="209626"/>
                  </a:lnTo>
                  <a:lnTo>
                    <a:pt x="100469" y="212204"/>
                  </a:lnTo>
                  <a:lnTo>
                    <a:pt x="106743" y="215595"/>
                  </a:lnTo>
                  <a:lnTo>
                    <a:pt x="130987" y="173520"/>
                  </a:lnTo>
                  <a:close/>
                </a:path>
                <a:path w="358140" h="358139">
                  <a:moveTo>
                    <a:pt x="131470" y="291846"/>
                  </a:moveTo>
                  <a:lnTo>
                    <a:pt x="130810" y="288632"/>
                  </a:lnTo>
                  <a:lnTo>
                    <a:pt x="126301" y="266255"/>
                  </a:lnTo>
                  <a:lnTo>
                    <a:pt x="116497" y="251726"/>
                  </a:lnTo>
                  <a:lnTo>
                    <a:pt x="112204" y="245364"/>
                  </a:lnTo>
                  <a:lnTo>
                    <a:pt x="102577" y="238874"/>
                  </a:lnTo>
                  <a:lnTo>
                    <a:pt x="102577" y="308737"/>
                  </a:lnTo>
                  <a:lnTo>
                    <a:pt x="102539" y="325653"/>
                  </a:lnTo>
                  <a:lnTo>
                    <a:pt x="28917" y="325653"/>
                  </a:lnTo>
                  <a:lnTo>
                    <a:pt x="28981" y="308737"/>
                  </a:lnTo>
                  <a:lnTo>
                    <a:pt x="55778" y="293966"/>
                  </a:lnTo>
                  <a:lnTo>
                    <a:pt x="56007" y="293966"/>
                  </a:lnTo>
                  <a:lnTo>
                    <a:pt x="61061" y="293192"/>
                  </a:lnTo>
                  <a:lnTo>
                    <a:pt x="70929" y="293192"/>
                  </a:lnTo>
                  <a:lnTo>
                    <a:pt x="76047" y="293966"/>
                  </a:lnTo>
                  <a:lnTo>
                    <a:pt x="80975" y="295478"/>
                  </a:lnTo>
                  <a:lnTo>
                    <a:pt x="87503" y="297167"/>
                  </a:lnTo>
                  <a:lnTo>
                    <a:pt x="93624" y="300151"/>
                  </a:lnTo>
                  <a:lnTo>
                    <a:pt x="98958" y="304266"/>
                  </a:lnTo>
                  <a:lnTo>
                    <a:pt x="101219" y="306044"/>
                  </a:lnTo>
                  <a:lnTo>
                    <a:pt x="102577" y="308737"/>
                  </a:lnTo>
                  <a:lnTo>
                    <a:pt x="102577" y="238874"/>
                  </a:lnTo>
                  <a:lnTo>
                    <a:pt x="91313" y="231279"/>
                  </a:lnTo>
                  <a:lnTo>
                    <a:pt x="84239" y="229857"/>
                  </a:lnTo>
                  <a:lnTo>
                    <a:pt x="84239" y="270129"/>
                  </a:lnTo>
                  <a:lnTo>
                    <a:pt x="82804" y="277317"/>
                  </a:lnTo>
                  <a:lnTo>
                    <a:pt x="78867" y="283197"/>
                  </a:lnTo>
                  <a:lnTo>
                    <a:pt x="73012" y="287172"/>
                  </a:lnTo>
                  <a:lnTo>
                    <a:pt x="65836" y="288632"/>
                  </a:lnTo>
                  <a:lnTo>
                    <a:pt x="58445" y="287172"/>
                  </a:lnTo>
                  <a:lnTo>
                    <a:pt x="58585" y="287172"/>
                  </a:lnTo>
                  <a:lnTo>
                    <a:pt x="52717" y="283197"/>
                  </a:lnTo>
                  <a:lnTo>
                    <a:pt x="48768" y="277317"/>
                  </a:lnTo>
                  <a:lnTo>
                    <a:pt x="47345" y="270129"/>
                  </a:lnTo>
                  <a:lnTo>
                    <a:pt x="48806" y="262940"/>
                  </a:lnTo>
                  <a:lnTo>
                    <a:pt x="52781" y="257086"/>
                  </a:lnTo>
                  <a:lnTo>
                    <a:pt x="58724" y="253149"/>
                  </a:lnTo>
                  <a:lnTo>
                    <a:pt x="65735" y="251726"/>
                  </a:lnTo>
                  <a:lnTo>
                    <a:pt x="72923" y="253149"/>
                  </a:lnTo>
                  <a:lnTo>
                    <a:pt x="78790" y="257086"/>
                  </a:lnTo>
                  <a:lnTo>
                    <a:pt x="82765" y="262940"/>
                  </a:lnTo>
                  <a:lnTo>
                    <a:pt x="84239" y="270129"/>
                  </a:lnTo>
                  <a:lnTo>
                    <a:pt x="84239" y="229857"/>
                  </a:lnTo>
                  <a:lnTo>
                    <a:pt x="40144" y="231279"/>
                  </a:lnTo>
                  <a:lnTo>
                    <a:pt x="5156" y="266255"/>
                  </a:lnTo>
                  <a:lnTo>
                    <a:pt x="0" y="291846"/>
                  </a:lnTo>
                  <a:lnTo>
                    <a:pt x="5156" y="317436"/>
                  </a:lnTo>
                  <a:lnTo>
                    <a:pt x="19253" y="338328"/>
                  </a:lnTo>
                  <a:lnTo>
                    <a:pt x="40144" y="352412"/>
                  </a:lnTo>
                  <a:lnTo>
                    <a:pt x="65735" y="357581"/>
                  </a:lnTo>
                  <a:lnTo>
                    <a:pt x="91313" y="352412"/>
                  </a:lnTo>
                  <a:lnTo>
                    <a:pt x="112204" y="338328"/>
                  </a:lnTo>
                  <a:lnTo>
                    <a:pt x="120751" y="325653"/>
                  </a:lnTo>
                  <a:lnTo>
                    <a:pt x="126301" y="317436"/>
                  </a:lnTo>
                  <a:lnTo>
                    <a:pt x="131191" y="293192"/>
                  </a:lnTo>
                  <a:lnTo>
                    <a:pt x="131470" y="291846"/>
                  </a:lnTo>
                  <a:close/>
                </a:path>
                <a:path w="358140" h="358139">
                  <a:moveTo>
                    <a:pt x="206184" y="304990"/>
                  </a:moveTo>
                  <a:lnTo>
                    <a:pt x="205473" y="300647"/>
                  </a:lnTo>
                  <a:lnTo>
                    <a:pt x="205105" y="296252"/>
                  </a:lnTo>
                  <a:lnTo>
                    <a:pt x="205092" y="289217"/>
                  </a:lnTo>
                  <a:lnTo>
                    <a:pt x="205232" y="286575"/>
                  </a:lnTo>
                  <a:lnTo>
                    <a:pt x="205498" y="283959"/>
                  </a:lnTo>
                  <a:lnTo>
                    <a:pt x="152069" y="283959"/>
                  </a:lnTo>
                  <a:lnTo>
                    <a:pt x="152349" y="286575"/>
                  </a:lnTo>
                  <a:lnTo>
                    <a:pt x="152488" y="289217"/>
                  </a:lnTo>
                  <a:lnTo>
                    <a:pt x="152476" y="296252"/>
                  </a:lnTo>
                  <a:lnTo>
                    <a:pt x="152107" y="300647"/>
                  </a:lnTo>
                  <a:lnTo>
                    <a:pt x="151384" y="304990"/>
                  </a:lnTo>
                  <a:lnTo>
                    <a:pt x="206184" y="304990"/>
                  </a:lnTo>
                  <a:close/>
                </a:path>
                <a:path w="358140" h="358139">
                  <a:moveTo>
                    <a:pt x="257670" y="81495"/>
                  </a:moveTo>
                  <a:lnTo>
                    <a:pt x="256819" y="77292"/>
                  </a:lnTo>
                  <a:lnTo>
                    <a:pt x="251269" y="49771"/>
                  </a:lnTo>
                  <a:lnTo>
                    <a:pt x="238975" y="31546"/>
                  </a:lnTo>
                  <a:lnTo>
                    <a:pt x="233794" y="23863"/>
                  </a:lnTo>
                  <a:lnTo>
                    <a:pt x="221653" y="15684"/>
                  </a:lnTo>
                  <a:lnTo>
                    <a:pt x="221653" y="123253"/>
                  </a:lnTo>
                  <a:lnTo>
                    <a:pt x="130302" y="123253"/>
                  </a:lnTo>
                  <a:lnTo>
                    <a:pt x="149136" y="88011"/>
                  </a:lnTo>
                  <a:lnTo>
                    <a:pt x="163537" y="83832"/>
                  </a:lnTo>
                  <a:lnTo>
                    <a:pt x="163804" y="83832"/>
                  </a:lnTo>
                  <a:lnTo>
                    <a:pt x="170154" y="82880"/>
                  </a:lnTo>
                  <a:lnTo>
                    <a:pt x="182384" y="82880"/>
                  </a:lnTo>
                  <a:lnTo>
                    <a:pt x="188734" y="83832"/>
                  </a:lnTo>
                  <a:lnTo>
                    <a:pt x="194830" y="85712"/>
                  </a:lnTo>
                  <a:lnTo>
                    <a:pt x="202907" y="87807"/>
                  </a:lnTo>
                  <a:lnTo>
                    <a:pt x="221653" y="123253"/>
                  </a:lnTo>
                  <a:lnTo>
                    <a:pt x="221653" y="15684"/>
                  </a:lnTo>
                  <a:lnTo>
                    <a:pt x="207886" y="6400"/>
                  </a:lnTo>
                  <a:lnTo>
                    <a:pt x="198869" y="4584"/>
                  </a:lnTo>
                  <a:lnTo>
                    <a:pt x="198869" y="54419"/>
                  </a:lnTo>
                  <a:lnTo>
                    <a:pt x="197078" y="63322"/>
                  </a:lnTo>
                  <a:lnTo>
                    <a:pt x="192176" y="70599"/>
                  </a:lnTo>
                  <a:lnTo>
                    <a:pt x="184899" y="75488"/>
                  </a:lnTo>
                  <a:lnTo>
                    <a:pt x="176009" y="77292"/>
                  </a:lnTo>
                  <a:lnTo>
                    <a:pt x="167093" y="75488"/>
                  </a:lnTo>
                  <a:lnTo>
                    <a:pt x="159829" y="70599"/>
                  </a:lnTo>
                  <a:lnTo>
                    <a:pt x="154927" y="63322"/>
                  </a:lnTo>
                  <a:lnTo>
                    <a:pt x="153123" y="54419"/>
                  </a:lnTo>
                  <a:lnTo>
                    <a:pt x="154940" y="45516"/>
                  </a:lnTo>
                  <a:lnTo>
                    <a:pt x="159867" y="38239"/>
                  </a:lnTo>
                  <a:lnTo>
                    <a:pt x="167170" y="33337"/>
                  </a:lnTo>
                  <a:lnTo>
                    <a:pt x="176009" y="31546"/>
                  </a:lnTo>
                  <a:lnTo>
                    <a:pt x="184899" y="33337"/>
                  </a:lnTo>
                  <a:lnTo>
                    <a:pt x="192176" y="38239"/>
                  </a:lnTo>
                  <a:lnTo>
                    <a:pt x="197078" y="45516"/>
                  </a:lnTo>
                  <a:lnTo>
                    <a:pt x="198869" y="54419"/>
                  </a:lnTo>
                  <a:lnTo>
                    <a:pt x="198869" y="4584"/>
                  </a:lnTo>
                  <a:lnTo>
                    <a:pt x="144424" y="6400"/>
                  </a:lnTo>
                  <a:lnTo>
                    <a:pt x="101053" y="49771"/>
                  </a:lnTo>
                  <a:lnTo>
                    <a:pt x="94653" y="81495"/>
                  </a:lnTo>
                  <a:lnTo>
                    <a:pt x="101053" y="113233"/>
                  </a:lnTo>
                  <a:lnTo>
                    <a:pt x="118529" y="139141"/>
                  </a:lnTo>
                  <a:lnTo>
                    <a:pt x="144424" y="156603"/>
                  </a:lnTo>
                  <a:lnTo>
                    <a:pt x="176161" y="163004"/>
                  </a:lnTo>
                  <a:lnTo>
                    <a:pt x="207886" y="156603"/>
                  </a:lnTo>
                  <a:lnTo>
                    <a:pt x="233794" y="139141"/>
                  </a:lnTo>
                  <a:lnTo>
                    <a:pt x="244500" y="123253"/>
                  </a:lnTo>
                  <a:lnTo>
                    <a:pt x="251269" y="113233"/>
                  </a:lnTo>
                  <a:lnTo>
                    <a:pt x="257390" y="82880"/>
                  </a:lnTo>
                  <a:lnTo>
                    <a:pt x="257670" y="81495"/>
                  </a:lnTo>
                  <a:close/>
                </a:path>
                <a:path w="358140" h="358139">
                  <a:moveTo>
                    <a:pt x="266395" y="208965"/>
                  </a:moveTo>
                  <a:lnTo>
                    <a:pt x="239420" y="162229"/>
                  </a:lnTo>
                  <a:lnTo>
                    <a:pt x="233794" y="166598"/>
                  </a:lnTo>
                  <a:lnTo>
                    <a:pt x="227736" y="170395"/>
                  </a:lnTo>
                  <a:lnTo>
                    <a:pt x="221335" y="173520"/>
                  </a:lnTo>
                  <a:lnTo>
                    <a:pt x="247154" y="217754"/>
                  </a:lnTo>
                  <a:lnTo>
                    <a:pt x="253174" y="214045"/>
                  </a:lnTo>
                  <a:lnTo>
                    <a:pt x="259638" y="211099"/>
                  </a:lnTo>
                  <a:lnTo>
                    <a:pt x="266395" y="208965"/>
                  </a:lnTo>
                  <a:close/>
                </a:path>
                <a:path w="358140" h="358139">
                  <a:moveTo>
                    <a:pt x="357581" y="291846"/>
                  </a:moveTo>
                  <a:lnTo>
                    <a:pt x="342620" y="251726"/>
                  </a:lnTo>
                  <a:lnTo>
                    <a:pt x="328701" y="238874"/>
                  </a:lnTo>
                  <a:lnTo>
                    <a:pt x="328701" y="308737"/>
                  </a:lnTo>
                  <a:lnTo>
                    <a:pt x="328650" y="325653"/>
                  </a:lnTo>
                  <a:lnTo>
                    <a:pt x="255041" y="325653"/>
                  </a:lnTo>
                  <a:lnTo>
                    <a:pt x="255104" y="308737"/>
                  </a:lnTo>
                  <a:lnTo>
                    <a:pt x="281889" y="293966"/>
                  </a:lnTo>
                  <a:lnTo>
                    <a:pt x="282117" y="293966"/>
                  </a:lnTo>
                  <a:lnTo>
                    <a:pt x="287185" y="293192"/>
                  </a:lnTo>
                  <a:lnTo>
                    <a:pt x="297053" y="293192"/>
                  </a:lnTo>
                  <a:lnTo>
                    <a:pt x="302171" y="293966"/>
                  </a:lnTo>
                  <a:lnTo>
                    <a:pt x="307098" y="295478"/>
                  </a:lnTo>
                  <a:lnTo>
                    <a:pt x="313613" y="297167"/>
                  </a:lnTo>
                  <a:lnTo>
                    <a:pt x="319735" y="300151"/>
                  </a:lnTo>
                  <a:lnTo>
                    <a:pt x="325081" y="304266"/>
                  </a:lnTo>
                  <a:lnTo>
                    <a:pt x="327342" y="306044"/>
                  </a:lnTo>
                  <a:lnTo>
                    <a:pt x="328701" y="308737"/>
                  </a:lnTo>
                  <a:lnTo>
                    <a:pt x="328701" y="238874"/>
                  </a:lnTo>
                  <a:lnTo>
                    <a:pt x="317436" y="231279"/>
                  </a:lnTo>
                  <a:lnTo>
                    <a:pt x="310362" y="229857"/>
                  </a:lnTo>
                  <a:lnTo>
                    <a:pt x="310362" y="270129"/>
                  </a:lnTo>
                  <a:lnTo>
                    <a:pt x="308927" y="277317"/>
                  </a:lnTo>
                  <a:lnTo>
                    <a:pt x="304990" y="283197"/>
                  </a:lnTo>
                  <a:lnTo>
                    <a:pt x="299135" y="287172"/>
                  </a:lnTo>
                  <a:lnTo>
                    <a:pt x="291947" y="288632"/>
                  </a:lnTo>
                  <a:lnTo>
                    <a:pt x="284556" y="287172"/>
                  </a:lnTo>
                  <a:lnTo>
                    <a:pt x="284708" y="287172"/>
                  </a:lnTo>
                  <a:lnTo>
                    <a:pt x="278841" y="283197"/>
                  </a:lnTo>
                  <a:lnTo>
                    <a:pt x="274891" y="277317"/>
                  </a:lnTo>
                  <a:lnTo>
                    <a:pt x="273469" y="270129"/>
                  </a:lnTo>
                  <a:lnTo>
                    <a:pt x="274916" y="262940"/>
                  </a:lnTo>
                  <a:lnTo>
                    <a:pt x="278904" y="257086"/>
                  </a:lnTo>
                  <a:lnTo>
                    <a:pt x="284835" y="253149"/>
                  </a:lnTo>
                  <a:lnTo>
                    <a:pt x="291846" y="251726"/>
                  </a:lnTo>
                  <a:lnTo>
                    <a:pt x="299034" y="253149"/>
                  </a:lnTo>
                  <a:lnTo>
                    <a:pt x="304914" y="257086"/>
                  </a:lnTo>
                  <a:lnTo>
                    <a:pt x="308889" y="262940"/>
                  </a:lnTo>
                  <a:lnTo>
                    <a:pt x="310362" y="270129"/>
                  </a:lnTo>
                  <a:lnTo>
                    <a:pt x="310362" y="229857"/>
                  </a:lnTo>
                  <a:lnTo>
                    <a:pt x="266255" y="231279"/>
                  </a:lnTo>
                  <a:lnTo>
                    <a:pt x="231279" y="266255"/>
                  </a:lnTo>
                  <a:lnTo>
                    <a:pt x="226110" y="291846"/>
                  </a:lnTo>
                  <a:lnTo>
                    <a:pt x="231279" y="317436"/>
                  </a:lnTo>
                  <a:lnTo>
                    <a:pt x="245364" y="338328"/>
                  </a:lnTo>
                  <a:lnTo>
                    <a:pt x="266255" y="352412"/>
                  </a:lnTo>
                  <a:lnTo>
                    <a:pt x="291846" y="357581"/>
                  </a:lnTo>
                  <a:lnTo>
                    <a:pt x="317436" y="352412"/>
                  </a:lnTo>
                  <a:lnTo>
                    <a:pt x="338328" y="338328"/>
                  </a:lnTo>
                  <a:lnTo>
                    <a:pt x="346862" y="325653"/>
                  </a:lnTo>
                  <a:lnTo>
                    <a:pt x="352412" y="317436"/>
                  </a:lnTo>
                  <a:lnTo>
                    <a:pt x="357301" y="293192"/>
                  </a:lnTo>
                  <a:lnTo>
                    <a:pt x="357581" y="2918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625542" y="2416037"/>
            <a:ext cx="1873250" cy="186245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579755" marR="572135">
              <a:lnSpc>
                <a:spcPts val="1730"/>
              </a:lnSpc>
              <a:spcBef>
                <a:spcPts val="254"/>
              </a:spcBef>
            </a:pP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Social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700" marR="5080">
              <a:lnSpc>
                <a:spcPct val="92300"/>
              </a:lnSpc>
              <a:spcBef>
                <a:spcPts val="660"/>
              </a:spcBef>
            </a:pPr>
            <a:r>
              <a:rPr dirty="0" sz="1150">
                <a:latin typeface="Times New Roman"/>
                <a:cs typeface="Times New Roman"/>
              </a:rPr>
              <a:t>Users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can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quickly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find </a:t>
            </a:r>
            <a:r>
              <a:rPr dirty="0" sz="1150">
                <a:latin typeface="Times New Roman"/>
                <a:cs typeface="Times New Roman"/>
              </a:rPr>
              <a:t>information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30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appear </a:t>
            </a:r>
            <a:r>
              <a:rPr dirty="0" sz="1150" spc="10">
                <a:latin typeface="Times New Roman"/>
                <a:cs typeface="Times New Roman"/>
              </a:rPr>
              <a:t>knowledgeable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among</a:t>
            </a:r>
            <a:r>
              <a:rPr dirty="0" sz="1150" spc="30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peers, </a:t>
            </a:r>
            <a:r>
              <a:rPr dirty="0" sz="1150">
                <a:latin typeface="Times New Roman"/>
                <a:cs typeface="Times New Roman"/>
              </a:rPr>
              <a:t>Students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54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professionals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can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respond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faster</a:t>
            </a:r>
            <a:r>
              <a:rPr dirty="0" sz="1150" spc="24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in </a:t>
            </a:r>
            <a:r>
              <a:rPr dirty="0" sz="1150">
                <a:latin typeface="Times New Roman"/>
                <a:cs typeface="Times New Roman"/>
              </a:rPr>
              <a:t>discussions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or</a:t>
            </a:r>
            <a:r>
              <a:rPr dirty="0" sz="1150" spc="29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tasks,</a:t>
            </a:r>
            <a:r>
              <a:rPr dirty="0" sz="1150" spc="50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Improved</a:t>
            </a:r>
            <a:r>
              <a:rPr dirty="0" sz="1150" spc="32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digital</a:t>
            </a:r>
            <a:r>
              <a:rPr dirty="0" sz="1150" spc="32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confidence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23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workplaces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education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10863" y="1541215"/>
            <a:ext cx="2231390" cy="4234180"/>
            <a:chOff x="7810863" y="1541215"/>
            <a:chExt cx="2231390" cy="4234180"/>
          </a:xfrm>
        </p:grpSpPr>
        <p:sp>
          <p:nvSpPr>
            <p:cNvPr id="20" name="object 20"/>
            <p:cNvSpPr/>
            <p:nvPr/>
          </p:nvSpPr>
          <p:spPr>
            <a:xfrm>
              <a:off x="7810863" y="1948335"/>
              <a:ext cx="2231390" cy="3827145"/>
            </a:xfrm>
            <a:custGeom>
              <a:avLst/>
              <a:gdLst/>
              <a:ahLst/>
              <a:cxnLst/>
              <a:rect l="l" t="t" r="r" b="b"/>
              <a:pathLst>
                <a:path w="2231390" h="3827145">
                  <a:moveTo>
                    <a:pt x="2231017" y="3826927"/>
                  </a:moveTo>
                  <a:lnTo>
                    <a:pt x="0" y="3826927"/>
                  </a:lnTo>
                  <a:lnTo>
                    <a:pt x="0" y="0"/>
                  </a:lnTo>
                  <a:lnTo>
                    <a:pt x="2231017" y="0"/>
                  </a:lnTo>
                  <a:lnTo>
                    <a:pt x="2231017" y="382692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9252" y="1541215"/>
              <a:ext cx="814239" cy="81423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992944" y="2416037"/>
            <a:ext cx="1861185" cy="169989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algn="ctr" marL="573405" marR="565785">
              <a:lnSpc>
                <a:spcPts val="1730"/>
              </a:lnSpc>
              <a:spcBef>
                <a:spcPts val="254"/>
              </a:spcBef>
            </a:pP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Macro </a:t>
            </a:r>
            <a:r>
              <a:rPr dirty="0" sz="1500" spc="35" b="1">
                <a:solidFill>
                  <a:srgbClr val="F16629"/>
                </a:solidFill>
                <a:latin typeface="Times New Roman"/>
                <a:cs typeface="Times New Roman"/>
              </a:rPr>
              <a:t>Benefits</a:t>
            </a:r>
            <a:endParaRPr sz="1500">
              <a:latin typeface="Times New Roman"/>
              <a:cs typeface="Times New Roman"/>
            </a:endParaRPr>
          </a:p>
          <a:p>
            <a:pPr algn="ctr" marL="12065" marR="5080">
              <a:lnSpc>
                <a:spcPct val="92100"/>
              </a:lnSpc>
              <a:spcBef>
                <a:spcPts val="665"/>
              </a:spcBef>
            </a:pPr>
            <a:r>
              <a:rPr dirty="0" sz="1150">
                <a:latin typeface="Times New Roman"/>
                <a:cs typeface="Times New Roman"/>
              </a:rPr>
              <a:t>This</a:t>
            </a:r>
            <a:r>
              <a:rPr dirty="0" sz="1150" spc="27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solution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improves </a:t>
            </a:r>
            <a:r>
              <a:rPr dirty="0" sz="1150" spc="10">
                <a:latin typeface="Times New Roman"/>
                <a:cs typeface="Times New Roman"/>
              </a:rPr>
              <a:t>accessibility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to</a:t>
            </a:r>
            <a:r>
              <a:rPr dirty="0" sz="1150" spc="24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digital </a:t>
            </a:r>
            <a:r>
              <a:rPr dirty="0" sz="1150" spc="10">
                <a:latin typeface="Times New Roman"/>
                <a:cs typeface="Times New Roman"/>
              </a:rPr>
              <a:t>information,</a:t>
            </a:r>
            <a:r>
              <a:rPr dirty="0" sz="1150" spc="36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reduces </a:t>
            </a:r>
            <a:r>
              <a:rPr dirty="0" sz="1150">
                <a:latin typeface="Times New Roman"/>
                <a:cs typeface="Times New Roman"/>
              </a:rPr>
              <a:t>dependency</a:t>
            </a:r>
            <a:r>
              <a:rPr dirty="0" sz="1150" spc="27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</a:t>
            </a:r>
            <a:r>
              <a:rPr dirty="0" sz="1150" spc="28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manual </a:t>
            </a:r>
            <a:r>
              <a:rPr dirty="0" sz="1150">
                <a:latin typeface="Times New Roman"/>
                <a:cs typeface="Times New Roman"/>
              </a:rPr>
              <a:t>support,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and</a:t>
            </a:r>
            <a:r>
              <a:rPr dirty="0" sz="1150" spc="26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increases </a:t>
            </a:r>
            <a:r>
              <a:rPr dirty="0" sz="1150" spc="10">
                <a:latin typeface="Times New Roman"/>
                <a:cs typeface="Times New Roman"/>
              </a:rPr>
              <a:t>efficiency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in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 spc="10">
                <a:latin typeface="Times New Roman"/>
                <a:cs typeface="Times New Roman"/>
              </a:rPr>
              <a:t>institutions</a:t>
            </a:r>
            <a:r>
              <a:rPr dirty="0" sz="1150" spc="250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and </a:t>
            </a:r>
            <a:r>
              <a:rPr dirty="0" sz="1150">
                <a:latin typeface="Times New Roman"/>
                <a:cs typeface="Times New Roman"/>
              </a:rPr>
              <a:t>service</a:t>
            </a:r>
            <a:r>
              <a:rPr dirty="0" sz="1150" spc="29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platforms.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267" y="2583442"/>
            <a:ext cx="2239159" cy="22717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211922" y="1752917"/>
            <a:ext cx="5944235" cy="1221740"/>
          </a:xfrm>
          <a:custGeom>
            <a:avLst/>
            <a:gdLst/>
            <a:ahLst/>
            <a:cxnLst/>
            <a:rect l="l" t="t" r="r" b="b"/>
            <a:pathLst>
              <a:path w="5944234" h="1221739">
                <a:moveTo>
                  <a:pt x="5943951" y="1221359"/>
                </a:moveTo>
                <a:lnTo>
                  <a:pt x="0" y="1221359"/>
                </a:lnTo>
                <a:lnTo>
                  <a:pt x="0" y="0"/>
                </a:lnTo>
                <a:lnTo>
                  <a:pt x="5943951" y="0"/>
                </a:lnTo>
                <a:lnTo>
                  <a:pt x="5943951" y="12213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11922" y="3137125"/>
            <a:ext cx="5944235" cy="1221740"/>
          </a:xfrm>
          <a:custGeom>
            <a:avLst/>
            <a:gdLst/>
            <a:ahLst/>
            <a:cxnLst/>
            <a:rect l="l" t="t" r="r" b="b"/>
            <a:pathLst>
              <a:path w="5944234" h="1221739">
                <a:moveTo>
                  <a:pt x="5943951" y="1221359"/>
                </a:moveTo>
                <a:lnTo>
                  <a:pt x="0" y="1221359"/>
                </a:lnTo>
                <a:lnTo>
                  <a:pt x="0" y="0"/>
                </a:lnTo>
                <a:lnTo>
                  <a:pt x="5943951" y="0"/>
                </a:lnTo>
                <a:lnTo>
                  <a:pt x="5943951" y="122135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590057" y="1886780"/>
            <a:ext cx="5157470" cy="2471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10" b="1">
                <a:solidFill>
                  <a:srgbClr val="BF0000"/>
                </a:solidFill>
                <a:latin typeface="Times New Roman"/>
                <a:cs typeface="Times New Roman"/>
              </a:rPr>
              <a:t>Direct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  <a:spcBef>
                <a:spcPts val="1445"/>
              </a:spcBef>
            </a:pPr>
            <a:r>
              <a:rPr dirty="0" sz="1400">
                <a:latin typeface="Times New Roman"/>
                <a:cs typeface="Times New Roman"/>
              </a:rPr>
              <a:t>Intercom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chatbot,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Drift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chatbot,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Zendesk</a:t>
            </a:r>
            <a:r>
              <a:rPr dirty="0" sz="1400" spc="1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</a:t>
            </a:r>
            <a:r>
              <a:rPr dirty="0" sz="1400" spc="29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chatbot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10"/>
              </a:lnSpc>
            </a:pPr>
            <a:r>
              <a:rPr dirty="0" sz="1400">
                <a:latin typeface="Times New Roman"/>
                <a:cs typeface="Times New Roman"/>
              </a:rPr>
              <a:t>ChatGPT</a:t>
            </a:r>
            <a:r>
              <a:rPr dirty="0" sz="1400" spc="2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(OpenAI),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Google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Bard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/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Gemini,</a:t>
            </a:r>
            <a:r>
              <a:rPr dirty="0" sz="1400" spc="2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IBM</a:t>
            </a:r>
            <a:r>
              <a:rPr dirty="0" sz="14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Watson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Assistant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solidFill>
                  <a:srgbClr val="BF0000"/>
                </a:solidFill>
                <a:latin typeface="Times New Roman"/>
                <a:cs typeface="Times New Roman"/>
              </a:rPr>
              <a:t>Indirect</a:t>
            </a:r>
            <a:endParaRPr sz="1800">
              <a:latin typeface="Times New Roman"/>
              <a:cs typeface="Times New Roman"/>
            </a:endParaRPr>
          </a:p>
          <a:p>
            <a:pPr marL="12700" marR="186055">
              <a:lnSpc>
                <a:spcPts val="1540"/>
              </a:lnSpc>
              <a:spcBef>
                <a:spcPts val="1615"/>
              </a:spcBef>
            </a:pPr>
            <a:r>
              <a:rPr dirty="0" sz="1400">
                <a:latin typeface="Times New Roman"/>
                <a:cs typeface="Times New Roman"/>
              </a:rPr>
              <a:t>Website</a:t>
            </a:r>
            <a:r>
              <a:rPr dirty="0" sz="1400" spc="2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FAQ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pages,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customer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support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helpdesks,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manual</a:t>
            </a:r>
            <a:r>
              <a:rPr dirty="0" sz="1400" spc="29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search engines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510"/>
              </a:lnSpc>
            </a:pPr>
            <a:r>
              <a:rPr dirty="0" sz="1400">
                <a:latin typeface="Times New Roman"/>
                <a:cs typeface="Times New Roman"/>
              </a:rPr>
              <a:t>Google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Search,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Quora,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Stack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Overflow,</a:t>
            </a:r>
            <a:r>
              <a:rPr dirty="0" sz="1400" spc="3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Reddit</a:t>
            </a:r>
            <a:r>
              <a:rPr dirty="0" sz="1400" spc="30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communities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1922" y="4521333"/>
            <a:ext cx="5944235" cy="895985"/>
          </a:xfrm>
          <a:prstGeom prst="rect">
            <a:avLst/>
          </a:prstGeom>
          <a:solidFill>
            <a:srgbClr val="BF0000"/>
          </a:solidFill>
        </p:spPr>
        <p:txBody>
          <a:bodyPr wrap="square" lIns="0" tIns="317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dirty="0" sz="1800" b="1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dirty="0" sz="1800" spc="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imes New Roman"/>
                <a:cs typeface="Times New Roman"/>
              </a:rPr>
              <a:t>Uniqueness</a:t>
            </a:r>
            <a:endParaRPr sz="1800">
              <a:latin typeface="Times New Roman"/>
              <a:cs typeface="Times New Roman"/>
            </a:endParaRPr>
          </a:p>
          <a:p>
            <a:pPr algn="ctr" marL="415925" marR="414020">
              <a:lnSpc>
                <a:spcPts val="1540"/>
              </a:lnSpc>
              <a:spcBef>
                <a:spcPts val="156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dirty="0" sz="1400" spc="1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NLP</a:t>
            </a:r>
            <a:r>
              <a:rPr dirty="0" sz="140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understand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incomplete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queries,</a:t>
            </a:r>
            <a:r>
              <a:rPr dirty="0" sz="14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predict</a:t>
            </a:r>
            <a:r>
              <a:rPr dirty="0" sz="14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user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intent,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provide</a:t>
            </a:r>
            <a:r>
              <a:rPr dirty="0" sz="14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accurate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responses</a:t>
            </a:r>
            <a:r>
              <a:rPr dirty="0" sz="14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unlike</a:t>
            </a:r>
            <a:r>
              <a:rPr dirty="0" sz="14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traditional</a:t>
            </a:r>
            <a:r>
              <a:rPr dirty="0" sz="14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keyword-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1634" y="645551"/>
            <a:ext cx="814240" cy="423404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692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90"/>
              </a:spcBef>
            </a:pPr>
            <a:r>
              <a:rPr dirty="0" spc="-10">
                <a:solidFill>
                  <a:srgbClr val="BF0000"/>
                </a:solidFill>
              </a:rPr>
              <a:t>Competitors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3755948" y="2046044"/>
            <a:ext cx="733425" cy="733425"/>
            <a:chOff x="3755948" y="2046044"/>
            <a:chExt cx="733425" cy="733425"/>
          </a:xfrm>
        </p:grpSpPr>
        <p:sp>
          <p:nvSpPr>
            <p:cNvPr id="10" name="object 10"/>
            <p:cNvSpPr/>
            <p:nvPr/>
          </p:nvSpPr>
          <p:spPr>
            <a:xfrm>
              <a:off x="3755948" y="2046044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366407" y="732815"/>
                  </a:moveTo>
                  <a:lnTo>
                    <a:pt x="320446" y="729961"/>
                  </a:lnTo>
                  <a:lnTo>
                    <a:pt x="276188" y="721625"/>
                  </a:lnTo>
                  <a:lnTo>
                    <a:pt x="233977" y="708152"/>
                  </a:lnTo>
                  <a:lnTo>
                    <a:pt x="194157" y="689885"/>
                  </a:lnTo>
                  <a:lnTo>
                    <a:pt x="157070" y="667168"/>
                  </a:lnTo>
                  <a:lnTo>
                    <a:pt x="123061" y="640343"/>
                  </a:lnTo>
                  <a:lnTo>
                    <a:pt x="92472" y="609754"/>
                  </a:lnTo>
                  <a:lnTo>
                    <a:pt x="65647" y="575745"/>
                  </a:lnTo>
                  <a:lnTo>
                    <a:pt x="42930" y="538658"/>
                  </a:lnTo>
                  <a:lnTo>
                    <a:pt x="24663" y="498838"/>
                  </a:lnTo>
                  <a:lnTo>
                    <a:pt x="11190" y="456627"/>
                  </a:lnTo>
                  <a:lnTo>
                    <a:pt x="2854" y="412369"/>
                  </a:lnTo>
                  <a:lnTo>
                    <a:pt x="0" y="366407"/>
                  </a:lnTo>
                  <a:lnTo>
                    <a:pt x="2854" y="320446"/>
                  </a:lnTo>
                  <a:lnTo>
                    <a:pt x="11190" y="276188"/>
                  </a:lnTo>
                  <a:lnTo>
                    <a:pt x="24663" y="233977"/>
                  </a:lnTo>
                  <a:lnTo>
                    <a:pt x="42930" y="194157"/>
                  </a:lnTo>
                  <a:lnTo>
                    <a:pt x="65647" y="157070"/>
                  </a:lnTo>
                  <a:lnTo>
                    <a:pt x="92472" y="123061"/>
                  </a:lnTo>
                  <a:lnTo>
                    <a:pt x="123061" y="92472"/>
                  </a:lnTo>
                  <a:lnTo>
                    <a:pt x="157070" y="65647"/>
                  </a:lnTo>
                  <a:lnTo>
                    <a:pt x="194157" y="42930"/>
                  </a:lnTo>
                  <a:lnTo>
                    <a:pt x="233977" y="24663"/>
                  </a:lnTo>
                  <a:lnTo>
                    <a:pt x="276188" y="11190"/>
                  </a:lnTo>
                  <a:lnTo>
                    <a:pt x="320446" y="2854"/>
                  </a:lnTo>
                  <a:lnTo>
                    <a:pt x="366407" y="0"/>
                  </a:lnTo>
                  <a:lnTo>
                    <a:pt x="412369" y="2854"/>
                  </a:lnTo>
                  <a:lnTo>
                    <a:pt x="456627" y="11190"/>
                  </a:lnTo>
                  <a:lnTo>
                    <a:pt x="498838" y="24663"/>
                  </a:lnTo>
                  <a:lnTo>
                    <a:pt x="538658" y="42930"/>
                  </a:lnTo>
                  <a:lnTo>
                    <a:pt x="575745" y="65647"/>
                  </a:lnTo>
                  <a:lnTo>
                    <a:pt x="609754" y="92472"/>
                  </a:lnTo>
                  <a:lnTo>
                    <a:pt x="640343" y="123061"/>
                  </a:lnTo>
                  <a:lnTo>
                    <a:pt x="667168" y="157070"/>
                  </a:lnTo>
                  <a:lnTo>
                    <a:pt x="689885" y="194157"/>
                  </a:lnTo>
                  <a:lnTo>
                    <a:pt x="708152" y="233977"/>
                  </a:lnTo>
                  <a:lnTo>
                    <a:pt x="721625" y="276188"/>
                  </a:lnTo>
                  <a:lnTo>
                    <a:pt x="729961" y="320446"/>
                  </a:lnTo>
                  <a:lnTo>
                    <a:pt x="732815" y="366407"/>
                  </a:lnTo>
                  <a:lnTo>
                    <a:pt x="729961" y="412369"/>
                  </a:lnTo>
                  <a:lnTo>
                    <a:pt x="721625" y="456627"/>
                  </a:lnTo>
                  <a:lnTo>
                    <a:pt x="708152" y="498838"/>
                  </a:lnTo>
                  <a:lnTo>
                    <a:pt x="689885" y="538658"/>
                  </a:lnTo>
                  <a:lnTo>
                    <a:pt x="667168" y="575745"/>
                  </a:lnTo>
                  <a:lnTo>
                    <a:pt x="640343" y="609754"/>
                  </a:lnTo>
                  <a:lnTo>
                    <a:pt x="609754" y="640343"/>
                  </a:lnTo>
                  <a:lnTo>
                    <a:pt x="575745" y="667168"/>
                  </a:lnTo>
                  <a:lnTo>
                    <a:pt x="538658" y="689885"/>
                  </a:lnTo>
                  <a:lnTo>
                    <a:pt x="498838" y="708152"/>
                  </a:lnTo>
                  <a:lnTo>
                    <a:pt x="456627" y="721625"/>
                  </a:lnTo>
                  <a:lnTo>
                    <a:pt x="412369" y="729961"/>
                  </a:lnTo>
                  <a:lnTo>
                    <a:pt x="366407" y="732815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981769" y="2244414"/>
              <a:ext cx="289560" cy="328295"/>
            </a:xfrm>
            <a:custGeom>
              <a:avLst/>
              <a:gdLst/>
              <a:ahLst/>
              <a:cxnLst/>
              <a:rect l="l" t="t" r="r" b="b"/>
              <a:pathLst>
                <a:path w="289560" h="328294">
                  <a:moveTo>
                    <a:pt x="245382" y="327933"/>
                  </a:moveTo>
                  <a:lnTo>
                    <a:pt x="231406" y="322980"/>
                  </a:lnTo>
                  <a:lnTo>
                    <a:pt x="220306" y="313150"/>
                  </a:lnTo>
                  <a:lnTo>
                    <a:pt x="213599" y="299334"/>
                  </a:lnTo>
                  <a:lnTo>
                    <a:pt x="134984" y="299334"/>
                  </a:lnTo>
                  <a:lnTo>
                    <a:pt x="134984" y="201389"/>
                  </a:lnTo>
                  <a:lnTo>
                    <a:pt x="125454" y="197478"/>
                  </a:lnTo>
                  <a:lnTo>
                    <a:pt x="117417" y="191313"/>
                  </a:lnTo>
                  <a:lnTo>
                    <a:pt x="111254" y="183276"/>
                  </a:lnTo>
                  <a:lnTo>
                    <a:pt x="107349" y="173745"/>
                  </a:lnTo>
                  <a:lnTo>
                    <a:pt x="106483" y="158412"/>
                  </a:lnTo>
                  <a:lnTo>
                    <a:pt x="111392" y="144422"/>
                  </a:lnTo>
                  <a:lnTo>
                    <a:pt x="121189" y="133294"/>
                  </a:lnTo>
                  <a:lnTo>
                    <a:pt x="134984" y="126544"/>
                  </a:lnTo>
                  <a:lnTo>
                    <a:pt x="134984" y="47937"/>
                  </a:lnTo>
                  <a:lnTo>
                    <a:pt x="75715" y="47937"/>
                  </a:lnTo>
                  <a:lnTo>
                    <a:pt x="71807" y="57530"/>
                  </a:lnTo>
                  <a:lnTo>
                    <a:pt x="65617" y="65617"/>
                  </a:lnTo>
                  <a:lnTo>
                    <a:pt x="57530" y="71810"/>
                  </a:lnTo>
                  <a:lnTo>
                    <a:pt x="47934" y="75719"/>
                  </a:lnTo>
                  <a:lnTo>
                    <a:pt x="32598" y="76536"/>
                  </a:lnTo>
                  <a:lnTo>
                    <a:pt x="18625" y="71583"/>
                  </a:lnTo>
                  <a:lnTo>
                    <a:pt x="7528" y="61753"/>
                  </a:lnTo>
                  <a:lnTo>
                    <a:pt x="822" y="47937"/>
                  </a:lnTo>
                  <a:lnTo>
                    <a:pt x="0" y="32601"/>
                  </a:lnTo>
                  <a:lnTo>
                    <a:pt x="4950" y="18624"/>
                  </a:lnTo>
                  <a:lnTo>
                    <a:pt x="14779" y="7524"/>
                  </a:lnTo>
                  <a:lnTo>
                    <a:pt x="28595" y="817"/>
                  </a:lnTo>
                  <a:lnTo>
                    <a:pt x="43932" y="0"/>
                  </a:lnTo>
                  <a:lnTo>
                    <a:pt x="57908" y="4952"/>
                  </a:lnTo>
                  <a:lnTo>
                    <a:pt x="69008" y="14783"/>
                  </a:lnTo>
                  <a:lnTo>
                    <a:pt x="75715" y="28599"/>
                  </a:lnTo>
                  <a:lnTo>
                    <a:pt x="154330" y="28599"/>
                  </a:lnTo>
                  <a:lnTo>
                    <a:pt x="154330" y="126544"/>
                  </a:lnTo>
                  <a:lnTo>
                    <a:pt x="163860" y="130454"/>
                  </a:lnTo>
                  <a:lnTo>
                    <a:pt x="171897" y="136619"/>
                  </a:lnTo>
                  <a:lnTo>
                    <a:pt x="178060" y="144657"/>
                  </a:lnTo>
                  <a:lnTo>
                    <a:pt x="181966" y="154187"/>
                  </a:lnTo>
                  <a:lnTo>
                    <a:pt x="182831" y="169520"/>
                  </a:lnTo>
                  <a:lnTo>
                    <a:pt x="177922" y="183510"/>
                  </a:lnTo>
                  <a:lnTo>
                    <a:pt x="168126" y="194639"/>
                  </a:lnTo>
                  <a:lnTo>
                    <a:pt x="154330" y="201389"/>
                  </a:lnTo>
                  <a:lnTo>
                    <a:pt x="154330" y="279995"/>
                  </a:lnTo>
                  <a:lnTo>
                    <a:pt x="213599" y="279995"/>
                  </a:lnTo>
                  <a:lnTo>
                    <a:pt x="218825" y="268265"/>
                  </a:lnTo>
                  <a:lnTo>
                    <a:pt x="227350" y="259097"/>
                  </a:lnTo>
                  <a:lnTo>
                    <a:pt x="238353" y="253127"/>
                  </a:lnTo>
                  <a:lnTo>
                    <a:pt x="251013" y="250992"/>
                  </a:lnTo>
                  <a:lnTo>
                    <a:pt x="263696" y="253115"/>
                  </a:lnTo>
                  <a:lnTo>
                    <a:pt x="274718" y="259082"/>
                  </a:lnTo>
                  <a:lnTo>
                    <a:pt x="283257" y="268255"/>
                  </a:lnTo>
                  <a:lnTo>
                    <a:pt x="288493" y="279995"/>
                  </a:lnTo>
                  <a:lnTo>
                    <a:pt x="289315" y="295332"/>
                  </a:lnTo>
                  <a:lnTo>
                    <a:pt x="284364" y="309308"/>
                  </a:lnTo>
                  <a:lnTo>
                    <a:pt x="274535" y="320408"/>
                  </a:lnTo>
                  <a:lnTo>
                    <a:pt x="260719" y="327115"/>
                  </a:lnTo>
                  <a:lnTo>
                    <a:pt x="245382" y="3279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764090" y="3430252"/>
            <a:ext cx="733425" cy="733425"/>
            <a:chOff x="3764090" y="3430252"/>
            <a:chExt cx="733425" cy="733425"/>
          </a:xfrm>
        </p:grpSpPr>
        <p:sp>
          <p:nvSpPr>
            <p:cNvPr id="13" name="object 13"/>
            <p:cNvSpPr/>
            <p:nvPr/>
          </p:nvSpPr>
          <p:spPr>
            <a:xfrm>
              <a:off x="3764090" y="3430252"/>
              <a:ext cx="733425" cy="733425"/>
            </a:xfrm>
            <a:custGeom>
              <a:avLst/>
              <a:gdLst/>
              <a:ahLst/>
              <a:cxnLst/>
              <a:rect l="l" t="t" r="r" b="b"/>
              <a:pathLst>
                <a:path w="733425" h="733425">
                  <a:moveTo>
                    <a:pt x="366407" y="732815"/>
                  </a:moveTo>
                  <a:lnTo>
                    <a:pt x="320446" y="729961"/>
                  </a:lnTo>
                  <a:lnTo>
                    <a:pt x="276188" y="721625"/>
                  </a:lnTo>
                  <a:lnTo>
                    <a:pt x="233977" y="708152"/>
                  </a:lnTo>
                  <a:lnTo>
                    <a:pt x="194157" y="689885"/>
                  </a:lnTo>
                  <a:lnTo>
                    <a:pt x="157070" y="667168"/>
                  </a:lnTo>
                  <a:lnTo>
                    <a:pt x="123061" y="640343"/>
                  </a:lnTo>
                  <a:lnTo>
                    <a:pt x="92472" y="609754"/>
                  </a:lnTo>
                  <a:lnTo>
                    <a:pt x="65647" y="575745"/>
                  </a:lnTo>
                  <a:lnTo>
                    <a:pt x="42930" y="538658"/>
                  </a:lnTo>
                  <a:lnTo>
                    <a:pt x="24663" y="498838"/>
                  </a:lnTo>
                  <a:lnTo>
                    <a:pt x="11190" y="456627"/>
                  </a:lnTo>
                  <a:lnTo>
                    <a:pt x="2854" y="412369"/>
                  </a:lnTo>
                  <a:lnTo>
                    <a:pt x="0" y="366407"/>
                  </a:lnTo>
                  <a:lnTo>
                    <a:pt x="2854" y="320446"/>
                  </a:lnTo>
                  <a:lnTo>
                    <a:pt x="11190" y="276188"/>
                  </a:lnTo>
                  <a:lnTo>
                    <a:pt x="24663" y="233977"/>
                  </a:lnTo>
                  <a:lnTo>
                    <a:pt x="42930" y="194157"/>
                  </a:lnTo>
                  <a:lnTo>
                    <a:pt x="65647" y="157070"/>
                  </a:lnTo>
                  <a:lnTo>
                    <a:pt x="92472" y="123061"/>
                  </a:lnTo>
                  <a:lnTo>
                    <a:pt x="123061" y="92472"/>
                  </a:lnTo>
                  <a:lnTo>
                    <a:pt x="157070" y="65647"/>
                  </a:lnTo>
                  <a:lnTo>
                    <a:pt x="194157" y="42930"/>
                  </a:lnTo>
                  <a:lnTo>
                    <a:pt x="233977" y="24663"/>
                  </a:lnTo>
                  <a:lnTo>
                    <a:pt x="276188" y="11190"/>
                  </a:lnTo>
                  <a:lnTo>
                    <a:pt x="320446" y="2854"/>
                  </a:lnTo>
                  <a:lnTo>
                    <a:pt x="366407" y="0"/>
                  </a:lnTo>
                  <a:lnTo>
                    <a:pt x="412369" y="2854"/>
                  </a:lnTo>
                  <a:lnTo>
                    <a:pt x="456627" y="11190"/>
                  </a:lnTo>
                  <a:lnTo>
                    <a:pt x="498838" y="24663"/>
                  </a:lnTo>
                  <a:lnTo>
                    <a:pt x="538658" y="42930"/>
                  </a:lnTo>
                  <a:lnTo>
                    <a:pt x="575745" y="65647"/>
                  </a:lnTo>
                  <a:lnTo>
                    <a:pt x="609754" y="92472"/>
                  </a:lnTo>
                  <a:lnTo>
                    <a:pt x="640343" y="123061"/>
                  </a:lnTo>
                  <a:lnTo>
                    <a:pt x="667168" y="157070"/>
                  </a:lnTo>
                  <a:lnTo>
                    <a:pt x="689885" y="194157"/>
                  </a:lnTo>
                  <a:lnTo>
                    <a:pt x="708152" y="233977"/>
                  </a:lnTo>
                  <a:lnTo>
                    <a:pt x="721625" y="276188"/>
                  </a:lnTo>
                  <a:lnTo>
                    <a:pt x="729961" y="320446"/>
                  </a:lnTo>
                  <a:lnTo>
                    <a:pt x="732815" y="366407"/>
                  </a:lnTo>
                  <a:lnTo>
                    <a:pt x="729961" y="412369"/>
                  </a:lnTo>
                  <a:lnTo>
                    <a:pt x="721625" y="456627"/>
                  </a:lnTo>
                  <a:lnTo>
                    <a:pt x="708152" y="498838"/>
                  </a:lnTo>
                  <a:lnTo>
                    <a:pt x="689885" y="538658"/>
                  </a:lnTo>
                  <a:lnTo>
                    <a:pt x="667168" y="575745"/>
                  </a:lnTo>
                  <a:lnTo>
                    <a:pt x="640343" y="609754"/>
                  </a:lnTo>
                  <a:lnTo>
                    <a:pt x="609754" y="640343"/>
                  </a:lnTo>
                  <a:lnTo>
                    <a:pt x="575745" y="667168"/>
                  </a:lnTo>
                  <a:lnTo>
                    <a:pt x="538658" y="689885"/>
                  </a:lnTo>
                  <a:lnTo>
                    <a:pt x="498838" y="708152"/>
                  </a:lnTo>
                  <a:lnTo>
                    <a:pt x="456627" y="721625"/>
                  </a:lnTo>
                  <a:lnTo>
                    <a:pt x="412369" y="729961"/>
                  </a:lnTo>
                  <a:lnTo>
                    <a:pt x="366407" y="732815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970272" y="3644495"/>
              <a:ext cx="320675" cy="328930"/>
            </a:xfrm>
            <a:custGeom>
              <a:avLst/>
              <a:gdLst/>
              <a:ahLst/>
              <a:cxnLst/>
              <a:rect l="l" t="t" r="r" b="b"/>
              <a:pathLst>
                <a:path w="320675" h="328929">
                  <a:moveTo>
                    <a:pt x="320533" y="328757"/>
                  </a:moveTo>
                  <a:lnTo>
                    <a:pt x="20787" y="328757"/>
                  </a:lnTo>
                  <a:lnTo>
                    <a:pt x="20787" y="299746"/>
                  </a:lnTo>
                  <a:lnTo>
                    <a:pt x="291522" y="299746"/>
                  </a:lnTo>
                  <a:lnTo>
                    <a:pt x="291522" y="29011"/>
                  </a:lnTo>
                  <a:lnTo>
                    <a:pt x="20787" y="29011"/>
                  </a:lnTo>
                  <a:lnTo>
                    <a:pt x="20787" y="0"/>
                  </a:lnTo>
                  <a:lnTo>
                    <a:pt x="320533" y="0"/>
                  </a:lnTo>
                  <a:lnTo>
                    <a:pt x="320533" y="328757"/>
                  </a:lnTo>
                  <a:close/>
                </a:path>
                <a:path w="320675" h="328929">
                  <a:moveTo>
                    <a:pt x="49798" y="299746"/>
                  </a:moveTo>
                  <a:lnTo>
                    <a:pt x="6285" y="299746"/>
                  </a:lnTo>
                  <a:lnTo>
                    <a:pt x="0" y="293460"/>
                  </a:lnTo>
                  <a:lnTo>
                    <a:pt x="0" y="277020"/>
                  </a:lnTo>
                  <a:lnTo>
                    <a:pt x="6285" y="270734"/>
                  </a:lnTo>
                  <a:lnTo>
                    <a:pt x="20787" y="270734"/>
                  </a:lnTo>
                  <a:lnTo>
                    <a:pt x="20787" y="251404"/>
                  </a:lnTo>
                  <a:lnTo>
                    <a:pt x="6285" y="251404"/>
                  </a:lnTo>
                  <a:lnTo>
                    <a:pt x="0" y="245118"/>
                  </a:lnTo>
                  <a:lnTo>
                    <a:pt x="0" y="228679"/>
                  </a:lnTo>
                  <a:lnTo>
                    <a:pt x="6285" y="222393"/>
                  </a:lnTo>
                  <a:lnTo>
                    <a:pt x="20787" y="222393"/>
                  </a:lnTo>
                  <a:lnTo>
                    <a:pt x="20787" y="203055"/>
                  </a:lnTo>
                  <a:lnTo>
                    <a:pt x="6285" y="203055"/>
                  </a:lnTo>
                  <a:lnTo>
                    <a:pt x="0" y="196769"/>
                  </a:lnTo>
                  <a:lnTo>
                    <a:pt x="0" y="180329"/>
                  </a:lnTo>
                  <a:lnTo>
                    <a:pt x="6285" y="174051"/>
                  </a:lnTo>
                  <a:lnTo>
                    <a:pt x="20787" y="174051"/>
                  </a:lnTo>
                  <a:lnTo>
                    <a:pt x="20787" y="154705"/>
                  </a:lnTo>
                  <a:lnTo>
                    <a:pt x="6285" y="154705"/>
                  </a:lnTo>
                  <a:lnTo>
                    <a:pt x="0" y="148427"/>
                  </a:lnTo>
                  <a:lnTo>
                    <a:pt x="0" y="131988"/>
                  </a:lnTo>
                  <a:lnTo>
                    <a:pt x="6285" y="125702"/>
                  </a:lnTo>
                  <a:lnTo>
                    <a:pt x="20787" y="125702"/>
                  </a:lnTo>
                  <a:lnTo>
                    <a:pt x="20787" y="106364"/>
                  </a:lnTo>
                  <a:lnTo>
                    <a:pt x="6285" y="106364"/>
                  </a:lnTo>
                  <a:lnTo>
                    <a:pt x="0" y="100078"/>
                  </a:lnTo>
                  <a:lnTo>
                    <a:pt x="0" y="83638"/>
                  </a:lnTo>
                  <a:lnTo>
                    <a:pt x="6285" y="77352"/>
                  </a:lnTo>
                  <a:lnTo>
                    <a:pt x="20787" y="77352"/>
                  </a:lnTo>
                  <a:lnTo>
                    <a:pt x="20787" y="58022"/>
                  </a:lnTo>
                  <a:lnTo>
                    <a:pt x="14501" y="58022"/>
                  </a:lnTo>
                  <a:lnTo>
                    <a:pt x="6766" y="57534"/>
                  </a:lnTo>
                  <a:lnTo>
                    <a:pt x="969" y="51248"/>
                  </a:lnTo>
                  <a:lnTo>
                    <a:pt x="1449" y="43513"/>
                  </a:lnTo>
                  <a:lnTo>
                    <a:pt x="1449" y="35777"/>
                  </a:lnTo>
                  <a:lnTo>
                    <a:pt x="6766" y="29491"/>
                  </a:lnTo>
                  <a:lnTo>
                    <a:pt x="14501" y="29011"/>
                  </a:lnTo>
                  <a:lnTo>
                    <a:pt x="49798" y="29011"/>
                  </a:lnTo>
                  <a:lnTo>
                    <a:pt x="49798" y="299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8105" y="3701548"/>
              <a:ext cx="185646" cy="214649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12981" y="5840402"/>
            <a:ext cx="8408035" cy="163195"/>
            <a:chOff x="612981" y="5840402"/>
            <a:chExt cx="8408035" cy="163195"/>
          </a:xfrm>
        </p:grpSpPr>
        <p:sp>
          <p:nvSpPr>
            <p:cNvPr id="17" name="object 17"/>
            <p:cNvSpPr/>
            <p:nvPr/>
          </p:nvSpPr>
          <p:spPr>
            <a:xfrm>
              <a:off x="612981" y="5840402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58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2981" y="5921826"/>
              <a:ext cx="8408035" cy="81915"/>
            </a:xfrm>
            <a:custGeom>
              <a:avLst/>
              <a:gdLst/>
              <a:ahLst/>
              <a:cxnLst/>
              <a:rect l="l" t="t" r="r" b="b"/>
              <a:pathLst>
                <a:path w="8408035" h="81914">
                  <a:moveTo>
                    <a:pt x="0" y="81423"/>
                  </a:moveTo>
                  <a:lnTo>
                    <a:pt x="8407915" y="81423"/>
                  </a:lnTo>
                  <a:lnTo>
                    <a:pt x="8407915" y="0"/>
                  </a:lnTo>
                  <a:lnTo>
                    <a:pt x="0" y="0"/>
                  </a:lnTo>
                  <a:lnTo>
                    <a:pt x="0" y="81423"/>
                  </a:lnTo>
                  <a:close/>
                </a:path>
              </a:pathLst>
            </a:custGeom>
            <a:solidFill>
              <a:srgbClr val="F16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12981" y="5840402"/>
            <a:ext cx="9535160" cy="163195"/>
          </a:xfrm>
          <a:prstGeom prst="rect">
            <a:avLst/>
          </a:prstGeom>
          <a:solidFill>
            <a:srgbClr val="F1662A"/>
          </a:solidFill>
        </p:spPr>
        <p:txBody>
          <a:bodyPr wrap="square" lIns="0" tIns="0" rIns="0" bIns="0" rtlCol="0" vert="horz">
            <a:spAutoFit/>
          </a:bodyPr>
          <a:lstStyle/>
          <a:p>
            <a:pPr algn="r" marR="544195">
              <a:lnSpc>
                <a:spcPts val="1160"/>
              </a:lnSpc>
            </a:pPr>
            <a:r>
              <a:rPr dirty="0" sz="1000" spc="-50" b="1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Competitors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57253" y="1541215"/>
            <a:ext cx="2165985" cy="3827145"/>
            <a:chOff x="857253" y="1541215"/>
            <a:chExt cx="2165985" cy="3827145"/>
          </a:xfrm>
        </p:grpSpPr>
        <p:sp>
          <p:nvSpPr>
            <p:cNvPr id="5" name="object 5"/>
            <p:cNvSpPr/>
            <p:nvPr/>
          </p:nvSpPr>
          <p:spPr>
            <a:xfrm>
              <a:off x="857253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5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33067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5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76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55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15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16" y="804341"/>
                  </a:lnTo>
                  <a:lnTo>
                    <a:pt x="534822" y="793686"/>
                  </a:lnTo>
                  <a:lnTo>
                    <a:pt x="572109" y="779310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40" y="476719"/>
                  </a:lnTo>
                  <a:lnTo>
                    <a:pt x="813130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99606" y="1780297"/>
              <a:ext cx="289560" cy="328295"/>
            </a:xfrm>
            <a:custGeom>
              <a:avLst/>
              <a:gdLst/>
              <a:ahLst/>
              <a:cxnLst/>
              <a:rect l="l" t="t" r="r" b="b"/>
              <a:pathLst>
                <a:path w="289560" h="328294">
                  <a:moveTo>
                    <a:pt x="245382" y="327933"/>
                  </a:moveTo>
                  <a:lnTo>
                    <a:pt x="231406" y="322980"/>
                  </a:lnTo>
                  <a:lnTo>
                    <a:pt x="220306" y="313150"/>
                  </a:lnTo>
                  <a:lnTo>
                    <a:pt x="213599" y="299334"/>
                  </a:lnTo>
                  <a:lnTo>
                    <a:pt x="134984" y="299334"/>
                  </a:lnTo>
                  <a:lnTo>
                    <a:pt x="134984" y="201389"/>
                  </a:lnTo>
                  <a:lnTo>
                    <a:pt x="125454" y="197478"/>
                  </a:lnTo>
                  <a:lnTo>
                    <a:pt x="117417" y="191313"/>
                  </a:lnTo>
                  <a:lnTo>
                    <a:pt x="111254" y="183276"/>
                  </a:lnTo>
                  <a:lnTo>
                    <a:pt x="107349" y="173745"/>
                  </a:lnTo>
                  <a:lnTo>
                    <a:pt x="106483" y="158412"/>
                  </a:lnTo>
                  <a:lnTo>
                    <a:pt x="111392" y="144422"/>
                  </a:lnTo>
                  <a:lnTo>
                    <a:pt x="121189" y="133294"/>
                  </a:lnTo>
                  <a:lnTo>
                    <a:pt x="134984" y="126544"/>
                  </a:lnTo>
                  <a:lnTo>
                    <a:pt x="134984" y="47937"/>
                  </a:lnTo>
                  <a:lnTo>
                    <a:pt x="75715" y="47937"/>
                  </a:lnTo>
                  <a:lnTo>
                    <a:pt x="71807" y="57530"/>
                  </a:lnTo>
                  <a:lnTo>
                    <a:pt x="65617" y="65617"/>
                  </a:lnTo>
                  <a:lnTo>
                    <a:pt x="57530" y="71810"/>
                  </a:lnTo>
                  <a:lnTo>
                    <a:pt x="47934" y="75719"/>
                  </a:lnTo>
                  <a:lnTo>
                    <a:pt x="32598" y="76536"/>
                  </a:lnTo>
                  <a:lnTo>
                    <a:pt x="18625" y="71583"/>
                  </a:lnTo>
                  <a:lnTo>
                    <a:pt x="7528" y="61753"/>
                  </a:lnTo>
                  <a:lnTo>
                    <a:pt x="822" y="47937"/>
                  </a:lnTo>
                  <a:lnTo>
                    <a:pt x="0" y="32601"/>
                  </a:lnTo>
                  <a:lnTo>
                    <a:pt x="4950" y="18624"/>
                  </a:lnTo>
                  <a:lnTo>
                    <a:pt x="14779" y="7524"/>
                  </a:lnTo>
                  <a:lnTo>
                    <a:pt x="28595" y="817"/>
                  </a:lnTo>
                  <a:lnTo>
                    <a:pt x="43932" y="0"/>
                  </a:lnTo>
                  <a:lnTo>
                    <a:pt x="57908" y="4952"/>
                  </a:lnTo>
                  <a:lnTo>
                    <a:pt x="69008" y="14783"/>
                  </a:lnTo>
                  <a:lnTo>
                    <a:pt x="75715" y="28599"/>
                  </a:lnTo>
                  <a:lnTo>
                    <a:pt x="154330" y="28599"/>
                  </a:lnTo>
                  <a:lnTo>
                    <a:pt x="154330" y="126544"/>
                  </a:lnTo>
                  <a:lnTo>
                    <a:pt x="163860" y="130454"/>
                  </a:lnTo>
                  <a:lnTo>
                    <a:pt x="171897" y="136619"/>
                  </a:lnTo>
                  <a:lnTo>
                    <a:pt x="178060" y="144657"/>
                  </a:lnTo>
                  <a:lnTo>
                    <a:pt x="181966" y="154187"/>
                  </a:lnTo>
                  <a:lnTo>
                    <a:pt x="182831" y="169520"/>
                  </a:lnTo>
                  <a:lnTo>
                    <a:pt x="177922" y="183510"/>
                  </a:lnTo>
                  <a:lnTo>
                    <a:pt x="168126" y="194639"/>
                  </a:lnTo>
                  <a:lnTo>
                    <a:pt x="154330" y="201389"/>
                  </a:lnTo>
                  <a:lnTo>
                    <a:pt x="154330" y="279995"/>
                  </a:lnTo>
                  <a:lnTo>
                    <a:pt x="213599" y="279995"/>
                  </a:lnTo>
                  <a:lnTo>
                    <a:pt x="218825" y="268265"/>
                  </a:lnTo>
                  <a:lnTo>
                    <a:pt x="227350" y="259097"/>
                  </a:lnTo>
                  <a:lnTo>
                    <a:pt x="238353" y="253127"/>
                  </a:lnTo>
                  <a:lnTo>
                    <a:pt x="251013" y="250992"/>
                  </a:lnTo>
                  <a:lnTo>
                    <a:pt x="263696" y="253115"/>
                  </a:lnTo>
                  <a:lnTo>
                    <a:pt x="274718" y="259082"/>
                  </a:lnTo>
                  <a:lnTo>
                    <a:pt x="283257" y="268255"/>
                  </a:lnTo>
                  <a:lnTo>
                    <a:pt x="288493" y="279995"/>
                  </a:lnTo>
                  <a:lnTo>
                    <a:pt x="289315" y="295332"/>
                  </a:lnTo>
                  <a:lnTo>
                    <a:pt x="284364" y="309308"/>
                  </a:lnTo>
                  <a:lnTo>
                    <a:pt x="274535" y="320408"/>
                  </a:lnTo>
                  <a:lnTo>
                    <a:pt x="260719" y="327115"/>
                  </a:lnTo>
                  <a:lnTo>
                    <a:pt x="245382" y="3279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98623" y="2473033"/>
            <a:ext cx="1877695" cy="126365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302260" marR="294005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</a:t>
            </a:r>
            <a:endParaRPr sz="1800">
              <a:latin typeface="Times New Roman"/>
              <a:cs typeface="Times New Roman"/>
            </a:endParaRPr>
          </a:p>
          <a:p>
            <a:pPr algn="ctr" marL="12700" marR="5080">
              <a:lnSpc>
                <a:spcPts val="1410"/>
              </a:lnSpc>
              <a:spcBef>
                <a:spcPts val="1360"/>
              </a:spcBef>
            </a:pPr>
            <a:r>
              <a:rPr dirty="0" sz="1250" spc="45">
                <a:latin typeface="Times New Roman"/>
                <a:cs typeface="Times New Roman"/>
              </a:rPr>
              <a:t>Intercom</a:t>
            </a:r>
            <a:r>
              <a:rPr dirty="0" sz="1250" spc="5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AI</a:t>
            </a:r>
            <a:r>
              <a:rPr dirty="0" sz="1250" spc="130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chatbot,</a:t>
            </a:r>
            <a:r>
              <a:rPr dirty="0" sz="1250" spc="130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Drift </a:t>
            </a:r>
            <a:r>
              <a:rPr dirty="0" sz="1250" spc="45">
                <a:latin typeface="Times New Roman"/>
                <a:cs typeface="Times New Roman"/>
              </a:rPr>
              <a:t>chatbot,</a:t>
            </a:r>
            <a:r>
              <a:rPr dirty="0" sz="1250" spc="10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Zendesk</a:t>
            </a:r>
            <a:r>
              <a:rPr dirty="0" sz="1250" spc="35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AI </a:t>
            </a:r>
            <a:r>
              <a:rPr dirty="0" sz="1250" spc="35">
                <a:latin typeface="Times New Roman"/>
                <a:cs typeface="Times New Roman"/>
              </a:rPr>
              <a:t>chatbot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53410" y="1541215"/>
            <a:ext cx="2165985" cy="3827145"/>
            <a:chOff x="3153410" y="1541215"/>
            <a:chExt cx="2165985" cy="3827145"/>
          </a:xfrm>
        </p:grpSpPr>
        <p:sp>
          <p:nvSpPr>
            <p:cNvPr id="10" name="object 10"/>
            <p:cNvSpPr/>
            <p:nvPr/>
          </p:nvSpPr>
          <p:spPr>
            <a:xfrm>
              <a:off x="3153410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5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829228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35" y="407123"/>
                  </a:moveTo>
                  <a:lnTo>
                    <a:pt x="812279" y="367220"/>
                  </a:lnTo>
                  <a:lnTo>
                    <a:pt x="806411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17" y="180936"/>
                  </a:lnTo>
                  <a:lnTo>
                    <a:pt x="721817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37" y="7823"/>
                  </a:lnTo>
                  <a:lnTo>
                    <a:pt x="447014" y="1955"/>
                  </a:lnTo>
                  <a:lnTo>
                    <a:pt x="407111" y="0"/>
                  </a:lnTo>
                  <a:lnTo>
                    <a:pt x="397116" y="127"/>
                  </a:lnTo>
                  <a:lnTo>
                    <a:pt x="357276" y="3060"/>
                  </a:lnTo>
                  <a:lnTo>
                    <a:pt x="317906" y="9893"/>
                  </a:lnTo>
                  <a:lnTo>
                    <a:pt x="279412" y="20548"/>
                  </a:lnTo>
                  <a:lnTo>
                    <a:pt x="242125" y="34925"/>
                  </a:lnTo>
                  <a:lnTo>
                    <a:pt x="206438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55" y="126403"/>
                  </a:lnTo>
                  <a:lnTo>
                    <a:pt x="86156" y="156654"/>
                  </a:lnTo>
                  <a:lnTo>
                    <a:pt x="63157" y="189318"/>
                  </a:lnTo>
                  <a:lnTo>
                    <a:pt x="43459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092" y="377177"/>
                  </a:lnTo>
                  <a:lnTo>
                    <a:pt x="0" y="407123"/>
                  </a:lnTo>
                  <a:lnTo>
                    <a:pt x="114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82" y="607796"/>
                  </a:lnTo>
                  <a:lnTo>
                    <a:pt x="74256" y="641540"/>
                  </a:lnTo>
                  <a:lnTo>
                    <a:pt x="98844" y="673049"/>
                  </a:lnTo>
                  <a:lnTo>
                    <a:pt x="126390" y="701979"/>
                  </a:lnTo>
                  <a:lnTo>
                    <a:pt x="156641" y="728078"/>
                  </a:lnTo>
                  <a:lnTo>
                    <a:pt x="189306" y="751078"/>
                  </a:lnTo>
                  <a:lnTo>
                    <a:pt x="224066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15" y="808253"/>
                  </a:lnTo>
                  <a:lnTo>
                    <a:pt x="377164" y="813142"/>
                  </a:lnTo>
                  <a:lnTo>
                    <a:pt x="407111" y="814235"/>
                  </a:lnTo>
                  <a:lnTo>
                    <a:pt x="417106" y="814120"/>
                  </a:lnTo>
                  <a:lnTo>
                    <a:pt x="456958" y="811174"/>
                  </a:lnTo>
                  <a:lnTo>
                    <a:pt x="496316" y="804341"/>
                  </a:lnTo>
                  <a:lnTo>
                    <a:pt x="534822" y="793686"/>
                  </a:lnTo>
                  <a:lnTo>
                    <a:pt x="572096" y="779310"/>
                  </a:lnTo>
                  <a:lnTo>
                    <a:pt x="607783" y="761352"/>
                  </a:lnTo>
                  <a:lnTo>
                    <a:pt x="641540" y="739978"/>
                  </a:lnTo>
                  <a:lnTo>
                    <a:pt x="673036" y="715391"/>
                  </a:lnTo>
                  <a:lnTo>
                    <a:pt x="701967" y="687844"/>
                  </a:lnTo>
                  <a:lnTo>
                    <a:pt x="728065" y="657593"/>
                  </a:lnTo>
                  <a:lnTo>
                    <a:pt x="751078" y="624928"/>
                  </a:lnTo>
                  <a:lnTo>
                    <a:pt x="770763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40" y="476719"/>
                  </a:lnTo>
                  <a:lnTo>
                    <a:pt x="813130" y="437070"/>
                  </a:lnTo>
                  <a:lnTo>
                    <a:pt x="814235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84266" y="1796170"/>
              <a:ext cx="320675" cy="328930"/>
            </a:xfrm>
            <a:custGeom>
              <a:avLst/>
              <a:gdLst/>
              <a:ahLst/>
              <a:cxnLst/>
              <a:rect l="l" t="t" r="r" b="b"/>
              <a:pathLst>
                <a:path w="320675" h="328930">
                  <a:moveTo>
                    <a:pt x="320533" y="328757"/>
                  </a:moveTo>
                  <a:lnTo>
                    <a:pt x="20787" y="328757"/>
                  </a:lnTo>
                  <a:lnTo>
                    <a:pt x="20787" y="299746"/>
                  </a:lnTo>
                  <a:lnTo>
                    <a:pt x="291522" y="299746"/>
                  </a:lnTo>
                  <a:lnTo>
                    <a:pt x="291522" y="29011"/>
                  </a:lnTo>
                  <a:lnTo>
                    <a:pt x="20787" y="29011"/>
                  </a:lnTo>
                  <a:lnTo>
                    <a:pt x="20787" y="0"/>
                  </a:lnTo>
                  <a:lnTo>
                    <a:pt x="320533" y="0"/>
                  </a:lnTo>
                  <a:lnTo>
                    <a:pt x="320533" y="328757"/>
                  </a:lnTo>
                  <a:close/>
                </a:path>
                <a:path w="320675" h="328930">
                  <a:moveTo>
                    <a:pt x="49798" y="299746"/>
                  </a:moveTo>
                  <a:lnTo>
                    <a:pt x="6285" y="299746"/>
                  </a:lnTo>
                  <a:lnTo>
                    <a:pt x="0" y="293460"/>
                  </a:lnTo>
                  <a:lnTo>
                    <a:pt x="0" y="277020"/>
                  </a:lnTo>
                  <a:lnTo>
                    <a:pt x="6285" y="270734"/>
                  </a:lnTo>
                  <a:lnTo>
                    <a:pt x="20787" y="270734"/>
                  </a:lnTo>
                  <a:lnTo>
                    <a:pt x="20787" y="251404"/>
                  </a:lnTo>
                  <a:lnTo>
                    <a:pt x="6285" y="251404"/>
                  </a:lnTo>
                  <a:lnTo>
                    <a:pt x="0" y="245118"/>
                  </a:lnTo>
                  <a:lnTo>
                    <a:pt x="0" y="228679"/>
                  </a:lnTo>
                  <a:lnTo>
                    <a:pt x="6285" y="222393"/>
                  </a:lnTo>
                  <a:lnTo>
                    <a:pt x="20787" y="222393"/>
                  </a:lnTo>
                  <a:lnTo>
                    <a:pt x="20787" y="203055"/>
                  </a:lnTo>
                  <a:lnTo>
                    <a:pt x="6285" y="203055"/>
                  </a:lnTo>
                  <a:lnTo>
                    <a:pt x="0" y="196769"/>
                  </a:lnTo>
                  <a:lnTo>
                    <a:pt x="0" y="180329"/>
                  </a:lnTo>
                  <a:lnTo>
                    <a:pt x="6285" y="174051"/>
                  </a:lnTo>
                  <a:lnTo>
                    <a:pt x="20787" y="174051"/>
                  </a:lnTo>
                  <a:lnTo>
                    <a:pt x="20787" y="154705"/>
                  </a:lnTo>
                  <a:lnTo>
                    <a:pt x="6285" y="154705"/>
                  </a:lnTo>
                  <a:lnTo>
                    <a:pt x="0" y="148427"/>
                  </a:lnTo>
                  <a:lnTo>
                    <a:pt x="0" y="131988"/>
                  </a:lnTo>
                  <a:lnTo>
                    <a:pt x="6285" y="125702"/>
                  </a:lnTo>
                  <a:lnTo>
                    <a:pt x="20787" y="125702"/>
                  </a:lnTo>
                  <a:lnTo>
                    <a:pt x="20787" y="106364"/>
                  </a:lnTo>
                  <a:lnTo>
                    <a:pt x="6285" y="106364"/>
                  </a:lnTo>
                  <a:lnTo>
                    <a:pt x="0" y="100078"/>
                  </a:lnTo>
                  <a:lnTo>
                    <a:pt x="0" y="83638"/>
                  </a:lnTo>
                  <a:lnTo>
                    <a:pt x="6285" y="77352"/>
                  </a:lnTo>
                  <a:lnTo>
                    <a:pt x="20787" y="77352"/>
                  </a:lnTo>
                  <a:lnTo>
                    <a:pt x="20787" y="58022"/>
                  </a:lnTo>
                  <a:lnTo>
                    <a:pt x="14501" y="58022"/>
                  </a:lnTo>
                  <a:lnTo>
                    <a:pt x="6766" y="57534"/>
                  </a:lnTo>
                  <a:lnTo>
                    <a:pt x="969" y="51248"/>
                  </a:lnTo>
                  <a:lnTo>
                    <a:pt x="1449" y="43513"/>
                  </a:lnTo>
                  <a:lnTo>
                    <a:pt x="1449" y="35777"/>
                  </a:lnTo>
                  <a:lnTo>
                    <a:pt x="6766" y="29491"/>
                  </a:lnTo>
                  <a:lnTo>
                    <a:pt x="14501" y="29011"/>
                  </a:lnTo>
                  <a:lnTo>
                    <a:pt x="49798" y="29011"/>
                  </a:lnTo>
                  <a:lnTo>
                    <a:pt x="49798" y="299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2099" y="1853224"/>
              <a:ext cx="185646" cy="2146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325441" y="2473033"/>
            <a:ext cx="1816100" cy="144272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271145" marR="263525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Indirect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</a:t>
            </a:r>
            <a:endParaRPr sz="1800">
              <a:latin typeface="Times New Roman"/>
              <a:cs typeface="Times New Roman"/>
            </a:endParaRPr>
          </a:p>
          <a:p>
            <a:pPr algn="ctr" marL="12700" marR="5080">
              <a:lnSpc>
                <a:spcPts val="1410"/>
              </a:lnSpc>
              <a:spcBef>
                <a:spcPts val="1360"/>
              </a:spcBef>
            </a:pPr>
            <a:r>
              <a:rPr dirty="0" sz="1250">
                <a:latin typeface="Times New Roman"/>
                <a:cs typeface="Times New Roman"/>
              </a:rPr>
              <a:t>Website</a:t>
            </a:r>
            <a:r>
              <a:rPr dirty="0" sz="1250" spc="22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FAQ</a:t>
            </a:r>
            <a:r>
              <a:rPr dirty="0" sz="1250" spc="229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pages, </a:t>
            </a:r>
            <a:r>
              <a:rPr dirty="0" sz="1250" spc="45">
                <a:latin typeface="Times New Roman"/>
                <a:cs typeface="Times New Roman"/>
              </a:rPr>
              <a:t>customer</a:t>
            </a:r>
            <a:r>
              <a:rPr dirty="0" sz="1250" spc="114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support </a:t>
            </a:r>
            <a:r>
              <a:rPr dirty="0" sz="1250" spc="45">
                <a:latin typeface="Times New Roman"/>
                <a:cs typeface="Times New Roman"/>
              </a:rPr>
              <a:t>helpdesks,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manual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search </a:t>
            </a:r>
            <a:r>
              <a:rPr dirty="0" sz="1250" spc="35">
                <a:latin typeface="Times New Roman"/>
                <a:cs typeface="Times New Roman"/>
              </a:rPr>
              <a:t>engines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49567" y="1541215"/>
            <a:ext cx="2165985" cy="3827145"/>
            <a:chOff x="5449567" y="1541215"/>
            <a:chExt cx="2165985" cy="3827145"/>
          </a:xfrm>
        </p:grpSpPr>
        <p:sp>
          <p:nvSpPr>
            <p:cNvPr id="16" name="object 16"/>
            <p:cNvSpPr/>
            <p:nvPr/>
          </p:nvSpPr>
          <p:spPr>
            <a:xfrm>
              <a:off x="5449567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4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25375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37"/>
                  </a:lnTo>
                  <a:lnTo>
                    <a:pt x="783259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5007" y="119240"/>
                  </a:lnTo>
                  <a:lnTo>
                    <a:pt x="665403" y="92417"/>
                  </a:lnTo>
                  <a:lnTo>
                    <a:pt x="633310" y="68618"/>
                  </a:lnTo>
                  <a:lnTo>
                    <a:pt x="599033" y="48069"/>
                  </a:lnTo>
                  <a:lnTo>
                    <a:pt x="562927" y="30988"/>
                  </a:lnTo>
                  <a:lnTo>
                    <a:pt x="525310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69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57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37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56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53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68" y="553643"/>
                  </a:lnTo>
                  <a:lnTo>
                    <a:pt x="799503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374219" y="1746046"/>
              <a:ext cx="357505" cy="377825"/>
            </a:xfrm>
            <a:custGeom>
              <a:avLst/>
              <a:gdLst/>
              <a:ahLst/>
              <a:cxnLst/>
              <a:rect l="l" t="t" r="r" b="b"/>
              <a:pathLst>
                <a:path w="357504" h="377825">
                  <a:moveTo>
                    <a:pt x="122923" y="231584"/>
                  </a:moveTo>
                  <a:lnTo>
                    <a:pt x="119583" y="217017"/>
                  </a:lnTo>
                  <a:lnTo>
                    <a:pt x="116967" y="211759"/>
                  </a:lnTo>
                  <a:lnTo>
                    <a:pt x="112890" y="203542"/>
                  </a:lnTo>
                  <a:lnTo>
                    <a:pt x="102844" y="192176"/>
                  </a:lnTo>
                  <a:lnTo>
                    <a:pt x="90525" y="183654"/>
                  </a:lnTo>
                  <a:lnTo>
                    <a:pt x="88226" y="182778"/>
                  </a:lnTo>
                  <a:lnTo>
                    <a:pt x="88226" y="238353"/>
                  </a:lnTo>
                  <a:lnTo>
                    <a:pt x="86118" y="248627"/>
                  </a:lnTo>
                  <a:lnTo>
                    <a:pt x="80378" y="257086"/>
                  </a:lnTo>
                  <a:lnTo>
                    <a:pt x="71907" y="262826"/>
                  </a:lnTo>
                  <a:lnTo>
                    <a:pt x="61633" y="264947"/>
                  </a:lnTo>
                  <a:lnTo>
                    <a:pt x="51371" y="262826"/>
                  </a:lnTo>
                  <a:lnTo>
                    <a:pt x="42913" y="257086"/>
                  </a:lnTo>
                  <a:lnTo>
                    <a:pt x="37172" y="248627"/>
                  </a:lnTo>
                  <a:lnTo>
                    <a:pt x="35052" y="238353"/>
                  </a:lnTo>
                  <a:lnTo>
                    <a:pt x="37172" y="228079"/>
                  </a:lnTo>
                  <a:lnTo>
                    <a:pt x="42913" y="219621"/>
                  </a:lnTo>
                  <a:lnTo>
                    <a:pt x="51371" y="213880"/>
                  </a:lnTo>
                  <a:lnTo>
                    <a:pt x="61633" y="211759"/>
                  </a:lnTo>
                  <a:lnTo>
                    <a:pt x="71907" y="213880"/>
                  </a:lnTo>
                  <a:lnTo>
                    <a:pt x="80378" y="219621"/>
                  </a:lnTo>
                  <a:lnTo>
                    <a:pt x="86118" y="228079"/>
                  </a:lnTo>
                  <a:lnTo>
                    <a:pt x="88226" y="238353"/>
                  </a:lnTo>
                  <a:lnTo>
                    <a:pt x="88226" y="182778"/>
                  </a:lnTo>
                  <a:lnTo>
                    <a:pt x="76581" y="178320"/>
                  </a:lnTo>
                  <a:lnTo>
                    <a:pt x="61633" y="176466"/>
                  </a:lnTo>
                  <a:lnTo>
                    <a:pt x="46697" y="178320"/>
                  </a:lnTo>
                  <a:lnTo>
                    <a:pt x="10401" y="203542"/>
                  </a:lnTo>
                  <a:lnTo>
                    <a:pt x="0" y="231584"/>
                  </a:lnTo>
                  <a:lnTo>
                    <a:pt x="88" y="238353"/>
                  </a:lnTo>
                  <a:lnTo>
                    <a:pt x="32143" y="322961"/>
                  </a:lnTo>
                  <a:lnTo>
                    <a:pt x="56324" y="373722"/>
                  </a:lnTo>
                  <a:lnTo>
                    <a:pt x="61633" y="377583"/>
                  </a:lnTo>
                  <a:lnTo>
                    <a:pt x="65506" y="375653"/>
                  </a:lnTo>
                  <a:lnTo>
                    <a:pt x="91135" y="322961"/>
                  </a:lnTo>
                  <a:lnTo>
                    <a:pt x="117424" y="264947"/>
                  </a:lnTo>
                  <a:lnTo>
                    <a:pt x="122821" y="246507"/>
                  </a:lnTo>
                  <a:lnTo>
                    <a:pt x="122923" y="231584"/>
                  </a:lnTo>
                  <a:close/>
                </a:path>
                <a:path w="357504" h="377825">
                  <a:moveTo>
                    <a:pt x="129324" y="348094"/>
                  </a:moveTo>
                  <a:lnTo>
                    <a:pt x="100317" y="348094"/>
                  </a:lnTo>
                  <a:lnTo>
                    <a:pt x="100317" y="377101"/>
                  </a:lnTo>
                  <a:lnTo>
                    <a:pt x="129324" y="377101"/>
                  </a:lnTo>
                  <a:lnTo>
                    <a:pt x="129324" y="348094"/>
                  </a:lnTo>
                  <a:close/>
                </a:path>
                <a:path w="357504" h="377825">
                  <a:moveTo>
                    <a:pt x="178638" y="376618"/>
                  </a:moveTo>
                  <a:lnTo>
                    <a:pt x="177673" y="347611"/>
                  </a:lnTo>
                  <a:lnTo>
                    <a:pt x="171030" y="347891"/>
                  </a:lnTo>
                  <a:lnTo>
                    <a:pt x="164134" y="348030"/>
                  </a:lnTo>
                  <a:lnTo>
                    <a:pt x="149148" y="348094"/>
                  </a:lnTo>
                  <a:lnTo>
                    <a:pt x="149148" y="377101"/>
                  </a:lnTo>
                  <a:lnTo>
                    <a:pt x="164439" y="377037"/>
                  </a:lnTo>
                  <a:lnTo>
                    <a:pt x="171653" y="376897"/>
                  </a:lnTo>
                  <a:lnTo>
                    <a:pt x="178638" y="376618"/>
                  </a:lnTo>
                  <a:close/>
                </a:path>
                <a:path w="357504" h="377825">
                  <a:moveTo>
                    <a:pt x="191693" y="194830"/>
                  </a:moveTo>
                  <a:lnTo>
                    <a:pt x="173799" y="172123"/>
                  </a:lnTo>
                  <a:lnTo>
                    <a:pt x="166154" y="179057"/>
                  </a:lnTo>
                  <a:lnTo>
                    <a:pt x="160083" y="187350"/>
                  </a:lnTo>
                  <a:lnTo>
                    <a:pt x="155930" y="196735"/>
                  </a:lnTo>
                  <a:lnTo>
                    <a:pt x="153987" y="206933"/>
                  </a:lnTo>
                  <a:lnTo>
                    <a:pt x="182981" y="208864"/>
                  </a:lnTo>
                  <a:lnTo>
                    <a:pt x="182981" y="202095"/>
                  </a:lnTo>
                  <a:lnTo>
                    <a:pt x="191693" y="194830"/>
                  </a:lnTo>
                  <a:close/>
                </a:path>
                <a:path w="357504" h="377825">
                  <a:moveTo>
                    <a:pt x="201841" y="229641"/>
                  </a:moveTo>
                  <a:lnTo>
                    <a:pt x="195554" y="227711"/>
                  </a:lnTo>
                  <a:lnTo>
                    <a:pt x="189268" y="223850"/>
                  </a:lnTo>
                  <a:lnTo>
                    <a:pt x="184924" y="218528"/>
                  </a:lnTo>
                  <a:lnTo>
                    <a:pt x="161226" y="234962"/>
                  </a:lnTo>
                  <a:lnTo>
                    <a:pt x="167551" y="241757"/>
                  </a:lnTo>
                  <a:lnTo>
                    <a:pt x="174764" y="247599"/>
                  </a:lnTo>
                  <a:lnTo>
                    <a:pt x="182714" y="252437"/>
                  </a:lnTo>
                  <a:lnTo>
                    <a:pt x="191211" y="256235"/>
                  </a:lnTo>
                  <a:lnTo>
                    <a:pt x="201841" y="229641"/>
                  </a:lnTo>
                  <a:close/>
                </a:path>
                <a:path w="357504" h="377825">
                  <a:moveTo>
                    <a:pt x="227469" y="373722"/>
                  </a:moveTo>
                  <a:lnTo>
                    <a:pt x="224574" y="344716"/>
                  </a:lnTo>
                  <a:lnTo>
                    <a:pt x="218147" y="345351"/>
                  </a:lnTo>
                  <a:lnTo>
                    <a:pt x="211277" y="345859"/>
                  </a:lnTo>
                  <a:lnTo>
                    <a:pt x="196532" y="346646"/>
                  </a:lnTo>
                  <a:lnTo>
                    <a:pt x="197980" y="375653"/>
                  </a:lnTo>
                  <a:lnTo>
                    <a:pt x="213448" y="374865"/>
                  </a:lnTo>
                  <a:lnTo>
                    <a:pt x="220687" y="374357"/>
                  </a:lnTo>
                  <a:lnTo>
                    <a:pt x="227469" y="373722"/>
                  </a:lnTo>
                  <a:close/>
                </a:path>
                <a:path w="357504" h="377825">
                  <a:moveTo>
                    <a:pt x="230365" y="178892"/>
                  </a:moveTo>
                  <a:lnTo>
                    <a:pt x="223596" y="150837"/>
                  </a:lnTo>
                  <a:lnTo>
                    <a:pt x="215988" y="152844"/>
                  </a:lnTo>
                  <a:lnTo>
                    <a:pt x="208432" y="155194"/>
                  </a:lnTo>
                  <a:lnTo>
                    <a:pt x="200964" y="157911"/>
                  </a:lnTo>
                  <a:lnTo>
                    <a:pt x="193624" y="160997"/>
                  </a:lnTo>
                  <a:lnTo>
                    <a:pt x="205232" y="187591"/>
                  </a:lnTo>
                  <a:lnTo>
                    <a:pt x="211404" y="185140"/>
                  </a:lnTo>
                  <a:lnTo>
                    <a:pt x="217614" y="182880"/>
                  </a:lnTo>
                  <a:lnTo>
                    <a:pt x="223926" y="180784"/>
                  </a:lnTo>
                  <a:lnTo>
                    <a:pt x="230365" y="178892"/>
                  </a:lnTo>
                  <a:close/>
                </a:path>
                <a:path w="357504" h="377825">
                  <a:moveTo>
                    <a:pt x="246316" y="242214"/>
                  </a:moveTo>
                  <a:lnTo>
                    <a:pt x="238582" y="240284"/>
                  </a:lnTo>
                  <a:lnTo>
                    <a:pt x="231813" y="238353"/>
                  </a:lnTo>
                  <a:lnTo>
                    <a:pt x="225044" y="236905"/>
                  </a:lnTo>
                  <a:lnTo>
                    <a:pt x="218757" y="234962"/>
                  </a:lnTo>
                  <a:lnTo>
                    <a:pt x="211023" y="263004"/>
                  </a:lnTo>
                  <a:lnTo>
                    <a:pt x="217792" y="264947"/>
                  </a:lnTo>
                  <a:lnTo>
                    <a:pt x="225044" y="266395"/>
                  </a:lnTo>
                  <a:lnTo>
                    <a:pt x="231813" y="268325"/>
                  </a:lnTo>
                  <a:lnTo>
                    <a:pt x="239547" y="270256"/>
                  </a:lnTo>
                  <a:lnTo>
                    <a:pt x="246316" y="242214"/>
                  </a:lnTo>
                  <a:close/>
                </a:path>
                <a:path w="357504" h="377825">
                  <a:moveTo>
                    <a:pt x="275805" y="172123"/>
                  </a:moveTo>
                  <a:lnTo>
                    <a:pt x="273392" y="143103"/>
                  </a:lnTo>
                  <a:lnTo>
                    <a:pt x="267627" y="143649"/>
                  </a:lnTo>
                  <a:lnTo>
                    <a:pt x="260578" y="144500"/>
                  </a:lnTo>
                  <a:lnTo>
                    <a:pt x="252450" y="145630"/>
                  </a:lnTo>
                  <a:lnTo>
                    <a:pt x="243420" y="146977"/>
                  </a:lnTo>
                  <a:lnTo>
                    <a:pt x="248259" y="175501"/>
                  </a:lnTo>
                  <a:lnTo>
                    <a:pt x="256984" y="174218"/>
                  </a:lnTo>
                  <a:lnTo>
                    <a:pt x="264756" y="173266"/>
                  </a:lnTo>
                  <a:lnTo>
                    <a:pt x="275805" y="172123"/>
                  </a:lnTo>
                  <a:close/>
                </a:path>
                <a:path w="357504" h="377825">
                  <a:moveTo>
                    <a:pt x="277749" y="365506"/>
                  </a:moveTo>
                  <a:lnTo>
                    <a:pt x="270014" y="337464"/>
                  </a:lnTo>
                  <a:lnTo>
                    <a:pt x="263474" y="339102"/>
                  </a:lnTo>
                  <a:lnTo>
                    <a:pt x="256895" y="340487"/>
                  </a:lnTo>
                  <a:lnTo>
                    <a:pt x="250228" y="341668"/>
                  </a:lnTo>
                  <a:lnTo>
                    <a:pt x="243420" y="342773"/>
                  </a:lnTo>
                  <a:lnTo>
                    <a:pt x="247777" y="371297"/>
                  </a:lnTo>
                  <a:lnTo>
                    <a:pt x="255308" y="370116"/>
                  </a:lnTo>
                  <a:lnTo>
                    <a:pt x="262763" y="368769"/>
                  </a:lnTo>
                  <a:lnTo>
                    <a:pt x="270205" y="367220"/>
                  </a:lnTo>
                  <a:lnTo>
                    <a:pt x="277749" y="365506"/>
                  </a:lnTo>
                  <a:close/>
                </a:path>
                <a:path w="357504" h="377825">
                  <a:moveTo>
                    <a:pt x="295630" y="259143"/>
                  </a:moveTo>
                  <a:lnTo>
                    <a:pt x="288582" y="255689"/>
                  </a:lnTo>
                  <a:lnTo>
                    <a:pt x="281254" y="252615"/>
                  </a:lnTo>
                  <a:lnTo>
                    <a:pt x="273748" y="249897"/>
                  </a:lnTo>
                  <a:lnTo>
                    <a:pt x="266141" y="247535"/>
                  </a:lnTo>
                  <a:lnTo>
                    <a:pt x="257924" y="275094"/>
                  </a:lnTo>
                  <a:lnTo>
                    <a:pt x="264083" y="277088"/>
                  </a:lnTo>
                  <a:lnTo>
                    <a:pt x="270192" y="279387"/>
                  </a:lnTo>
                  <a:lnTo>
                    <a:pt x="276212" y="281965"/>
                  </a:lnTo>
                  <a:lnTo>
                    <a:pt x="282092" y="284759"/>
                  </a:lnTo>
                  <a:lnTo>
                    <a:pt x="295630" y="259143"/>
                  </a:lnTo>
                  <a:close/>
                </a:path>
                <a:path w="357504" h="377825">
                  <a:moveTo>
                    <a:pt x="327533" y="334073"/>
                  </a:moveTo>
                  <a:lnTo>
                    <a:pt x="301917" y="320052"/>
                  </a:lnTo>
                  <a:lnTo>
                    <a:pt x="298056" y="325374"/>
                  </a:lnTo>
                  <a:lnTo>
                    <a:pt x="292735" y="329717"/>
                  </a:lnTo>
                  <a:lnTo>
                    <a:pt x="286448" y="331647"/>
                  </a:lnTo>
                  <a:lnTo>
                    <a:pt x="298056" y="358241"/>
                  </a:lnTo>
                  <a:lnTo>
                    <a:pt x="306743" y="353987"/>
                  </a:lnTo>
                  <a:lnTo>
                    <a:pt x="314604" y="348513"/>
                  </a:lnTo>
                  <a:lnTo>
                    <a:pt x="321576" y="341858"/>
                  </a:lnTo>
                  <a:lnTo>
                    <a:pt x="327533" y="334073"/>
                  </a:lnTo>
                  <a:close/>
                </a:path>
                <a:path w="357504" h="377825">
                  <a:moveTo>
                    <a:pt x="330923" y="306997"/>
                  </a:moveTo>
                  <a:lnTo>
                    <a:pt x="329031" y="297497"/>
                  </a:lnTo>
                  <a:lnTo>
                    <a:pt x="325602" y="288632"/>
                  </a:lnTo>
                  <a:lnTo>
                    <a:pt x="320725" y="280479"/>
                  </a:lnTo>
                  <a:lnTo>
                    <a:pt x="314490" y="273164"/>
                  </a:lnTo>
                  <a:lnTo>
                    <a:pt x="294182" y="293471"/>
                  </a:lnTo>
                  <a:lnTo>
                    <a:pt x="298538" y="297815"/>
                  </a:lnTo>
                  <a:lnTo>
                    <a:pt x="301434" y="304101"/>
                  </a:lnTo>
                  <a:lnTo>
                    <a:pt x="302399" y="310388"/>
                  </a:lnTo>
                  <a:lnTo>
                    <a:pt x="330923" y="306997"/>
                  </a:lnTo>
                  <a:close/>
                </a:path>
                <a:path w="357504" h="377825">
                  <a:moveTo>
                    <a:pt x="357098" y="44246"/>
                  </a:moveTo>
                  <a:lnTo>
                    <a:pt x="331406" y="5803"/>
                  </a:lnTo>
                  <a:lnTo>
                    <a:pt x="329476" y="5067"/>
                  </a:lnTo>
                  <a:lnTo>
                    <a:pt x="329476" y="50279"/>
                  </a:lnTo>
                  <a:lnTo>
                    <a:pt x="327787" y="58508"/>
                  </a:lnTo>
                  <a:lnTo>
                    <a:pt x="323189" y="65278"/>
                  </a:lnTo>
                  <a:lnTo>
                    <a:pt x="316420" y="69862"/>
                  </a:lnTo>
                  <a:lnTo>
                    <a:pt x="308203" y="71564"/>
                  </a:lnTo>
                  <a:lnTo>
                    <a:pt x="299986" y="69862"/>
                  </a:lnTo>
                  <a:lnTo>
                    <a:pt x="293217" y="65278"/>
                  </a:lnTo>
                  <a:lnTo>
                    <a:pt x="288620" y="58508"/>
                  </a:lnTo>
                  <a:lnTo>
                    <a:pt x="286931" y="50279"/>
                  </a:lnTo>
                  <a:lnTo>
                    <a:pt x="288620" y="42062"/>
                  </a:lnTo>
                  <a:lnTo>
                    <a:pt x="293217" y="35306"/>
                  </a:lnTo>
                  <a:lnTo>
                    <a:pt x="299986" y="30708"/>
                  </a:lnTo>
                  <a:lnTo>
                    <a:pt x="308203" y="29019"/>
                  </a:lnTo>
                  <a:lnTo>
                    <a:pt x="316420" y="30708"/>
                  </a:lnTo>
                  <a:lnTo>
                    <a:pt x="323189" y="35306"/>
                  </a:lnTo>
                  <a:lnTo>
                    <a:pt x="327787" y="42062"/>
                  </a:lnTo>
                  <a:lnTo>
                    <a:pt x="329476" y="50279"/>
                  </a:lnTo>
                  <a:lnTo>
                    <a:pt x="329476" y="5067"/>
                  </a:lnTo>
                  <a:lnTo>
                    <a:pt x="320255" y="1498"/>
                  </a:lnTo>
                  <a:lnTo>
                    <a:pt x="308203" y="0"/>
                  </a:lnTo>
                  <a:lnTo>
                    <a:pt x="296138" y="1498"/>
                  </a:lnTo>
                  <a:lnTo>
                    <a:pt x="261581" y="32550"/>
                  </a:lnTo>
                  <a:lnTo>
                    <a:pt x="258826" y="44246"/>
                  </a:lnTo>
                  <a:lnTo>
                    <a:pt x="258889" y="56299"/>
                  </a:lnTo>
                  <a:lnTo>
                    <a:pt x="284518" y="117970"/>
                  </a:lnTo>
                  <a:lnTo>
                    <a:pt x="303847" y="159067"/>
                  </a:lnTo>
                  <a:lnTo>
                    <a:pt x="308203" y="162445"/>
                  </a:lnTo>
                  <a:lnTo>
                    <a:pt x="310134" y="160997"/>
                  </a:lnTo>
                  <a:lnTo>
                    <a:pt x="311111" y="160515"/>
                  </a:lnTo>
                  <a:lnTo>
                    <a:pt x="331419" y="117970"/>
                  </a:lnTo>
                  <a:lnTo>
                    <a:pt x="352590" y="71564"/>
                  </a:lnTo>
                  <a:lnTo>
                    <a:pt x="357035" y="56299"/>
                  </a:lnTo>
                  <a:lnTo>
                    <a:pt x="357098" y="442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713581" y="2473033"/>
            <a:ext cx="1631950" cy="15157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179705" marR="171450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 Globally</a:t>
            </a:r>
            <a:endParaRPr sz="1800">
              <a:latin typeface="Times New Roman"/>
              <a:cs typeface="Times New Roman"/>
            </a:endParaRPr>
          </a:p>
          <a:p>
            <a:pPr algn="ctr" marL="12065" marR="5080">
              <a:lnSpc>
                <a:spcPts val="1410"/>
              </a:lnSpc>
              <a:spcBef>
                <a:spcPts val="1355"/>
              </a:spcBef>
            </a:pPr>
            <a:r>
              <a:rPr dirty="0" sz="1250" spc="45">
                <a:latin typeface="Times New Roman"/>
                <a:cs typeface="Times New Roman"/>
              </a:rPr>
              <a:t>ChatGPT</a:t>
            </a:r>
            <a:r>
              <a:rPr dirty="0" sz="1250" spc="8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(OpenAI), </a:t>
            </a:r>
            <a:r>
              <a:rPr dirty="0" sz="1250">
                <a:latin typeface="Times New Roman"/>
                <a:cs typeface="Times New Roman"/>
              </a:rPr>
              <a:t>Google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Bard</a:t>
            </a:r>
            <a:r>
              <a:rPr dirty="0" sz="1250" spc="24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/</a:t>
            </a:r>
            <a:r>
              <a:rPr dirty="0" sz="1250" spc="250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Gemini, </a:t>
            </a:r>
            <a:r>
              <a:rPr dirty="0" sz="1250">
                <a:latin typeface="Times New Roman"/>
                <a:cs typeface="Times New Roman"/>
              </a:rPr>
              <a:t>IBM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Watson</a:t>
            </a:r>
            <a:r>
              <a:rPr dirty="0" sz="1250" spc="175">
                <a:latin typeface="Times New Roman"/>
                <a:cs typeface="Times New Roman"/>
              </a:rPr>
              <a:t> </a:t>
            </a:r>
            <a:r>
              <a:rPr dirty="0" sz="1250" spc="35">
                <a:latin typeface="Times New Roman"/>
                <a:cs typeface="Times New Roman"/>
              </a:rPr>
              <a:t>Assistant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45724" y="1541215"/>
            <a:ext cx="2165985" cy="3827145"/>
            <a:chOff x="7745724" y="1541215"/>
            <a:chExt cx="2165985" cy="3827145"/>
          </a:xfrm>
        </p:grpSpPr>
        <p:sp>
          <p:nvSpPr>
            <p:cNvPr id="21" name="object 21"/>
            <p:cNvSpPr/>
            <p:nvPr/>
          </p:nvSpPr>
          <p:spPr>
            <a:xfrm>
              <a:off x="7745724" y="1948335"/>
              <a:ext cx="2165985" cy="3420110"/>
            </a:xfrm>
            <a:custGeom>
              <a:avLst/>
              <a:gdLst/>
              <a:ahLst/>
              <a:cxnLst/>
              <a:rect l="l" t="t" r="r" b="b"/>
              <a:pathLst>
                <a:path w="2165984" h="3420110">
                  <a:moveTo>
                    <a:pt x="2165878" y="3419807"/>
                  </a:moveTo>
                  <a:lnTo>
                    <a:pt x="0" y="3419807"/>
                  </a:lnTo>
                  <a:lnTo>
                    <a:pt x="0" y="0"/>
                  </a:lnTo>
                  <a:lnTo>
                    <a:pt x="2165878" y="0"/>
                  </a:lnTo>
                  <a:lnTo>
                    <a:pt x="2165878" y="3419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421535" y="1541220"/>
              <a:ext cx="814705" cy="814705"/>
            </a:xfrm>
            <a:custGeom>
              <a:avLst/>
              <a:gdLst/>
              <a:ahLst/>
              <a:cxnLst/>
              <a:rect l="l" t="t" r="r" b="b"/>
              <a:pathLst>
                <a:path w="814704" h="814705">
                  <a:moveTo>
                    <a:pt x="814247" y="407123"/>
                  </a:moveTo>
                  <a:lnTo>
                    <a:pt x="812279" y="367220"/>
                  </a:lnTo>
                  <a:lnTo>
                    <a:pt x="806424" y="327698"/>
                  </a:lnTo>
                  <a:lnTo>
                    <a:pt x="796709" y="288937"/>
                  </a:lnTo>
                  <a:lnTo>
                    <a:pt x="783247" y="251320"/>
                  </a:lnTo>
                  <a:lnTo>
                    <a:pt x="766165" y="215201"/>
                  </a:lnTo>
                  <a:lnTo>
                    <a:pt x="745629" y="180936"/>
                  </a:lnTo>
                  <a:lnTo>
                    <a:pt x="721829" y="148844"/>
                  </a:lnTo>
                  <a:lnTo>
                    <a:pt x="694994" y="119240"/>
                  </a:lnTo>
                  <a:lnTo>
                    <a:pt x="665391" y="92417"/>
                  </a:lnTo>
                  <a:lnTo>
                    <a:pt x="633298" y="68618"/>
                  </a:lnTo>
                  <a:lnTo>
                    <a:pt x="599033" y="48069"/>
                  </a:lnTo>
                  <a:lnTo>
                    <a:pt x="562914" y="30988"/>
                  </a:lnTo>
                  <a:lnTo>
                    <a:pt x="525297" y="17526"/>
                  </a:lnTo>
                  <a:lnTo>
                    <a:pt x="486549" y="7823"/>
                  </a:lnTo>
                  <a:lnTo>
                    <a:pt x="447027" y="1955"/>
                  </a:lnTo>
                  <a:lnTo>
                    <a:pt x="407123" y="0"/>
                  </a:lnTo>
                  <a:lnTo>
                    <a:pt x="397129" y="127"/>
                  </a:lnTo>
                  <a:lnTo>
                    <a:pt x="357289" y="3060"/>
                  </a:lnTo>
                  <a:lnTo>
                    <a:pt x="317919" y="9893"/>
                  </a:lnTo>
                  <a:lnTo>
                    <a:pt x="279412" y="20548"/>
                  </a:lnTo>
                  <a:lnTo>
                    <a:pt x="242138" y="34925"/>
                  </a:lnTo>
                  <a:lnTo>
                    <a:pt x="206451" y="52895"/>
                  </a:lnTo>
                  <a:lnTo>
                    <a:pt x="172694" y="74269"/>
                  </a:lnTo>
                  <a:lnTo>
                    <a:pt x="141198" y="98844"/>
                  </a:lnTo>
                  <a:lnTo>
                    <a:pt x="112268" y="126403"/>
                  </a:lnTo>
                  <a:lnTo>
                    <a:pt x="86169" y="156654"/>
                  </a:lnTo>
                  <a:lnTo>
                    <a:pt x="63157" y="189318"/>
                  </a:lnTo>
                  <a:lnTo>
                    <a:pt x="43472" y="224078"/>
                  </a:lnTo>
                  <a:lnTo>
                    <a:pt x="27279" y="260604"/>
                  </a:lnTo>
                  <a:lnTo>
                    <a:pt x="14744" y="298538"/>
                  </a:lnTo>
                  <a:lnTo>
                    <a:pt x="5994" y="337527"/>
                  </a:lnTo>
                  <a:lnTo>
                    <a:pt x="1104" y="377177"/>
                  </a:lnTo>
                  <a:lnTo>
                    <a:pt x="0" y="407123"/>
                  </a:lnTo>
                  <a:lnTo>
                    <a:pt x="127" y="417118"/>
                  </a:lnTo>
                  <a:lnTo>
                    <a:pt x="3060" y="456958"/>
                  </a:lnTo>
                  <a:lnTo>
                    <a:pt x="9893" y="496328"/>
                  </a:lnTo>
                  <a:lnTo>
                    <a:pt x="20548" y="534835"/>
                  </a:lnTo>
                  <a:lnTo>
                    <a:pt x="34925" y="572109"/>
                  </a:lnTo>
                  <a:lnTo>
                    <a:pt x="52895" y="607796"/>
                  </a:lnTo>
                  <a:lnTo>
                    <a:pt x="74269" y="641540"/>
                  </a:lnTo>
                  <a:lnTo>
                    <a:pt x="98844" y="673049"/>
                  </a:lnTo>
                  <a:lnTo>
                    <a:pt x="126403" y="701979"/>
                  </a:lnTo>
                  <a:lnTo>
                    <a:pt x="156654" y="728078"/>
                  </a:lnTo>
                  <a:lnTo>
                    <a:pt x="189318" y="751078"/>
                  </a:lnTo>
                  <a:lnTo>
                    <a:pt x="224078" y="770775"/>
                  </a:lnTo>
                  <a:lnTo>
                    <a:pt x="260604" y="786955"/>
                  </a:lnTo>
                  <a:lnTo>
                    <a:pt x="298538" y="799490"/>
                  </a:lnTo>
                  <a:lnTo>
                    <a:pt x="337527" y="808253"/>
                  </a:lnTo>
                  <a:lnTo>
                    <a:pt x="377177" y="813142"/>
                  </a:lnTo>
                  <a:lnTo>
                    <a:pt x="407123" y="814235"/>
                  </a:lnTo>
                  <a:lnTo>
                    <a:pt x="417118" y="814120"/>
                  </a:lnTo>
                  <a:lnTo>
                    <a:pt x="456958" y="811174"/>
                  </a:lnTo>
                  <a:lnTo>
                    <a:pt x="496328" y="804341"/>
                  </a:lnTo>
                  <a:lnTo>
                    <a:pt x="534835" y="793686"/>
                  </a:lnTo>
                  <a:lnTo>
                    <a:pt x="572109" y="779310"/>
                  </a:lnTo>
                  <a:lnTo>
                    <a:pt x="607796" y="761352"/>
                  </a:lnTo>
                  <a:lnTo>
                    <a:pt x="641540" y="739978"/>
                  </a:lnTo>
                  <a:lnTo>
                    <a:pt x="673049" y="715391"/>
                  </a:lnTo>
                  <a:lnTo>
                    <a:pt x="701979" y="687844"/>
                  </a:lnTo>
                  <a:lnTo>
                    <a:pt x="728078" y="657593"/>
                  </a:lnTo>
                  <a:lnTo>
                    <a:pt x="751078" y="624928"/>
                  </a:lnTo>
                  <a:lnTo>
                    <a:pt x="770775" y="590169"/>
                  </a:lnTo>
                  <a:lnTo>
                    <a:pt x="786955" y="553643"/>
                  </a:lnTo>
                  <a:lnTo>
                    <a:pt x="799490" y="515696"/>
                  </a:lnTo>
                  <a:lnTo>
                    <a:pt x="808253" y="476719"/>
                  </a:lnTo>
                  <a:lnTo>
                    <a:pt x="813142" y="437070"/>
                  </a:lnTo>
                  <a:lnTo>
                    <a:pt x="814247" y="407123"/>
                  </a:lnTo>
                  <a:close/>
                </a:path>
              </a:pathLst>
            </a:custGeom>
            <a:solidFill>
              <a:srgbClr val="BE20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668421" y="1788027"/>
              <a:ext cx="320675" cy="328930"/>
            </a:xfrm>
            <a:custGeom>
              <a:avLst/>
              <a:gdLst/>
              <a:ahLst/>
              <a:cxnLst/>
              <a:rect l="l" t="t" r="r" b="b"/>
              <a:pathLst>
                <a:path w="320675" h="328930">
                  <a:moveTo>
                    <a:pt x="320566" y="328757"/>
                  </a:moveTo>
                  <a:lnTo>
                    <a:pt x="20844" y="328757"/>
                  </a:lnTo>
                  <a:lnTo>
                    <a:pt x="20844" y="299746"/>
                  </a:lnTo>
                  <a:lnTo>
                    <a:pt x="291498" y="299746"/>
                  </a:lnTo>
                  <a:lnTo>
                    <a:pt x="291498" y="29011"/>
                  </a:lnTo>
                  <a:lnTo>
                    <a:pt x="20844" y="29011"/>
                  </a:lnTo>
                  <a:lnTo>
                    <a:pt x="20844" y="0"/>
                  </a:lnTo>
                  <a:lnTo>
                    <a:pt x="320566" y="0"/>
                  </a:lnTo>
                  <a:lnTo>
                    <a:pt x="320566" y="328757"/>
                  </a:lnTo>
                  <a:close/>
                </a:path>
                <a:path w="320675" h="328930">
                  <a:moveTo>
                    <a:pt x="49831" y="299746"/>
                  </a:moveTo>
                  <a:lnTo>
                    <a:pt x="6269" y="299746"/>
                  </a:lnTo>
                  <a:lnTo>
                    <a:pt x="0" y="293460"/>
                  </a:lnTo>
                  <a:lnTo>
                    <a:pt x="0" y="277020"/>
                  </a:lnTo>
                  <a:lnTo>
                    <a:pt x="6269" y="270734"/>
                  </a:lnTo>
                  <a:lnTo>
                    <a:pt x="20844" y="270734"/>
                  </a:lnTo>
                  <a:lnTo>
                    <a:pt x="20844" y="251404"/>
                  </a:lnTo>
                  <a:lnTo>
                    <a:pt x="6269" y="251404"/>
                  </a:lnTo>
                  <a:lnTo>
                    <a:pt x="0" y="245118"/>
                  </a:lnTo>
                  <a:lnTo>
                    <a:pt x="0" y="228679"/>
                  </a:lnTo>
                  <a:lnTo>
                    <a:pt x="6269" y="222393"/>
                  </a:lnTo>
                  <a:lnTo>
                    <a:pt x="20844" y="222393"/>
                  </a:lnTo>
                  <a:lnTo>
                    <a:pt x="20844" y="203055"/>
                  </a:lnTo>
                  <a:lnTo>
                    <a:pt x="6269" y="203055"/>
                  </a:lnTo>
                  <a:lnTo>
                    <a:pt x="0" y="196769"/>
                  </a:lnTo>
                  <a:lnTo>
                    <a:pt x="0" y="180329"/>
                  </a:lnTo>
                  <a:lnTo>
                    <a:pt x="6269" y="174051"/>
                  </a:lnTo>
                  <a:lnTo>
                    <a:pt x="20844" y="174051"/>
                  </a:lnTo>
                  <a:lnTo>
                    <a:pt x="20844" y="154705"/>
                  </a:lnTo>
                  <a:lnTo>
                    <a:pt x="6269" y="154705"/>
                  </a:lnTo>
                  <a:lnTo>
                    <a:pt x="0" y="148427"/>
                  </a:lnTo>
                  <a:lnTo>
                    <a:pt x="0" y="131988"/>
                  </a:lnTo>
                  <a:lnTo>
                    <a:pt x="6269" y="125702"/>
                  </a:lnTo>
                  <a:lnTo>
                    <a:pt x="20844" y="125702"/>
                  </a:lnTo>
                  <a:lnTo>
                    <a:pt x="20844" y="106364"/>
                  </a:lnTo>
                  <a:lnTo>
                    <a:pt x="6269" y="106364"/>
                  </a:lnTo>
                  <a:lnTo>
                    <a:pt x="0" y="100078"/>
                  </a:lnTo>
                  <a:lnTo>
                    <a:pt x="0" y="83638"/>
                  </a:lnTo>
                  <a:lnTo>
                    <a:pt x="6269" y="77352"/>
                  </a:lnTo>
                  <a:lnTo>
                    <a:pt x="20844" y="77352"/>
                  </a:lnTo>
                  <a:lnTo>
                    <a:pt x="20844" y="58022"/>
                  </a:lnTo>
                  <a:lnTo>
                    <a:pt x="14493" y="58022"/>
                  </a:lnTo>
                  <a:lnTo>
                    <a:pt x="6758" y="57534"/>
                  </a:lnTo>
                  <a:lnTo>
                    <a:pt x="977" y="51248"/>
                  </a:lnTo>
                  <a:lnTo>
                    <a:pt x="1466" y="43513"/>
                  </a:lnTo>
                  <a:lnTo>
                    <a:pt x="1466" y="35777"/>
                  </a:lnTo>
                  <a:lnTo>
                    <a:pt x="6758" y="29491"/>
                  </a:lnTo>
                  <a:lnTo>
                    <a:pt x="14493" y="29011"/>
                  </a:lnTo>
                  <a:lnTo>
                    <a:pt x="49831" y="29011"/>
                  </a:lnTo>
                  <a:lnTo>
                    <a:pt x="49831" y="299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6262" y="1845081"/>
              <a:ext cx="185647" cy="21464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987347" y="2473033"/>
            <a:ext cx="1677035" cy="151574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algn="ctr" marL="201930" marR="194310" indent="-635">
              <a:lnSpc>
                <a:spcPts val="1989"/>
              </a:lnSpc>
              <a:spcBef>
                <a:spcPts val="300"/>
              </a:spcBef>
            </a:pPr>
            <a:r>
              <a:rPr dirty="0" sz="1800" spc="-10" b="1">
                <a:latin typeface="Times New Roman"/>
                <a:cs typeface="Times New Roman"/>
              </a:rPr>
              <a:t>Indirect </a:t>
            </a:r>
            <a:r>
              <a:rPr dirty="0" sz="1800" spc="-10" b="1">
                <a:solidFill>
                  <a:srgbClr val="F16629"/>
                </a:solidFill>
                <a:latin typeface="Times New Roman"/>
                <a:cs typeface="Times New Roman"/>
              </a:rPr>
              <a:t>Competitors Globally</a:t>
            </a:r>
            <a:endParaRPr sz="1800">
              <a:latin typeface="Times New Roman"/>
              <a:cs typeface="Times New Roman"/>
            </a:endParaRPr>
          </a:p>
          <a:p>
            <a:pPr algn="ctr" marL="12700" marR="5080" indent="-635">
              <a:lnSpc>
                <a:spcPts val="1410"/>
              </a:lnSpc>
              <a:spcBef>
                <a:spcPts val="1355"/>
              </a:spcBef>
            </a:pPr>
            <a:r>
              <a:rPr dirty="0" sz="1250">
                <a:latin typeface="Times New Roman"/>
                <a:cs typeface="Times New Roman"/>
              </a:rPr>
              <a:t>Google</a:t>
            </a:r>
            <a:r>
              <a:rPr dirty="0" sz="1250" spc="235">
                <a:latin typeface="Times New Roman"/>
                <a:cs typeface="Times New Roman"/>
              </a:rPr>
              <a:t> </a:t>
            </a:r>
            <a:r>
              <a:rPr dirty="0" sz="1250" spc="45">
                <a:latin typeface="Times New Roman"/>
                <a:cs typeface="Times New Roman"/>
              </a:rPr>
              <a:t>Search,</a:t>
            </a:r>
            <a:r>
              <a:rPr dirty="0" sz="1250" spc="24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Quora, </a:t>
            </a:r>
            <a:r>
              <a:rPr dirty="0" sz="1250">
                <a:latin typeface="Times New Roman"/>
                <a:cs typeface="Times New Roman"/>
              </a:rPr>
              <a:t>Stack</a:t>
            </a:r>
            <a:r>
              <a:rPr dirty="0" sz="1250" spc="37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Overflow,</a:t>
            </a:r>
            <a:r>
              <a:rPr dirty="0" sz="1250" spc="38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Reddit </a:t>
            </a:r>
            <a:r>
              <a:rPr dirty="0" sz="1250" spc="35">
                <a:latin typeface="Times New Roman"/>
                <a:cs typeface="Times New Roman"/>
              </a:rPr>
              <a:t>communities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3997" y="608424"/>
            <a:ext cx="2256155" cy="416559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550"/>
              <a:t>Macro</a:t>
            </a:r>
            <a:r>
              <a:rPr dirty="0" sz="2550" spc="65"/>
              <a:t> </a:t>
            </a:r>
            <a:r>
              <a:rPr dirty="0" sz="2550" spc="-10"/>
              <a:t>Analysis</a:t>
            </a:r>
            <a:endParaRPr sz="25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29266"/>
            <a:ext cx="814240" cy="423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4275" y="1357525"/>
            <a:ext cx="1696720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Favourable</a:t>
            </a:r>
            <a:r>
              <a:rPr dirty="0" sz="15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Trends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92625" y="1740704"/>
          <a:ext cx="9655810" cy="96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370"/>
                <a:gridCol w="7364730"/>
              </a:tblGrid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AREA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R w="9525">
                      <a:solidFill>
                        <a:srgbClr val="F16629"/>
                      </a:solidFill>
                      <a:prstDash val="solid"/>
                    </a:lnR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Technology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10"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dirty="0" sz="10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growth</a:t>
                      </a:r>
                      <a:r>
                        <a:rPr dirty="0" sz="10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0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dirty="0" sz="10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enables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dirty="0" sz="10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dirty="0" sz="10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understand</a:t>
                      </a:r>
                      <a:r>
                        <a:rPr dirty="0" sz="10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dirty="0" sz="10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queries.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Social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10">
                          <a:latin typeface="Times New Roman"/>
                          <a:cs typeface="Times New Roman"/>
                        </a:rPr>
                        <a:t>Increasing</a:t>
                      </a:r>
                      <a:r>
                        <a:rPr dirty="0" sz="10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reliance</a:t>
                      </a:r>
                      <a:r>
                        <a:rPr dirty="0" sz="10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0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digital</a:t>
                      </a:r>
                      <a:r>
                        <a:rPr dirty="0" sz="10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platforms</a:t>
                      </a:r>
                      <a:r>
                        <a:rPr dirty="0" sz="10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0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quick</a:t>
                      </a:r>
                      <a:r>
                        <a:rPr dirty="0" sz="1000" spc="2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0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0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information.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4275" y="2937150"/>
            <a:ext cx="1903730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50" b="1">
                <a:solidFill>
                  <a:srgbClr val="F16629"/>
                </a:solidFill>
                <a:latin typeface="Times New Roman"/>
                <a:cs typeface="Times New Roman"/>
              </a:rPr>
              <a:t>Unfavourable</a:t>
            </a:r>
            <a:r>
              <a:rPr dirty="0" sz="1500" spc="10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500" spc="-10" b="1">
                <a:solidFill>
                  <a:srgbClr val="F16629"/>
                </a:solidFill>
                <a:latin typeface="Times New Roman"/>
                <a:cs typeface="Times New Roman"/>
              </a:rPr>
              <a:t>Trends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92625" y="3320329"/>
          <a:ext cx="9655810" cy="963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370"/>
                <a:gridCol w="7364730"/>
              </a:tblGrid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AREA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R w="9525">
                      <a:solidFill>
                        <a:srgbClr val="F16629"/>
                      </a:solidFill>
                      <a:prstDash val="solid"/>
                    </a:lnR>
                    <a:lnB w="3175">
                      <a:solidFill>
                        <a:srgbClr val="F16629"/>
                      </a:solidFill>
                      <a:prstDash val="solid"/>
                    </a:lnB>
                    <a:solidFill>
                      <a:srgbClr val="F16629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Legal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000" spc="20">
                          <a:latin typeface="Times New Roman"/>
                          <a:cs typeface="Times New Roman"/>
                        </a:rPr>
                        <a:t>Stricter</a:t>
                      </a:r>
                      <a:r>
                        <a:rPr dirty="0" sz="10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0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privacy</a:t>
                      </a:r>
                      <a:r>
                        <a:rPr dirty="0" sz="10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regulations</a:t>
                      </a:r>
                      <a:r>
                        <a:rPr dirty="0" sz="100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0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limit</a:t>
                      </a:r>
                      <a:r>
                        <a:rPr dirty="0" sz="10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0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dirty="0" sz="10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000" spc="2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000" spc="2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data.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3175">
                      <a:solidFill>
                        <a:srgbClr val="F16629"/>
                      </a:solidFill>
                      <a:prstDash val="solid"/>
                    </a:lnT>
                    <a:lnB w="19050">
                      <a:solidFill>
                        <a:srgbClr val="F16629"/>
                      </a:solidFill>
                      <a:prstDash val="solid"/>
                    </a:lnB>
                    <a:solidFill>
                      <a:srgbClr val="FAE3D5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 spc="-10" b="1">
                          <a:latin typeface="Times New Roman"/>
                          <a:cs typeface="Times New Roman"/>
                        </a:rPr>
                        <a:t>Technology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9525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000"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dirty="0" sz="10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tech</a:t>
                      </a:r>
                      <a:r>
                        <a:rPr dirty="0" sz="10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dirty="0" sz="10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0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dirty="0" sz="1000" spc="20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0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dirty="0" sz="10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latin typeface="Times New Roman"/>
                          <a:cs typeface="Times New Roman"/>
                        </a:rPr>
                        <a:t>outdated</a:t>
                      </a:r>
                      <a:r>
                        <a:rPr dirty="0" sz="10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">
                          <a:latin typeface="Times New Roman"/>
                          <a:cs typeface="Times New Roman"/>
                        </a:rPr>
                        <a:t>quickly.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325">
                    <a:lnL w="9525">
                      <a:solidFill>
                        <a:srgbClr val="F16629"/>
                      </a:solidFill>
                      <a:prstDash val="solid"/>
                    </a:lnL>
                    <a:lnR w="19050">
                      <a:solidFill>
                        <a:srgbClr val="F16629"/>
                      </a:solidFill>
                      <a:prstDash val="solid"/>
                    </a:lnR>
                    <a:lnT w="19050">
                      <a:solidFill>
                        <a:srgbClr val="F16629"/>
                      </a:solidFill>
                      <a:prstDash val="solid"/>
                    </a:lnT>
                    <a:lnB w="9525">
                      <a:solidFill>
                        <a:srgbClr val="F1662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96696" y="4423624"/>
            <a:ext cx="9575800" cy="11074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Times New Roman"/>
              <a:cs typeface="Times New Roman"/>
            </a:endParaRPr>
          </a:p>
          <a:p>
            <a:pPr marL="260350">
              <a:lnSpc>
                <a:spcPct val="100000"/>
              </a:lnSpc>
            </a:pPr>
            <a:r>
              <a:rPr dirty="0" sz="1250" b="1">
                <a:solidFill>
                  <a:srgbClr val="F16629"/>
                </a:solidFill>
                <a:latin typeface="Times New Roman"/>
                <a:cs typeface="Times New Roman"/>
              </a:rPr>
              <a:t>Data</a:t>
            </a:r>
            <a:r>
              <a:rPr dirty="0" sz="1250" spc="270" b="1">
                <a:solidFill>
                  <a:srgbClr val="F16629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F16629"/>
                </a:solidFill>
                <a:latin typeface="Times New Roman"/>
                <a:cs typeface="Times New Roman"/>
              </a:rPr>
              <a:t>Sources:</a:t>
            </a:r>
            <a:endParaRPr sz="1250">
              <a:latin typeface="Times New Roman"/>
              <a:cs typeface="Times New Roman"/>
            </a:endParaRPr>
          </a:p>
          <a:p>
            <a:pPr marL="260350">
              <a:lnSpc>
                <a:spcPct val="100000"/>
              </a:lnSpc>
              <a:spcBef>
                <a:spcPts val="930"/>
              </a:spcBef>
            </a:pPr>
            <a:r>
              <a:rPr dirty="0" sz="1000" spc="20">
                <a:latin typeface="Times New Roman"/>
                <a:cs typeface="Times New Roman"/>
              </a:rPr>
              <a:t>Gartner</a:t>
            </a:r>
            <a:r>
              <a:rPr dirty="0" sz="1000" spc="204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Artificial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Intelligence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Industry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 spc="20">
                <a:latin typeface="Times New Roman"/>
                <a:cs typeface="Times New Roman"/>
              </a:rPr>
              <a:t>Report,</a:t>
            </a:r>
            <a:r>
              <a:rPr dirty="0" sz="1000" spc="30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2023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6696" y="1182949"/>
            <a:ext cx="9575800" cy="16510"/>
          </a:xfrm>
          <a:custGeom>
            <a:avLst/>
            <a:gdLst/>
            <a:ahLst/>
            <a:cxnLst/>
            <a:rect l="l" t="t" r="r" b="b"/>
            <a:pathLst>
              <a:path w="9575800" h="16509">
                <a:moveTo>
                  <a:pt x="9575462" y="16284"/>
                </a:moveTo>
                <a:lnTo>
                  <a:pt x="0" y="16284"/>
                </a:lnTo>
                <a:lnTo>
                  <a:pt x="0" y="0"/>
                </a:lnTo>
                <a:lnTo>
                  <a:pt x="9575462" y="0"/>
                </a:lnTo>
                <a:lnTo>
                  <a:pt x="9575462" y="16284"/>
                </a:lnTo>
                <a:close/>
              </a:path>
            </a:pathLst>
          </a:custGeom>
          <a:solidFill>
            <a:srgbClr val="C13125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6696" y="1964620"/>
          <a:ext cx="9652000" cy="15290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9505"/>
                <a:gridCol w="2660015"/>
                <a:gridCol w="2001520"/>
                <a:gridCol w="2522854"/>
              </a:tblGrid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AREA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marL="16529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250" spc="2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marL="995044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250" spc="2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  <a:tc>
                  <a:txBody>
                    <a:bodyPr/>
                    <a:lstStyle/>
                    <a:p>
                      <a:pPr marL="110553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r>
                        <a:rPr dirty="0" sz="1250" spc="2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F16629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 b="1">
                          <a:latin typeface="Arial"/>
                          <a:cs typeface="Arial"/>
                        </a:rPr>
                        <a:t>Revenues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10560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5400000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9720000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16324000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b="1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250" spc="1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50" spc="-10" b="1">
                          <a:latin typeface="Arial"/>
                          <a:cs typeface="Arial"/>
                        </a:rPr>
                        <a:t>Expenses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  <a:tc>
                  <a:txBody>
                    <a:bodyPr/>
                    <a:lstStyle/>
                    <a:p>
                      <a:pPr marL="10560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3200000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4479999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6048000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E4E7EB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 b="1">
                          <a:latin typeface="Arial"/>
                          <a:cs typeface="Arial"/>
                        </a:rPr>
                        <a:t>Profit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105600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2200000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5240000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50" spc="-10">
                          <a:latin typeface="Arial"/>
                          <a:cs typeface="Arial"/>
                        </a:rPr>
                        <a:t>10476000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B="0" marT="85090">
                    <a:solidFill>
                      <a:srgbClr val="D0D5DA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83997" y="583996"/>
            <a:ext cx="7242809" cy="4362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latin typeface="Arial"/>
                <a:cs typeface="Arial"/>
              </a:rPr>
              <a:t>Back-of-the-Envelope</a:t>
            </a:r>
            <a:r>
              <a:rPr dirty="0" spc="26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Financial</a:t>
            </a:r>
            <a:r>
              <a:rPr dirty="0" spc="270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Projections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919" y="612981"/>
            <a:ext cx="814240" cy="42340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3997" y="1276101"/>
            <a:ext cx="3127375" cy="53022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250" b="1">
                <a:latin typeface="Arial"/>
                <a:cs typeface="Arial"/>
              </a:rPr>
              <a:t>Currency:</a:t>
            </a:r>
            <a:r>
              <a:rPr dirty="0" sz="1250" spc="300" b="1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Indian</a:t>
            </a:r>
            <a:r>
              <a:rPr dirty="0" sz="1250" spc="300">
                <a:latin typeface="Arial"/>
                <a:cs typeface="Arial"/>
              </a:rPr>
              <a:t> </a:t>
            </a:r>
            <a:r>
              <a:rPr dirty="0" sz="1250">
                <a:latin typeface="Arial"/>
                <a:cs typeface="Arial"/>
              </a:rPr>
              <a:t>Rupee</a:t>
            </a:r>
            <a:r>
              <a:rPr dirty="0" sz="1250" spc="305">
                <a:latin typeface="Arial"/>
                <a:cs typeface="Arial"/>
              </a:rPr>
              <a:t> </a:t>
            </a:r>
            <a:r>
              <a:rPr dirty="0" sz="1250" spc="-20">
                <a:latin typeface="Arial"/>
                <a:cs typeface="Arial"/>
              </a:rPr>
              <a:t>(INR)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250" b="1">
                <a:latin typeface="Arial"/>
                <a:cs typeface="Arial"/>
              </a:rPr>
              <a:t>Chosen</a:t>
            </a:r>
            <a:r>
              <a:rPr dirty="0" sz="1250" spc="31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Business</a:t>
            </a:r>
            <a:r>
              <a:rPr dirty="0" sz="1250" spc="315" b="1">
                <a:latin typeface="Arial"/>
                <a:cs typeface="Arial"/>
              </a:rPr>
              <a:t> </a:t>
            </a:r>
            <a:r>
              <a:rPr dirty="0" sz="1250" b="1">
                <a:latin typeface="Arial"/>
                <a:cs typeface="Arial"/>
              </a:rPr>
              <a:t>Model:</a:t>
            </a:r>
            <a:r>
              <a:rPr dirty="0" sz="1250" spc="320" b="1">
                <a:latin typeface="Arial"/>
                <a:cs typeface="Arial"/>
              </a:rPr>
              <a:t> </a:t>
            </a:r>
            <a:r>
              <a:rPr dirty="0" sz="1250" spc="-10">
                <a:latin typeface="Arial"/>
                <a:cs typeface="Arial"/>
              </a:rPr>
              <a:t>Subscriptions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0281" y="2082198"/>
            <a:ext cx="4187825" cy="10026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400">
                <a:solidFill>
                  <a:srgbClr val="BF0000"/>
                </a:solidFill>
              </a:rPr>
              <a:t>Thank</a:t>
            </a:r>
            <a:r>
              <a:rPr dirty="0" sz="6400" spc="10">
                <a:solidFill>
                  <a:srgbClr val="BF0000"/>
                </a:solidFill>
              </a:rPr>
              <a:t> </a:t>
            </a:r>
            <a:r>
              <a:rPr dirty="0" sz="6400" spc="-650">
                <a:solidFill>
                  <a:srgbClr val="BF0000"/>
                </a:solidFill>
              </a:rPr>
              <a:t>Y</a:t>
            </a:r>
            <a:r>
              <a:rPr dirty="0" sz="6400" spc="60">
                <a:solidFill>
                  <a:srgbClr val="BF0000"/>
                </a:solidFill>
              </a:rPr>
              <a:t>ou</a:t>
            </a:r>
            <a:r>
              <a:rPr dirty="0" sz="6400" spc="20">
                <a:solidFill>
                  <a:srgbClr val="BF0000"/>
                </a:solidFill>
              </a:rPr>
              <a:t>!</a:t>
            </a:r>
            <a:endParaRPr sz="6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2026-03-16T04:05:36Z</dcterms:created>
  <dcterms:modified xsi:type="dcterms:W3CDTF">2026-03-16T04:05:36Z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2026-03-16T00:00:00Z</vt:filetime>
  </property>
  <property fmtid="{D5CDD505-2E9C-101B-9397-08002B2CF9AE}" pid="5" name="Producer">
    <vt:lpwstr>pdf-merger-js</vt:lpwstr>
  </property>
</Properties>
</file>