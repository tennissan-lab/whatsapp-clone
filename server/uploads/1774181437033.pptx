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3" r:id="rId3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gt36sIBYOteF8fdw06d9PWJCZh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20 February 2026</a:t>
            </a:r>
            <a:endParaRPr/>
          </a:p>
        </p:txBody>
      </p:sp>
      <p:sp>
        <p:nvSpPr>
          <p:cNvPr id="207" name="Google Shape;207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1-59</a:t>
            </a:r>
            <a:endParaRPr/>
          </a:p>
        </p:txBody>
      </p:sp>
      <p:sp>
        <p:nvSpPr>
          <p:cNvPr id="208" name="Google Shape;20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20 February 2026</a:t>
            </a:r>
            <a:endParaRPr/>
          </a:p>
        </p:txBody>
      </p:sp>
      <p:sp>
        <p:nvSpPr>
          <p:cNvPr id="227" name="Google Shape;227;p3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1-59</a:t>
            </a:r>
            <a:endParaRPr/>
          </a:p>
        </p:txBody>
      </p:sp>
      <p:sp>
        <p:nvSpPr>
          <p:cNvPr id="228" name="Google Shape;22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1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1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5098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1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30196"/>
                </a:srgbClr>
              </a:gs>
              <a:gs pos="80000">
                <a:srgbClr val="0099E4">
                  <a:alpha val="45098"/>
                </a:srgbClr>
              </a:gs>
              <a:gs pos="100000">
                <a:srgbClr val="0099E4">
                  <a:alpha val="45098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1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1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body" idx="1"/>
          </p:nvPr>
        </p:nvSpPr>
        <p:spPr>
          <a:xfrm rot="5400000">
            <a:off x="2377282" y="15082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3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6"/>
          <p:cNvSpPr txBox="1">
            <a:spLocks noGrp="1"/>
          </p:cNvSpPr>
          <p:nvPr>
            <p:ph type="ft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ft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2" name="Google Shape;102;p2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3" name="Google Shape;103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ft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" name="Google Shape;108;p3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9" name="Google Shape;109;p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0" name="Google Shape;110;p3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ft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1"/>
          <p:cNvSpPr txBox="1">
            <a:spLocks noGrp="1"/>
          </p:cNvSpPr>
          <p:nvPr>
            <p:ph type="ft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ft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3" name="Google Shape;123;p3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4" name="Google Shape;124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3"/>
          <p:cNvSpPr txBox="1">
            <a:spLocks noGrp="1"/>
          </p:cNvSpPr>
          <p:nvPr>
            <p:ph type="ft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ft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8"/>
          <p:cNvSpPr txBox="1">
            <a:spLocks noGrp="1"/>
          </p:cNvSpPr>
          <p:nvPr>
            <p:ph type="ft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9"/>
          <p:cNvSpPr txBox="1">
            <a:spLocks noGrp="1"/>
          </p:cNvSpPr>
          <p:nvPr>
            <p:ph type="ft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40"/>
          <p:cNvSpPr txBox="1">
            <a:spLocks noGrp="1"/>
          </p:cNvSpPr>
          <p:nvPr>
            <p:ph type="ft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63" name="Google Shape;163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64" name="Google Shape;164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41"/>
          <p:cNvSpPr txBox="1">
            <a:spLocks noGrp="1"/>
          </p:cNvSpPr>
          <p:nvPr>
            <p:ph type="ft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9" name="Google Shape;169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72" name="Google Shape;172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2"/>
          <p:cNvSpPr txBox="1">
            <a:spLocks noGrp="1"/>
          </p:cNvSpPr>
          <p:nvPr>
            <p:ph type="ft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3"/>
          <p:cNvSpPr txBox="1">
            <a:spLocks noGrp="1"/>
          </p:cNvSpPr>
          <p:nvPr>
            <p:ph type="ft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44"/>
          <p:cNvSpPr txBox="1">
            <a:spLocks noGrp="1"/>
          </p:cNvSpPr>
          <p:nvPr>
            <p:ph type="ft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85" name="Google Shape;185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5"/>
          <p:cNvSpPr txBox="1">
            <a:spLocks noGrp="1"/>
          </p:cNvSpPr>
          <p:nvPr>
            <p:ph type="ft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4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1" name="Google Shape;191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6"/>
          <p:cNvSpPr txBox="1">
            <a:spLocks noGrp="1"/>
          </p:cNvSpPr>
          <p:nvPr>
            <p:ph type="ft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4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7"/>
          <p:cNvSpPr txBox="1">
            <a:spLocks noGrp="1"/>
          </p:cNvSpPr>
          <p:nvPr>
            <p:ph type="ft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48"/>
          <p:cNvSpPr txBox="1">
            <a:spLocks noGrp="1"/>
          </p:cNvSpPr>
          <p:nvPr>
            <p:ph type="ft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4" name="Google Shape;144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"/>
          <p:cNvSpPr txBox="1">
            <a:spLocks noGrp="1"/>
          </p:cNvSpPr>
          <p:nvPr>
            <p:ph type="subTitle" idx="1"/>
          </p:nvPr>
        </p:nvSpPr>
        <p:spPr>
          <a:xfrm>
            <a:off x="2215896" y="1562101"/>
            <a:ext cx="6553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"/>
              <a:buNone/>
            </a:pPr>
            <a:endParaRPr sz="3200" b="1">
              <a:solidFill>
                <a:srgbClr val="B9077E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IN" sz="3200" b="1">
                <a:solidFill>
                  <a:srgbClr val="B9077E"/>
                </a:solidFill>
              </a:rPr>
              <a:t>    </a:t>
            </a:r>
            <a:endParaRPr sz="3200"/>
          </a:p>
        </p:txBody>
      </p:sp>
      <p:pic>
        <p:nvPicPr>
          <p:cNvPr id="211" name="Google Shape;211;p1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76200"/>
            <a:ext cx="1374249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495800"/>
            <a:ext cx="1479013" cy="184138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"/>
          <p:cNvSpPr txBox="1"/>
          <p:nvPr/>
        </p:nvSpPr>
        <p:spPr>
          <a:xfrm>
            <a:off x="5562600" y="3962400"/>
            <a:ext cx="3200400" cy="240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/>
          <a:p>
            <a:pPr marL="0" marR="457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Monish Narain N</a:t>
            </a: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23ALR053</a:t>
            </a:r>
            <a:endParaRPr sz="1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AIML - </a:t>
            </a:r>
            <a:r>
              <a:rPr lang="en-I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"/>
          <p:cNvSpPr txBox="1">
            <a:spLocks noGrp="1"/>
          </p:cNvSpPr>
          <p:nvPr>
            <p:ph type="ctrTitle"/>
          </p:nvPr>
        </p:nvSpPr>
        <p:spPr>
          <a:xfrm>
            <a:off x="1158606" y="609600"/>
            <a:ext cx="798539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Visitor Pattern – Adding New Operations to Existing Object Structures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1"/>
          <p:cNvSpPr txBox="1"/>
          <p:nvPr/>
        </p:nvSpPr>
        <p:spPr>
          <a:xfrm>
            <a:off x="3810000" y="571502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"/>
          <p:cNvSpPr txBox="1"/>
          <p:nvPr/>
        </p:nvSpPr>
        <p:spPr>
          <a:xfrm>
            <a:off x="4419600" y="2433976"/>
            <a:ext cx="4114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DPP CO5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"/>
          <p:cNvSpPr txBox="1"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>
                <a:solidFill>
                  <a:schemeClr val="dk1"/>
                </a:solidFill>
              </a:rPr>
              <a:t>INTRODUCTION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22" name="Google Shape;222;p2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543800" cy="4846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▪"/>
            </a:pPr>
            <a:r>
              <a:rPr lang="en-IN" sz="2400"/>
              <a:t>Visitor Pattern is a behavioral design pattern.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Char char="▪"/>
            </a:pPr>
            <a:r>
              <a:rPr lang="en-IN" sz="2400"/>
              <a:t>It allows adding new operations to existing object structures.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Char char="▪"/>
            </a:pPr>
            <a:r>
              <a:rPr lang="en-IN" sz="2400"/>
              <a:t>The operations are defined in a separate visitor class.	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Char char="▪"/>
            </a:pPr>
            <a:r>
              <a:rPr lang="en-IN" sz="2400"/>
              <a:t>Objects accept the visitor and allow it to perform operations on them.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Char char="▪"/>
            </a:pPr>
            <a:r>
              <a:rPr lang="en-IN" sz="2400"/>
              <a:t>Introduced by the Gang of Four including Erich Gamma.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▪"/>
            </a:pPr>
            <a:r>
              <a:rPr lang="en-IN" sz="2400"/>
              <a:t>.</a:t>
            </a:r>
            <a:endParaRPr/>
          </a:p>
          <a:p>
            <a:pPr marL="273050" lvl="0" indent="-15113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"/>
          <p:cNvSpPr txBox="1">
            <a:spLocks noGrp="1"/>
          </p:cNvSpPr>
          <p:nvPr>
            <p:ph type="title"/>
          </p:nvPr>
        </p:nvSpPr>
        <p:spPr>
          <a:xfrm>
            <a:off x="533400" y="17430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>
                <a:solidFill>
                  <a:schemeClr val="dk1"/>
                </a:solidFill>
              </a:rPr>
              <a:t>KEY IDEA OF THE PATTERN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3"/>
          <p:cNvSpPr txBox="1">
            <a:spLocks noGrp="1"/>
          </p:cNvSpPr>
          <p:nvPr>
            <p:ph type="body" idx="1"/>
          </p:nvPr>
        </p:nvSpPr>
        <p:spPr>
          <a:xfrm>
            <a:off x="1143000" y="1905000"/>
            <a:ext cx="670560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</a:rPr>
              <a:t>Decouples sender and receiver of a request.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</a:rPr>
              <a:t>Sender does not know which object handles the request.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</a:rPr>
              <a:t>Handlers are connected sequentially.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</a:rPr>
              <a:t>Processing is dynamic and flexible.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</a:rPr>
              <a:t>Reduces tight coupling between components.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"/>
          <p:cNvSpPr txBox="1">
            <a:spLocks noGrp="1"/>
          </p:cNvSpPr>
          <p:nvPr>
            <p:ph type="title"/>
          </p:nvPr>
        </p:nvSpPr>
        <p:spPr>
          <a:xfrm>
            <a:off x="762000" y="740664"/>
            <a:ext cx="82296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>
                <a:solidFill>
                  <a:schemeClr val="dk1"/>
                </a:solidFill>
              </a:rPr>
              <a:t>STRUCTURE OF THE PATTERN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37" name="Google Shape;237;p4"/>
          <p:cNvSpPr txBox="1">
            <a:spLocks noGrp="1"/>
          </p:cNvSpPr>
          <p:nvPr>
            <p:ph type="body" idx="1"/>
          </p:nvPr>
        </p:nvSpPr>
        <p:spPr>
          <a:xfrm>
            <a:off x="1143000" y="1724660"/>
            <a:ext cx="6934200" cy="513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</a:pPr>
            <a:r>
              <a:rPr lang="en-IN" sz="2400"/>
              <a:t>The pattern consists of:</a:t>
            </a:r>
            <a:endParaRPr/>
          </a:p>
          <a:p>
            <a:pPr marL="273050" lvl="0" indent="-2730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▪"/>
            </a:pPr>
            <a:r>
              <a:rPr lang="en-IN" sz="2400" b="1"/>
              <a:t>Handler</a:t>
            </a:r>
            <a:r>
              <a:rPr lang="en-IN" sz="2400"/>
              <a:t> – Defines request handling method</a:t>
            </a:r>
            <a:endParaRPr/>
          </a:p>
          <a:p>
            <a:pPr marL="273050" lvl="0" indent="-2730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▪"/>
            </a:pPr>
            <a:r>
              <a:rPr lang="en-IN" sz="2400" b="1"/>
              <a:t>Concrete Handlers</a:t>
            </a:r>
            <a:r>
              <a:rPr lang="en-IN" sz="2400"/>
              <a:t> – Implement specific processing logic</a:t>
            </a:r>
            <a:endParaRPr/>
          </a:p>
          <a:p>
            <a:pPr marL="273050" lvl="0" indent="-2730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▪"/>
            </a:pPr>
            <a:r>
              <a:rPr lang="en-IN" sz="2400" b="1"/>
              <a:t>Next Handler Reference</a:t>
            </a:r>
            <a:r>
              <a:rPr lang="en-IN" sz="2400"/>
              <a:t> – Points to next object in chain</a:t>
            </a:r>
            <a:endParaRPr/>
          </a:p>
          <a:p>
            <a:pPr marL="273050" lvl="0" indent="-2730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▪"/>
            </a:pPr>
            <a:r>
              <a:rPr lang="en-IN" sz="2400" b="1"/>
              <a:t>Client</a:t>
            </a:r>
            <a:r>
              <a:rPr lang="en-IN" sz="2400"/>
              <a:t> – Initiates the request</a:t>
            </a:r>
            <a:endParaRPr/>
          </a:p>
          <a:p>
            <a:pPr marL="273050" lvl="0" indent="-15113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</a:pPr>
            <a:endParaRPr sz="240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</a:pPr>
            <a:r>
              <a:rPr lang="en-IN" sz="2400"/>
              <a:t>This structure forms a linked chain of responsibility.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</a:pP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"/>
          <p:cNvSpPr txBox="1">
            <a:spLocks noGrp="1"/>
          </p:cNvSpPr>
          <p:nvPr>
            <p:ph type="title"/>
          </p:nvPr>
        </p:nvSpPr>
        <p:spPr>
          <a:xfrm>
            <a:off x="1524000" y="457200"/>
            <a:ext cx="746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>
                <a:solidFill>
                  <a:schemeClr val="dk1"/>
                </a:solidFill>
              </a:rPr>
              <a:t>WORKING MECHANISM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43" name="Google Shape;243;p5"/>
          <p:cNvSpPr txBox="1">
            <a:spLocks noGrp="1"/>
          </p:cNvSpPr>
          <p:nvPr>
            <p:ph type="body" idx="1"/>
          </p:nvPr>
        </p:nvSpPr>
        <p:spPr>
          <a:xfrm>
            <a:off x="990600" y="19050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▪"/>
            </a:pPr>
            <a:r>
              <a:rPr lang="en-IN" sz="2400"/>
              <a:t>Client sends request to the first handler.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▪"/>
            </a:pPr>
            <a:r>
              <a:rPr lang="en-IN" sz="2400"/>
              <a:t>Handler checks if it can process the request.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▪"/>
            </a:pPr>
            <a:r>
              <a:rPr lang="en-IN" sz="2400"/>
              <a:t>If yes → processes it.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▪"/>
            </a:pPr>
            <a:r>
              <a:rPr lang="en-IN" sz="2400"/>
              <a:t>If no → forwards to the next handler.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▪"/>
            </a:pPr>
            <a:r>
              <a:rPr lang="en-IN" sz="2400"/>
              <a:t>Process continues until handled.</a:t>
            </a:r>
            <a:endParaRPr/>
          </a:p>
          <a:p>
            <a:pPr marL="273050" lvl="0" indent="-15113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</a:pPr>
            <a:r>
              <a:rPr lang="en-IN" sz="2400"/>
              <a:t>This creates a flexible processing pipeline.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</a:pP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 txBox="1">
            <a:spLocks noGrp="1"/>
          </p:cNvSpPr>
          <p:nvPr>
            <p:ph type="title"/>
          </p:nvPr>
        </p:nvSpPr>
        <p:spPr>
          <a:xfrm>
            <a:off x="1752600" y="4572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       </a:t>
            </a:r>
            <a:r>
              <a:rPr lang="en-IN" b="1">
                <a:solidFill>
                  <a:schemeClr val="dk1"/>
                </a:solidFill>
              </a:rPr>
              <a:t>ADVANTAGES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62" name="Google Shape;262;p8"/>
          <p:cNvSpPr txBox="1">
            <a:spLocks noGrp="1"/>
          </p:cNvSpPr>
          <p:nvPr>
            <p:ph type="body" idx="1"/>
          </p:nvPr>
        </p:nvSpPr>
        <p:spPr>
          <a:xfrm>
            <a:off x="1219200" y="1669266"/>
            <a:ext cx="7010399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Promotes loose coupling between sender and receiver.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Reduces complex conditional logic.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to extend by adding new handlers.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Follows Open/Closed Principle.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Improves flexibility in request processing.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Suitable for layered system design.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 txBox="1">
            <a:spLocks noGrp="1"/>
          </p:cNvSpPr>
          <p:nvPr>
            <p:ph type="title"/>
          </p:nvPr>
        </p:nvSpPr>
        <p:spPr>
          <a:xfrm>
            <a:off x="2590800" y="152400"/>
            <a:ext cx="82296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>
                <a:solidFill>
                  <a:schemeClr val="dk1"/>
                </a:solidFill>
              </a:rPr>
              <a:t>LIMITATIONS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68" name="Google Shape;268;p9"/>
          <p:cNvSpPr txBox="1">
            <a:spLocks noGrp="1"/>
          </p:cNvSpPr>
          <p:nvPr>
            <p:ph type="body" idx="1"/>
          </p:nvPr>
        </p:nvSpPr>
        <p:spPr>
          <a:xfrm>
            <a:off x="762000" y="992877"/>
            <a:ext cx="7696200" cy="563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IN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guarantee that the request will be handled, as it may pass through all handlers without being processed.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IN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become slow if the chain is long, since the request travels through multiple handlers.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IN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Debugging may be difficult because the request flows through several objects.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IN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 of handlers affects behavior, and an incorrect sequence can lead to wrong results.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IN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increase the number of classes, as each handler is usually a separate class.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IN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proper configuration of the chain to ensure correctrequest forwarding.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 txBox="1">
            <a:spLocks noGrp="1"/>
          </p:cNvSpPr>
          <p:nvPr>
            <p:ph type="title"/>
          </p:nvPr>
        </p:nvSpPr>
        <p:spPr>
          <a:xfrm>
            <a:off x="1524000" y="457200"/>
            <a:ext cx="8229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>
                <a:solidFill>
                  <a:schemeClr val="dk1"/>
                </a:solidFill>
              </a:rPr>
              <a:t>CONCLUSION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1028700" y="1815353"/>
            <a:ext cx="708660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Visitor Pattern enables adding new operations to existing object structures.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Decouples sender from receiver effectively.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Enhances flexibility and maintainability.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Suitable for layered and modular architectures.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PresentationFormat>On-screen Show (4:3)</PresentationFormat>
  <Paragraphs>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Noto Sans Symbols</vt:lpstr>
      <vt:lpstr>Times New Roman</vt:lpstr>
      <vt:lpstr>Flow</vt:lpstr>
      <vt:lpstr>1_Custom Design</vt:lpstr>
      <vt:lpstr>Custom Design</vt:lpstr>
      <vt:lpstr>Visitor Pattern – Adding New Operations to Existing Object Structures</vt:lpstr>
      <vt:lpstr>INTRODUCTION</vt:lpstr>
      <vt:lpstr>KEY IDEA OF THE PATTERN</vt:lpstr>
      <vt:lpstr>STRUCTURE OF THE PATTERN</vt:lpstr>
      <vt:lpstr>WORKING MECHANISM</vt:lpstr>
      <vt:lpstr>       ADVANTAGES</vt:lpstr>
      <vt:lpstr>LIMITATIONS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Staff</dc:creator>
  <cp:lastModifiedBy>Monish Narain N</cp:lastModifiedBy>
  <cp:revision>2</cp:revision>
  <dcterms:created xsi:type="dcterms:W3CDTF">2013-12-25T07:56:38Z</dcterms:created>
  <dcterms:modified xsi:type="dcterms:W3CDTF">2026-03-17T21:48:42Z</dcterms:modified>
</cp:coreProperties>
</file>